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84" r:id="rId3"/>
    <p:sldId id="285" r:id="rId4"/>
    <p:sldId id="286" r:id="rId5"/>
    <p:sldId id="287" r:id="rId6"/>
    <p:sldId id="288" r:id="rId7"/>
    <p:sldId id="289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15429"/>
    <a:srgbClr val="FEBF12"/>
    <a:srgbClr val="0E1F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6"/>
    <p:restoredTop sz="77769"/>
  </p:normalViewPr>
  <p:slideViewPr>
    <p:cSldViewPr snapToGrid="0" snapToObjects="1">
      <p:cViewPr varScale="1">
        <p:scale>
          <a:sx n="81" d="100"/>
          <a:sy n="81" d="100"/>
        </p:scale>
        <p:origin x="1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2240-92BF-CC44-99DC-FE41B557DD1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698C-85A1-7645-8D99-88ACA29C7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698C-85A1-7645-8D99-88ACA29C7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3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4B05-89B4-CA49-A97D-5773967B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460A4-FBDB-4843-A801-7FFC30DA2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97A6-CA83-FF41-9FAC-EC2882B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3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9D6-43C2-7940-80F9-253DBC1B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E9BC-8A3D-6B42-99C9-B7266D56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FD4BF-C3E7-3041-A5E6-6932EA5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3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1C11-60E3-C045-BCE0-AD657884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CD280-FEC7-AC41-B88B-3D24EAD3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DA9A5F-B4CD-034A-AFB2-14B44C1517D3}"/>
              </a:ext>
            </a:extLst>
          </p:cNvPr>
          <p:cNvSpPr txBox="1">
            <a:spLocks/>
          </p:cNvSpPr>
          <p:nvPr userDrawn="1"/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1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2CD8-E19A-2541-B4FD-AF17A165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F5D4-FD0F-454A-9D32-8D3AC1046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3185E-503D-184D-A457-6D2E008E4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29CF98-528F-F142-A8CE-F41C053D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E782-E64F-3847-B0C9-76552A99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F551E-3E4D-8A4B-A08B-9F8498FC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95C0E-B956-3D42-B89A-059553CB6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1CEF-BAD8-5C41-ACBB-417D72A0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CC60-106D-DE45-9340-A080FCE48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AAE4CE-26CC-2545-8200-7B1ACF68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32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9327-42D2-9242-81F1-56D26598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5C298-763E-7F43-8112-3A5D6F49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3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C6E1BC-7B77-924A-8E4B-2D84DBDD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0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C28-0CBF-4F45-89D0-BF884ED6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7325-F5A1-5643-A326-4156B842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68988"/>
            <a:ext cx="6172200" cy="450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08614-0288-394B-8691-ED3561F0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0693BB2-E99E-C241-84D5-09AB94BC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2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FB47-BF9D-394F-B485-E6AE781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E88D9-E9CA-064E-9C41-9DA437436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8949"/>
            <a:ext cx="6172200" cy="47021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9B332-76DB-B84F-9ACD-440C41636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5129D4C-D814-1141-9FAA-4AC35030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DA94-8D9A-4E4A-AD66-402DD74E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C41D6-3F8C-DA45-96E9-AAD73F7E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CB4ECE-6AC8-DC4C-80E9-8A5497E2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4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878C8-2155-244B-8A61-4BFD0C98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ED88-0471-1847-8B59-9219388D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A76B69-3363-D74E-8F72-C2BEFD434A7D}"/>
              </a:ext>
            </a:extLst>
          </p:cNvPr>
          <p:cNvGrpSpPr/>
          <p:nvPr userDrawn="1"/>
        </p:nvGrpSpPr>
        <p:grpSpPr>
          <a:xfrm>
            <a:off x="0" y="0"/>
            <a:ext cx="12192000" cy="180000"/>
            <a:chOff x="0" y="0"/>
            <a:chExt cx="12192000" cy="1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7839B7-137E-8A4E-9DBB-93A67DB6D1ED}"/>
                </a:ext>
              </a:extLst>
            </p:cNvPr>
            <p:cNvSpPr/>
            <p:nvPr userDrawn="1"/>
          </p:nvSpPr>
          <p:spPr>
            <a:xfrm>
              <a:off x="0" y="0"/>
              <a:ext cx="8455068" cy="18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CF3AEE-341B-BB49-8751-E52CB39D92AF}"/>
                </a:ext>
              </a:extLst>
            </p:cNvPr>
            <p:cNvSpPr/>
            <p:nvPr userDrawn="1"/>
          </p:nvSpPr>
          <p:spPr>
            <a:xfrm>
              <a:off x="8455068" y="0"/>
              <a:ext cx="1260000" cy="18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6A58AB-C36B-604D-8B97-CE1BEA3C01D4}"/>
                </a:ext>
              </a:extLst>
            </p:cNvPr>
            <p:cNvSpPr/>
            <p:nvPr userDrawn="1"/>
          </p:nvSpPr>
          <p:spPr>
            <a:xfrm>
              <a:off x="9715068" y="0"/>
              <a:ext cx="2476932" cy="18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5B165E-2D96-7D41-9261-3925CBFF1B1E}"/>
              </a:ext>
            </a:extLst>
          </p:cNvPr>
          <p:cNvGrpSpPr/>
          <p:nvPr userDrawn="1"/>
        </p:nvGrpSpPr>
        <p:grpSpPr>
          <a:xfrm>
            <a:off x="10454640" y="291181"/>
            <a:ext cx="1506792" cy="720000"/>
            <a:chOff x="10454640" y="291181"/>
            <a:chExt cx="1506792" cy="720000"/>
          </a:xfrm>
        </p:grpSpPr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99A3263D-297E-2F43-B98D-4E9E2A3C11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1272520" y="291181"/>
              <a:ext cx="688912" cy="720000"/>
            </a:xfrm>
            <a:prstGeom prst="rect">
              <a:avLst/>
            </a:prstGeom>
          </p:spPr>
        </p:pic>
        <p:pic>
          <p:nvPicPr>
            <p:cNvPr id="13" name="Picture 12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55E9DA91-D852-0248-8634-854C9B3EBC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454640" y="291181"/>
              <a:ext cx="714035" cy="72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9177D-DF27-9F4C-A66D-0B003FAEF161}"/>
              </a:ext>
            </a:extLst>
          </p:cNvPr>
          <p:cNvGrpSpPr/>
          <p:nvPr userDrawn="1"/>
        </p:nvGrpSpPr>
        <p:grpSpPr>
          <a:xfrm>
            <a:off x="0" y="6318000"/>
            <a:ext cx="12191999" cy="540000"/>
            <a:chOff x="0" y="6318000"/>
            <a:chExt cx="12191999" cy="5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E9C83E-A616-6E42-990B-61E3910357B5}"/>
                </a:ext>
              </a:extLst>
            </p:cNvPr>
            <p:cNvSpPr/>
            <p:nvPr userDrawn="1"/>
          </p:nvSpPr>
          <p:spPr>
            <a:xfrm flipH="1">
              <a:off x="2880000" y="6318000"/>
              <a:ext cx="8473800" cy="54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AD3BBA-AEA9-9148-AEEF-D0900E4D913C}"/>
                </a:ext>
              </a:extLst>
            </p:cNvPr>
            <p:cNvSpPr/>
            <p:nvPr userDrawn="1"/>
          </p:nvSpPr>
          <p:spPr>
            <a:xfrm flipH="1">
              <a:off x="0" y="6318000"/>
              <a:ext cx="2880000" cy="54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75315-7447-4D49-8AF9-D4C106A08E63}"/>
                </a:ext>
              </a:extLst>
            </p:cNvPr>
            <p:cNvSpPr/>
            <p:nvPr userDrawn="1"/>
          </p:nvSpPr>
          <p:spPr>
            <a:xfrm flipH="1">
              <a:off x="11353800" y="6318000"/>
              <a:ext cx="838199" cy="54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144BCBA-6CCA-E048-9AA3-D193ADD12CD3}"/>
              </a:ext>
            </a:extLst>
          </p:cNvPr>
          <p:cNvSpPr txBox="1"/>
          <p:nvPr userDrawn="1"/>
        </p:nvSpPr>
        <p:spPr>
          <a:xfrm>
            <a:off x="0" y="6372556"/>
            <a:ext cx="287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bg1"/>
                </a:solidFill>
                <a:latin typeface="+mn-lt"/>
              </a:rPr>
              <a:t>jti.polinema.ac.id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67E329EB-6B78-F941-AD9C-AB9D28C5C26F}"/>
              </a:ext>
            </a:extLst>
          </p:cNvPr>
          <p:cNvSpPr txBox="1">
            <a:spLocks/>
          </p:cNvSpPr>
          <p:nvPr userDrawn="1"/>
        </p:nvSpPr>
        <p:spPr>
          <a:xfrm>
            <a:off x="3108361" y="6398880"/>
            <a:ext cx="799202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kern="1200">
                <a:solidFill>
                  <a:srgbClr val="0E1F4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SISTEM PENDUKUNG KEPUTUSAN</a:t>
            </a:r>
          </a:p>
        </p:txBody>
      </p:sp>
    </p:spTree>
    <p:extLst>
      <p:ext uri="{BB962C8B-B14F-4D97-AF65-F5344CB8AC3E}">
        <p14:creationId xmlns:p14="http://schemas.microsoft.com/office/powerpoint/2010/main" val="141503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063" y="1993692"/>
            <a:ext cx="10772774" cy="1593876"/>
          </a:xfrm>
        </p:spPr>
        <p:txBody>
          <a:bodyPr>
            <a:noAutofit/>
          </a:bodyPr>
          <a:lstStyle/>
          <a:p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METODE</a:t>
            </a:r>
            <a:b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id-ID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Analytic Hierarchy Process (AHP)</a:t>
            </a:r>
            <a:b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(benefit-cost)</a:t>
            </a:r>
            <a:b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B08C5C2-C557-AD42-8F5E-87854E677F23}"/>
              </a:ext>
            </a:extLst>
          </p:cNvPr>
          <p:cNvSpPr txBox="1">
            <a:spLocks/>
          </p:cNvSpPr>
          <p:nvPr/>
        </p:nvSpPr>
        <p:spPr>
          <a:xfrm>
            <a:off x="1388338" y="4250575"/>
            <a:ext cx="9415322" cy="1225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 TEAM 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MATA KULIAH SISTEM PENDUKUNG KEPUTUSAN</a:t>
            </a:r>
          </a:p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2024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02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Benefit/Cost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Di </a:t>
            </a:r>
            <a:r>
              <a:rPr lang="en-US" dirty="0" err="1"/>
              <a:t>dunia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di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mencermati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manfaat</a:t>
            </a:r>
            <a:r>
              <a:rPr lang="en-US" dirty="0"/>
              <a:t>, </a:t>
            </a:r>
            <a:r>
              <a:rPr lang="en-US" dirty="0" err="1"/>
              <a:t>peluang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id-ID" dirty="0"/>
              <a:t> </a:t>
            </a:r>
            <a:r>
              <a:rPr lang="en-US" dirty="0"/>
              <a:t>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meluncurkan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keterampilan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pengambil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Saaty</a:t>
            </a:r>
            <a:r>
              <a:rPr lang="en-US" dirty="0"/>
              <a:t> 2012). </a:t>
            </a:r>
            <a:endParaRPr lang="id-ID" dirty="0"/>
          </a:p>
          <a:p>
            <a:r>
              <a:rPr lang="en-US" dirty="0"/>
              <a:t>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</a:t>
            </a:r>
            <a:r>
              <a:rPr lang="en-US" dirty="0" err="1"/>
              <a:t>dihadapi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Benefit/Cost (B/C)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kesulitan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menetapkan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(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uang) pada </a:t>
            </a:r>
            <a:r>
              <a:rPr lang="id-ID" dirty="0"/>
              <a:t>benefit</a:t>
            </a:r>
            <a:r>
              <a:rPr lang="en-US" dirty="0"/>
              <a:t>,</a:t>
            </a:r>
            <a:r>
              <a:rPr lang="id-ID" dirty="0"/>
              <a:t> </a:t>
            </a:r>
            <a:r>
              <a:rPr lang="en-US" dirty="0" err="1"/>
              <a:t>peluang</a:t>
            </a:r>
            <a:r>
              <a:rPr lang="en-US" dirty="0"/>
              <a:t>, </a:t>
            </a:r>
            <a:r>
              <a:rPr lang="id-ID" dirty="0"/>
              <a:t>cost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.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mempertimbangkan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id-ID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berwujud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berwujud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proses </a:t>
            </a:r>
            <a:r>
              <a:rPr lang="en-US" dirty="0" err="1"/>
              <a:t>penilaian</a:t>
            </a:r>
            <a:r>
              <a:rPr lang="en-US" dirty="0"/>
              <a:t> </a:t>
            </a:r>
            <a:r>
              <a:rPr lang="id-ID" dirty="0"/>
              <a:t>benefit</a:t>
            </a:r>
            <a:r>
              <a:rPr lang="en-US" dirty="0"/>
              <a:t>/</a:t>
            </a:r>
            <a:r>
              <a:rPr lang="id-ID" dirty="0"/>
              <a:t>cost</a:t>
            </a:r>
            <a:r>
              <a:rPr lang="en-US" dirty="0"/>
              <a:t>(</a:t>
            </a:r>
            <a:r>
              <a:rPr lang="en-US" dirty="0" err="1"/>
              <a:t>Wijnmalen</a:t>
            </a:r>
            <a:r>
              <a:rPr lang="id-ID" dirty="0"/>
              <a:t> </a:t>
            </a:r>
            <a:r>
              <a:rPr lang="en-US" dirty="0"/>
              <a:t>2007)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33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Benefit/Cost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847"/>
            <a:ext cx="1051560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AHP B/C,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hierarki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(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id-ID" dirty="0"/>
              <a:t>Benefit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id-ID" dirty="0"/>
              <a:t>Cost</a:t>
            </a:r>
            <a:r>
              <a:rPr lang="en-US" dirty="0"/>
              <a:t>)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. </a:t>
            </a:r>
            <a:endParaRPr lang="id-ID" dirty="0"/>
          </a:p>
          <a:p>
            <a:pPr lvl="1" algn="just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hierarki</a:t>
            </a:r>
            <a:r>
              <a:rPr lang="en-US" dirty="0"/>
              <a:t> </a:t>
            </a:r>
            <a:r>
              <a:rPr lang="en-US" b="1" u="sng" dirty="0"/>
              <a:t>benefit</a:t>
            </a:r>
            <a:r>
              <a:rPr lang="en-US" dirty="0"/>
              <a:t>, </a:t>
            </a:r>
            <a:r>
              <a:rPr lang="en-US" dirty="0" err="1"/>
              <a:t>kriterianya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id-ID" dirty="0"/>
              <a:t> </a:t>
            </a:r>
            <a:r>
              <a:rPr lang="en-US" dirty="0" err="1"/>
              <a:t>didasarkan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id-ID" dirty="0"/>
              <a:t>benefit 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kriterianya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id-ID" dirty="0"/>
              <a:t> </a:t>
            </a:r>
            <a:r>
              <a:rPr lang="en-US" dirty="0" err="1"/>
              <a:t>tertimbang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berpasangan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alternatifnya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id-ID" dirty="0"/>
              <a:t> </a:t>
            </a:r>
            <a:r>
              <a:rPr lang="en-US" dirty="0" err="1"/>
              <a:t>diprioritaskan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seberapa</a:t>
            </a:r>
            <a:r>
              <a:rPr lang="en-US" dirty="0"/>
              <a:t> </a:t>
            </a:r>
            <a:r>
              <a:rPr lang="en-US" dirty="0" err="1"/>
              <a:t>bermanfaatnya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kata lain, </a:t>
            </a:r>
            <a:r>
              <a:rPr lang="en-US" dirty="0" err="1"/>
              <a:t>perbandingan</a:t>
            </a:r>
            <a:r>
              <a:rPr lang="id-ID" dirty="0"/>
              <a:t> </a:t>
            </a:r>
            <a:r>
              <a:rPr lang="en-US" dirty="0" err="1"/>
              <a:t>pertanyaannya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: </a:t>
            </a:r>
            <a:r>
              <a:rPr lang="en-US" dirty="0" err="1"/>
              <a:t>Sehubungan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mana yang </a:t>
            </a:r>
            <a:r>
              <a:rPr lang="en-US" dirty="0" err="1"/>
              <a:t>terbaik</a:t>
            </a:r>
            <a:r>
              <a:rPr lang="en-US" dirty="0"/>
              <a:t> (paling</a:t>
            </a:r>
            <a:r>
              <a:rPr lang="id-ID" dirty="0"/>
              <a:t> </a:t>
            </a:r>
            <a:r>
              <a:rPr lang="en-US" dirty="0" err="1"/>
              <a:t>bermanfaat</a:t>
            </a:r>
            <a:r>
              <a:rPr lang="en-US" dirty="0"/>
              <a:t>) </a:t>
            </a:r>
            <a:r>
              <a:rPr lang="en-US" dirty="0" err="1"/>
              <a:t>alternatif</a:t>
            </a:r>
            <a:r>
              <a:rPr lang="en-US" dirty="0"/>
              <a:t>?</a:t>
            </a:r>
          </a:p>
          <a:p>
            <a:pPr lvl="1" algn="just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hierarki</a:t>
            </a:r>
            <a:r>
              <a:rPr lang="en-US" dirty="0"/>
              <a:t> </a:t>
            </a:r>
            <a:r>
              <a:rPr lang="en-US" b="1" u="sng" dirty="0"/>
              <a:t>cost</a:t>
            </a:r>
            <a:r>
              <a:rPr lang="en-US" dirty="0"/>
              <a:t>, </a:t>
            </a:r>
            <a:r>
              <a:rPr lang="en-US" dirty="0" err="1"/>
              <a:t>kriterianya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perkiraan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id-ID" dirty="0"/>
              <a:t> </a:t>
            </a:r>
            <a:r>
              <a:rPr lang="en-US" dirty="0" err="1"/>
              <a:t>keputusan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pertimbangan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alternatif</a:t>
            </a:r>
            <a:r>
              <a:rPr lang="en-US" dirty="0"/>
              <a:t> lain</a:t>
            </a:r>
            <a:r>
              <a:rPr lang="id-ID" dirty="0"/>
              <a:t> </a:t>
            </a:r>
            <a:r>
              <a:rPr lang="en-US" dirty="0" err="1"/>
              <a:t>diprioritaskan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seberapa</a:t>
            </a:r>
            <a:r>
              <a:rPr lang="en-US" dirty="0"/>
              <a:t> </a:t>
            </a:r>
            <a:r>
              <a:rPr lang="en-US" dirty="0" err="1"/>
              <a:t>mahal</a:t>
            </a:r>
            <a:r>
              <a:rPr lang="en-US" dirty="0"/>
              <a:t> </a:t>
            </a:r>
            <a:r>
              <a:rPr lang="en-US" dirty="0" err="1"/>
              <a:t>biayanya</a:t>
            </a:r>
            <a:r>
              <a:rPr lang="en-US" dirty="0"/>
              <a:t> (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mencerminkan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id-ID" dirty="0"/>
              <a:t> </a:t>
            </a:r>
            <a:r>
              <a:rPr lang="en-US" dirty="0" err="1"/>
              <a:t>biaya</a:t>
            </a:r>
            <a:r>
              <a:rPr lang="en-US" dirty="0"/>
              <a:t>).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perbandingannya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 </a:t>
            </a:r>
            <a:r>
              <a:rPr lang="en-US" dirty="0" err="1"/>
              <a:t>Sehubungan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alternatif</a:t>
            </a:r>
            <a:r>
              <a:rPr lang="en-US" dirty="0"/>
              <a:t> mana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mahal</a:t>
            </a:r>
            <a:r>
              <a:rPr lang="id-ID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9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02" y="173374"/>
            <a:ext cx="8158458" cy="495873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0800000">
            <a:off x="7309188" y="3625307"/>
            <a:ext cx="704538" cy="3597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13726" y="3312094"/>
            <a:ext cx="1911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Keputusan: Benefit / Cost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19135" y="5132108"/>
            <a:ext cx="10013429" cy="93424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Terakhir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rasio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manfaat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/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biaya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prioritas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setiap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dihitung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dengan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membagi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prioritas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id-ID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Benefit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dengan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prioritas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id-ID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Cost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dari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masing-masing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. </a:t>
            </a:r>
            <a:r>
              <a:rPr lang="en-US" altLang="en-US" sz="2100" dirty="0" err="1">
                <a:solidFill>
                  <a:srgbClr val="FF0000"/>
                </a:solidFill>
                <a:latin typeface="inherit"/>
              </a:rPr>
              <a:t>A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terbaik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adalah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yang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mempunyai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rasio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tertinggi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69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9744" y="1356859"/>
            <a:ext cx="11302584" cy="44890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mengilustrasikan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hal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ini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dengan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sebuah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contoh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mari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kita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asumsikan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bahwa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kita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telah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memutuskan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menganalisis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keputusan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membeli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mobil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menggunakan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analisis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B/C. </a:t>
            </a:r>
            <a:endParaRPr kumimoji="0" lang="id-ID" altLang="en-US" sz="21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Langkah-langkahnya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adalah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sebagai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berikut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: </a:t>
            </a:r>
            <a:endParaRPr kumimoji="0" lang="id-ID" altLang="en-US" sz="21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inheri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Langkah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1: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Membangun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Hierarki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id-ID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BENEFIT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memberi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bobot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pada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kriteria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menggunakan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perbandingan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berpasangan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selanjutnya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memprioritaskan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alternatif-alternatif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berdasarkan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seberapa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bermanfaat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alternatif-alternatif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tersebut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(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yaitu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prioritas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yang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lebih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menunjukkan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manfaat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yang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lebih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).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Hasil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contoh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ditunjukkan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pada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Gambar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7.1a. </a:t>
            </a:r>
            <a:endParaRPr kumimoji="0" lang="id-ID" altLang="en-US" sz="21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inheri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Langkah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2: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Membangun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Hierarki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id-ID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COST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memberi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bobot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pada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kriteria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menggunakan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perbandingan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berpasangan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selanjutnya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memprioritaskan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berdasarkan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seberapa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mahal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biayanya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(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yaitu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lebih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prioritas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menunjukkan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biaya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yang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lebih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).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Hasil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contoh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ditunjukkan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pada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Gambar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7.1b. </a:t>
            </a:r>
            <a:endParaRPr kumimoji="0" lang="id-ID" altLang="en-US" sz="21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inheri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Langkah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3: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Hitung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rasio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B/C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setiap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alternatif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Alternatifnya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dengan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rasio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B/C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tertinggi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akan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menjadi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yang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terbaik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Hasil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untuk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contoh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ditunjukkan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pada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Gambar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 7.1c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824" y="396362"/>
            <a:ext cx="8888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Contoh Kasus analisa AHP untuk Benefit/Cost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3219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Kasus untuk 1 kriteria Cost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2400" dirty="0"/>
              <a:t>Jika kriteria </a:t>
            </a:r>
            <a:r>
              <a:rPr lang="id-ID" sz="2400" dirty="0" err="1"/>
              <a:t>cost</a:t>
            </a:r>
            <a:r>
              <a:rPr lang="id-ID" sz="2400" dirty="0"/>
              <a:t> hanya ada 1, maka tentukan nilai normalisasi untuk semua nilai alternatif yang ada dengan cara: membagi bilangan itu dengan nilai total kriteria cost</a:t>
            </a:r>
          </a:p>
          <a:p>
            <a:endParaRPr lang="id-ID" sz="2400" dirty="0"/>
          </a:p>
          <a:p>
            <a:endParaRPr lang="id-ID" sz="2400" dirty="0"/>
          </a:p>
          <a:p>
            <a:endParaRPr lang="id-ID" sz="2400" dirty="0"/>
          </a:p>
          <a:p>
            <a:r>
              <a:rPr lang="id-ID" sz="2400" dirty="0"/>
              <a:t>Kemudian membagi masing-masing nilai akhir benefit tiap alternatif dengan nilai normalisasi kriteria cost tiap alternatif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16" y="2606965"/>
            <a:ext cx="3475950" cy="13783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804" y="5009650"/>
            <a:ext cx="4576791" cy="1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2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Kasus untuk lebih dari 1 kriteria Cost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Menyelesaikan tiap kriteria cost dengan matriks berpasangan seperti langkah-langkah pada penyelesaian kriteria benefit hingga mendapatkan nilai alternatif terbaik untuk semua kriteria cost</a:t>
            </a:r>
          </a:p>
          <a:p>
            <a:r>
              <a:rPr lang="id-ID" dirty="0"/>
              <a:t>Menggabungkan perhitungan benefit dengan cost dengan membagi nilai akhir benefit dengan nilai akhir cost.</a:t>
            </a:r>
          </a:p>
          <a:p>
            <a:r>
              <a:rPr lang="id-ID" dirty="0"/>
              <a:t>Rangking teratas adalah yang memiliki nilai tertinggi.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9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/>
              <a:t>TUGAS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Kerjakan Jobsheet 3 dengan memberikan tambahan:</a:t>
            </a:r>
          </a:p>
          <a:p>
            <a:pPr lvl="1"/>
            <a:r>
              <a:rPr lang="id-ID" dirty="0"/>
              <a:t>Ada 1 kriteria Cost</a:t>
            </a:r>
          </a:p>
          <a:p>
            <a:pPr lvl="1"/>
            <a:r>
              <a:rPr lang="id-ID" dirty="0"/>
              <a:t>Ada 3 kriteria Cost (menambah 2 dari kriteria cost sebelumnya)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32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3900</TotalTime>
  <Words>603</Words>
  <Application>Microsoft Macintosh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inherit</vt:lpstr>
      <vt:lpstr>Tahoma</vt:lpstr>
      <vt:lpstr>Office Theme</vt:lpstr>
      <vt:lpstr>METODE   Analytic Hierarchy Process (AHP) (benefit-cost) </vt:lpstr>
      <vt:lpstr>Benefit/Cost Analysis</vt:lpstr>
      <vt:lpstr>Benefit/Cost Analysis</vt:lpstr>
      <vt:lpstr>PowerPoint Presentation</vt:lpstr>
      <vt:lpstr>PowerPoint Presentation</vt:lpstr>
      <vt:lpstr>Kasus untuk 1 kriteria Cost</vt:lpstr>
      <vt:lpstr>Kasus untuk lebih dari 1 kriteria Cost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Afif Hendrawan</dc:creator>
  <cp:lastModifiedBy>Adevian Fairuz</cp:lastModifiedBy>
  <cp:revision>50</cp:revision>
  <dcterms:created xsi:type="dcterms:W3CDTF">2021-08-30T06:37:21Z</dcterms:created>
  <dcterms:modified xsi:type="dcterms:W3CDTF">2024-03-03T02:21:24Z</dcterms:modified>
</cp:coreProperties>
</file>