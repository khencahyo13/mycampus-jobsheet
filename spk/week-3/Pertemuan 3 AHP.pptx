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9" r:id="rId2"/>
    <p:sldId id="260" r:id="rId3"/>
    <p:sldId id="280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83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F15429"/>
    <a:srgbClr val="FEBF12"/>
    <a:srgbClr val="0E1F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92"/>
    <p:restoredTop sz="94782"/>
  </p:normalViewPr>
  <p:slideViewPr>
    <p:cSldViewPr snapToGrid="0" snapToObjects="1">
      <p:cViewPr>
        <p:scale>
          <a:sx n="90" d="100"/>
          <a:sy n="90" d="100"/>
        </p:scale>
        <p:origin x="-192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632240-92BF-CC44-99DC-FE41B557DD1C}" type="datetimeFigureOut">
              <a:rPr lang="en-US" smtClean="0"/>
              <a:t>2/24/25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8C698C-85A1-7645-8D99-88ACA29C7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524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ID" altLang="en-US"/>
          </a:p>
        </p:txBody>
      </p:sp>
      <p:sp>
        <p:nvSpPr>
          <p:cNvPr id="36868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258D103-BF3C-486B-8174-2F52D65787F8}" type="slidenum">
              <a:rPr lang="id-ID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id-ID" altLang="en-US"/>
          </a:p>
        </p:txBody>
      </p:sp>
    </p:spTree>
    <p:extLst>
      <p:ext uri="{BB962C8B-B14F-4D97-AF65-F5344CB8AC3E}">
        <p14:creationId xmlns:p14="http://schemas.microsoft.com/office/powerpoint/2010/main" val="1254856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54B05-89B4-CA49-A97D-5773967BA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C460A4-FBDB-4843-A801-7FFC30DA2B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A97A6-CA83-FF41-9FAC-EC2882B2D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637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339D6-43C2-7940-80F9-253DBC1BD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600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FE9BC-8A3D-6B42-99C9-B7266D56E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FD4BF-C3E7-3041-A5E6-6932EA57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432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81C11-60E3-C045-BCE0-AD657884C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CD280-FEC7-AC41-B88B-3D24EAD35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EDA9A5F-B4CD-034A-AFB2-14B44C1517D3}"/>
              </a:ext>
            </a:extLst>
          </p:cNvPr>
          <p:cNvSpPr txBox="1">
            <a:spLocks/>
          </p:cNvSpPr>
          <p:nvPr userDrawn="1"/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515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52CD8-E19A-2541-B4FD-AF17A1656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600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4F5D4-FD0F-454A-9D32-8D3AC10463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23185E-503D-184D-A457-6D2E008E4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529CF98-528F-F142-A8CE-F41C053D8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37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FE782-E64F-3847-B0C9-76552A994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3600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F551E-3E4D-8A4B-A08B-9F8498FC1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995C0E-B956-3D42-B89A-059553CB6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1F1CEF-BAD8-5C41-ACBB-417D72A04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10CC60-106D-DE45-9340-A080FCE483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2AAE4CE-26CC-2545-8200-7B1ACF68B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326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C9327-42D2-9242-81F1-56D265980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600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5C298-763E-7F43-8112-3A5D6F490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736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BC6E1BC-7B77-924A-8E4B-2D84DBDD5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208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ACC28-0CBF-4F45-89D0-BF884ED63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D7325-F5A1-5643-A326-4156B8426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0012" y="1368988"/>
            <a:ext cx="6172200" cy="450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08614-0288-394B-8691-ED3561F07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0693BB2-E99E-C241-84D5-09AB94BCB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429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0FB47-BF9D-394F-B485-E6AE781A1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FE88D9-E9CA-064E-9C41-9DA4374365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58949"/>
            <a:ext cx="6172200" cy="470210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A9B332-76DB-B84F-9ACD-440C41636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5129D4C-D814-1141-9FAA-4AC350306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30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3DA94-8D9A-4E4A-AD66-402DD74E1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600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6C41D6-3F8C-DA45-96E9-AAD73F7E0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1CB4ECE-6AC8-DC4C-80E9-8A5497E2E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149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7878C8-2155-244B-8A61-4BFD0C98D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3ED88-0471-1847-8B59-9219388D9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A76B69-3363-D74E-8F72-C2BEFD434A7D}"/>
              </a:ext>
            </a:extLst>
          </p:cNvPr>
          <p:cNvGrpSpPr/>
          <p:nvPr userDrawn="1"/>
        </p:nvGrpSpPr>
        <p:grpSpPr>
          <a:xfrm>
            <a:off x="0" y="0"/>
            <a:ext cx="12192000" cy="180000"/>
            <a:chOff x="0" y="0"/>
            <a:chExt cx="12192000" cy="180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7839B7-137E-8A4E-9DBB-93A67DB6D1ED}"/>
                </a:ext>
              </a:extLst>
            </p:cNvPr>
            <p:cNvSpPr/>
            <p:nvPr userDrawn="1"/>
          </p:nvSpPr>
          <p:spPr>
            <a:xfrm>
              <a:off x="0" y="0"/>
              <a:ext cx="8455068" cy="180000"/>
            </a:xfrm>
            <a:prstGeom prst="rect">
              <a:avLst/>
            </a:prstGeom>
            <a:solidFill>
              <a:srgbClr val="0E1F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4CF3AEE-341B-BB49-8751-E52CB39D92AF}"/>
                </a:ext>
              </a:extLst>
            </p:cNvPr>
            <p:cNvSpPr/>
            <p:nvPr userDrawn="1"/>
          </p:nvSpPr>
          <p:spPr>
            <a:xfrm>
              <a:off x="8455068" y="0"/>
              <a:ext cx="1260000" cy="180000"/>
            </a:xfrm>
            <a:prstGeom prst="rect">
              <a:avLst/>
            </a:prstGeom>
            <a:solidFill>
              <a:srgbClr val="F15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B6A58AB-C36B-604D-8B97-CE1BEA3C01D4}"/>
                </a:ext>
              </a:extLst>
            </p:cNvPr>
            <p:cNvSpPr/>
            <p:nvPr userDrawn="1"/>
          </p:nvSpPr>
          <p:spPr>
            <a:xfrm>
              <a:off x="9715068" y="0"/>
              <a:ext cx="2476932" cy="180000"/>
            </a:xfrm>
            <a:prstGeom prst="rect">
              <a:avLst/>
            </a:prstGeom>
            <a:solidFill>
              <a:srgbClr val="FEBF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15B165E-2D96-7D41-9261-3925CBFF1B1E}"/>
              </a:ext>
            </a:extLst>
          </p:cNvPr>
          <p:cNvGrpSpPr/>
          <p:nvPr userDrawn="1"/>
        </p:nvGrpSpPr>
        <p:grpSpPr>
          <a:xfrm>
            <a:off x="10454640" y="291181"/>
            <a:ext cx="1506792" cy="720000"/>
            <a:chOff x="10454640" y="291181"/>
            <a:chExt cx="1506792" cy="720000"/>
          </a:xfrm>
        </p:grpSpPr>
        <p:pic>
          <p:nvPicPr>
            <p:cNvPr id="12" name="Picture 11" descr="Logo, icon&#10;&#10;Description automatically generated">
              <a:extLst>
                <a:ext uri="{FF2B5EF4-FFF2-40B4-BE49-F238E27FC236}">
                  <a16:creationId xmlns:a16="http://schemas.microsoft.com/office/drawing/2014/main" id="{99A3263D-297E-2F43-B98D-4E9E2A3C11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/>
            <a:stretch>
              <a:fillRect/>
            </a:stretch>
          </p:blipFill>
          <p:spPr>
            <a:xfrm>
              <a:off x="11272520" y="291181"/>
              <a:ext cx="688912" cy="720000"/>
            </a:xfrm>
            <a:prstGeom prst="rect">
              <a:avLst/>
            </a:prstGeom>
          </p:spPr>
        </p:pic>
        <p:pic>
          <p:nvPicPr>
            <p:cNvPr id="13" name="Picture 12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55E9DA91-D852-0248-8634-854C9B3EBCA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10454640" y="291181"/>
              <a:ext cx="714035" cy="7200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819177D-DF27-9F4C-A66D-0B003FAEF161}"/>
              </a:ext>
            </a:extLst>
          </p:cNvPr>
          <p:cNvGrpSpPr/>
          <p:nvPr userDrawn="1"/>
        </p:nvGrpSpPr>
        <p:grpSpPr>
          <a:xfrm>
            <a:off x="0" y="6318000"/>
            <a:ext cx="12191999" cy="540000"/>
            <a:chOff x="0" y="6318000"/>
            <a:chExt cx="12191999" cy="540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4E9C83E-A616-6E42-990B-61E3910357B5}"/>
                </a:ext>
              </a:extLst>
            </p:cNvPr>
            <p:cNvSpPr/>
            <p:nvPr userDrawn="1"/>
          </p:nvSpPr>
          <p:spPr>
            <a:xfrm flipH="1">
              <a:off x="2880000" y="6318000"/>
              <a:ext cx="8473800" cy="540000"/>
            </a:xfrm>
            <a:prstGeom prst="rect">
              <a:avLst/>
            </a:prstGeom>
            <a:solidFill>
              <a:srgbClr val="FEBF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BAD3BBA-AEA9-9148-AEEF-D0900E4D913C}"/>
                </a:ext>
              </a:extLst>
            </p:cNvPr>
            <p:cNvSpPr/>
            <p:nvPr userDrawn="1"/>
          </p:nvSpPr>
          <p:spPr>
            <a:xfrm flipH="1">
              <a:off x="0" y="6318000"/>
              <a:ext cx="2880000" cy="540000"/>
            </a:xfrm>
            <a:prstGeom prst="rect">
              <a:avLst/>
            </a:prstGeom>
            <a:solidFill>
              <a:srgbClr val="F15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9075315-7447-4D49-8AF9-D4C106A08E63}"/>
                </a:ext>
              </a:extLst>
            </p:cNvPr>
            <p:cNvSpPr/>
            <p:nvPr userDrawn="1"/>
          </p:nvSpPr>
          <p:spPr>
            <a:xfrm flipH="1">
              <a:off x="11353800" y="6318000"/>
              <a:ext cx="838199" cy="540000"/>
            </a:xfrm>
            <a:prstGeom prst="rect">
              <a:avLst/>
            </a:prstGeom>
            <a:solidFill>
              <a:srgbClr val="0E1F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144BCBA-6CCA-E048-9AA3-D193ADD12CD3}"/>
              </a:ext>
            </a:extLst>
          </p:cNvPr>
          <p:cNvSpPr txBox="1"/>
          <p:nvPr userDrawn="1"/>
        </p:nvSpPr>
        <p:spPr>
          <a:xfrm>
            <a:off x="0" y="6372556"/>
            <a:ext cx="2879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err="1">
                <a:solidFill>
                  <a:schemeClr val="bg1"/>
                </a:solidFill>
                <a:latin typeface="+mn-lt"/>
              </a:rPr>
              <a:t>jti.polinema.ac.id</a:t>
            </a:r>
            <a:endParaRPr lang="en-US" sz="2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9" name="Text Placeholder 21">
            <a:extLst>
              <a:ext uri="{FF2B5EF4-FFF2-40B4-BE49-F238E27FC236}">
                <a16:creationId xmlns:a16="http://schemas.microsoft.com/office/drawing/2014/main" id="{67E329EB-6B78-F941-AD9C-AB9D28C5C26F}"/>
              </a:ext>
            </a:extLst>
          </p:cNvPr>
          <p:cNvSpPr txBox="1">
            <a:spLocks/>
          </p:cNvSpPr>
          <p:nvPr userDrawn="1"/>
        </p:nvSpPr>
        <p:spPr>
          <a:xfrm>
            <a:off x="3108361" y="6398880"/>
            <a:ext cx="7992029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kern="1200">
                <a:solidFill>
                  <a:srgbClr val="0E1F43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SISTEM PENDUKUNG KEPUTUSAN</a:t>
            </a:r>
          </a:p>
        </p:txBody>
      </p:sp>
    </p:spTree>
    <p:extLst>
      <p:ext uri="{BB962C8B-B14F-4D97-AF65-F5344CB8AC3E}">
        <p14:creationId xmlns:p14="http://schemas.microsoft.com/office/powerpoint/2010/main" val="1415031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jpe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0.png"/><Relationship Id="rId10" Type="http://schemas.openxmlformats.org/officeDocument/2006/relationships/image" Target="../media/image16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1063" y="1648918"/>
            <a:ext cx="10772774" cy="1593876"/>
          </a:xfrm>
        </p:spPr>
        <p:txBody>
          <a:bodyPr>
            <a:noAutofit/>
          </a:bodyPr>
          <a:lstStyle/>
          <a:p>
            <a:r>
              <a:rPr lang="id-ID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id-ID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id-ID" sz="48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Analytic Hierarchy Process (AHP)</a:t>
            </a:r>
            <a:br>
              <a:rPr lang="id-ID" sz="48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B08C5C2-C557-AD42-8F5E-87854E677F23}"/>
              </a:ext>
            </a:extLst>
          </p:cNvPr>
          <p:cNvSpPr txBox="1">
            <a:spLocks/>
          </p:cNvSpPr>
          <p:nvPr/>
        </p:nvSpPr>
        <p:spPr>
          <a:xfrm>
            <a:off x="1388338" y="4250575"/>
            <a:ext cx="9415322" cy="12250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TEACHING TEAM </a:t>
            </a:r>
          </a:p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DECISION SUPPORT SYSTEM COURSE</a:t>
            </a:r>
          </a:p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YEAR 2024/2025</a:t>
            </a:r>
          </a:p>
        </p:txBody>
      </p:sp>
    </p:spTree>
    <p:extLst>
      <p:ext uri="{BB962C8B-B14F-4D97-AF65-F5344CB8AC3E}">
        <p14:creationId xmlns:p14="http://schemas.microsoft.com/office/powerpoint/2010/main" val="1370022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d-ID" altLang="en-US" b="1" dirty="0" err="1"/>
              <a:t>What</a:t>
            </a:r>
            <a:r>
              <a:rPr lang="id-ID" altLang="en-US" b="1" dirty="0"/>
              <a:t> </a:t>
            </a:r>
            <a:r>
              <a:rPr lang="id-ID" altLang="en-US" b="1" dirty="0" err="1"/>
              <a:t>is</a:t>
            </a:r>
            <a:r>
              <a:rPr lang="id-ID" altLang="en-US" b="1" dirty="0"/>
              <a:t> AHP?</a:t>
            </a:r>
            <a:endParaRPr lang="en-ID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435C8-9FB8-4C65-A866-A302BFBDE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Autofit/>
          </a:bodyPr>
          <a:lstStyle/>
          <a:p>
            <a:pPr>
              <a:spcBef>
                <a:spcPts val="930"/>
              </a:spcBef>
              <a:defRPr/>
            </a:pP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Analytic Hierarchy Process </a:t>
            </a:r>
          </a:p>
          <a:p>
            <a:pPr>
              <a:spcBef>
                <a:spcPts val="930"/>
              </a:spcBef>
              <a:defRPr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analysis technique is by arranging complex problems into levels called hierarchies.</a:t>
            </a:r>
          </a:p>
          <a:p>
            <a:pPr>
              <a:spcBef>
                <a:spcPts val="930"/>
              </a:spcBef>
              <a:defRPr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hierarchical elements in the AHP consist of:</a:t>
            </a:r>
          </a:p>
          <a:p>
            <a:pPr marL="0" indent="0">
              <a:spcBef>
                <a:spcPts val="930"/>
              </a:spcBef>
              <a:buNone/>
              <a:defRPr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	1. Objective/Goal</a:t>
            </a:r>
          </a:p>
          <a:p>
            <a:pPr marL="0" indent="0">
              <a:spcBef>
                <a:spcPts val="930"/>
              </a:spcBef>
              <a:buNone/>
              <a:defRPr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	2. Criteria (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subcriteria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are in it)</a:t>
            </a:r>
          </a:p>
          <a:p>
            <a:pPr marL="0" indent="0">
              <a:spcBef>
                <a:spcPts val="930"/>
              </a:spcBef>
              <a:buNone/>
              <a:defRPr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	3. Alternatives</a:t>
            </a:r>
          </a:p>
          <a:p>
            <a:pPr marL="0" indent="0">
              <a:spcBef>
                <a:spcPts val="930"/>
              </a:spcBef>
              <a:buNone/>
              <a:defRPr/>
            </a:pPr>
            <a:endParaRPr lang="id-ID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auto">
              <a:spcBef>
                <a:spcPts val="930"/>
              </a:spcBef>
              <a:spcAft>
                <a:spcPts val="0"/>
              </a:spcAft>
              <a:buFont typeface="Corbel" panose="020B0503020204020204" pitchFamily="34" charset="0"/>
              <a:buNone/>
              <a:defRPr/>
            </a:pPr>
            <a:endParaRPr lang="en-US" sz="3200" b="1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fontAlgn="auto">
              <a:spcBef>
                <a:spcPts val="930"/>
              </a:spcBef>
              <a:spcAft>
                <a:spcPts val="0"/>
              </a:spcAft>
              <a:buFont typeface="Corbel" panose="020B0503020204020204" pitchFamily="34" charset="0"/>
              <a:buNone/>
              <a:defRPr/>
            </a:pPr>
            <a:br>
              <a:rPr lang="en-ID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id-ID" sz="3200" b="1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930"/>
              </a:spcBef>
              <a:defRPr/>
            </a:pPr>
            <a:endParaRPr lang="en-US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20040" indent="-320040" fontAlgn="auto">
              <a:spcBef>
                <a:spcPts val="930"/>
              </a:spcBef>
              <a:spcAft>
                <a:spcPts val="0"/>
              </a:spcAft>
              <a:defRPr/>
            </a:pPr>
            <a:endParaRPr lang="en-ID" sz="3200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420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 noChangeArrowheads="1"/>
          </p:cNvSpPr>
          <p:nvPr>
            <p:ph type="title"/>
          </p:nvPr>
        </p:nvSpPr>
        <p:spPr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r>
              <a:rPr lang="id-ID" altLang="en-US" dirty="0"/>
              <a:t>STAGES</a:t>
            </a:r>
          </a:p>
        </p:txBody>
      </p:sp>
      <p:sp>
        <p:nvSpPr>
          <p:cNvPr id="1843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38200" y="1736231"/>
            <a:ext cx="10515600" cy="4351338"/>
          </a:xfrm>
        </p:spPr>
        <p:txBody>
          <a:bodyPr>
            <a:normAutofit/>
          </a:bodyPr>
          <a:lstStyle/>
          <a:p>
            <a:pPr marL="114300" indent="0">
              <a:buFont typeface="Corbel" panose="020B0503020204020204" pitchFamily="34" charset="0"/>
              <a:buNone/>
            </a:pPr>
            <a:r>
              <a:rPr lang="id-ID" altLang="en-US" sz="3200" b="1" u="sng" dirty="0"/>
              <a:t>1. </a:t>
            </a:r>
            <a:r>
              <a:rPr lang="id-ID" altLang="en-US" sz="3200" b="1" u="sng" dirty="0" err="1"/>
              <a:t>Establishing</a:t>
            </a:r>
            <a:r>
              <a:rPr lang="id-ID" altLang="en-US" sz="3200" b="1" u="sng" dirty="0"/>
              <a:t> </a:t>
            </a:r>
            <a:r>
              <a:rPr lang="id-ID" altLang="en-US" sz="3200" b="1" u="sng" dirty="0" err="1"/>
              <a:t>a</a:t>
            </a:r>
            <a:r>
              <a:rPr lang="id-ID" altLang="en-US" sz="3200" b="1" u="sng" dirty="0"/>
              <a:t> </a:t>
            </a:r>
            <a:r>
              <a:rPr lang="id-ID" altLang="en-US" sz="3200" b="1" u="sng" dirty="0" err="1"/>
              <a:t>hierarchy</a:t>
            </a:r>
            <a:r>
              <a:rPr lang="id-ID" altLang="en-US" sz="3200" b="1" u="sng" dirty="0"/>
              <a:t> </a:t>
            </a:r>
            <a:r>
              <a:rPr lang="id-ID" altLang="en-US" sz="3200" b="1" u="sng" dirty="0" err="1"/>
              <a:t>of</a:t>
            </a:r>
            <a:r>
              <a:rPr lang="id-ID" altLang="en-US" sz="3200" b="1" u="sng" dirty="0"/>
              <a:t> </a:t>
            </a:r>
            <a:r>
              <a:rPr lang="id-ID" altLang="en-US" sz="3200" b="1" u="sng" dirty="0" err="1"/>
              <a:t>problems</a:t>
            </a:r>
            <a:r>
              <a:rPr lang="id-ID" altLang="en-US" sz="3200" b="1" u="sng" dirty="0"/>
              <a:t> </a:t>
            </a:r>
            <a:r>
              <a:rPr lang="id-ID" altLang="en-US" sz="3200" b="1" u="sng" dirty="0" err="1"/>
              <a:t>faced</a:t>
            </a:r>
            <a:endParaRPr lang="id-ID" altLang="en-US" sz="3200" b="1" u="sng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BD452A-FB9D-4EC2-07D7-5965A95BAA3F}"/>
              </a:ext>
            </a:extLst>
          </p:cNvPr>
          <p:cNvSpPr/>
          <p:nvPr/>
        </p:nvSpPr>
        <p:spPr>
          <a:xfrm>
            <a:off x="5518200" y="2474940"/>
            <a:ext cx="1182403" cy="4931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Goal</a:t>
            </a:r>
            <a:endParaRPr lang="en-ID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20B0B8-BE47-7675-75AE-82438EE1DFC0}"/>
              </a:ext>
            </a:extLst>
          </p:cNvPr>
          <p:cNvSpPr/>
          <p:nvPr/>
        </p:nvSpPr>
        <p:spPr>
          <a:xfrm>
            <a:off x="1113590" y="3541740"/>
            <a:ext cx="1182403" cy="4931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Criteria 1</a:t>
            </a:r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0DAFC-22A4-9FFB-C8DB-D8164306408D}"/>
              </a:ext>
            </a:extLst>
          </p:cNvPr>
          <p:cNvSpPr/>
          <p:nvPr/>
        </p:nvSpPr>
        <p:spPr>
          <a:xfrm>
            <a:off x="2989859" y="3541740"/>
            <a:ext cx="1182403" cy="4931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Criteria 2</a:t>
            </a:r>
            <a:endParaRPr lang="en-ID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86F11B-64C1-125E-1090-D7168E41E400}"/>
              </a:ext>
            </a:extLst>
          </p:cNvPr>
          <p:cNvSpPr/>
          <p:nvPr/>
        </p:nvSpPr>
        <p:spPr>
          <a:xfrm>
            <a:off x="4913597" y="3541740"/>
            <a:ext cx="1182403" cy="4931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Criteria 3</a:t>
            </a:r>
            <a:endParaRPr lang="en-ID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DF9CD9-59DF-14F2-D466-69618CB88FD9}"/>
              </a:ext>
            </a:extLst>
          </p:cNvPr>
          <p:cNvSpPr/>
          <p:nvPr/>
        </p:nvSpPr>
        <p:spPr>
          <a:xfrm>
            <a:off x="9202141" y="3541053"/>
            <a:ext cx="1500836" cy="4931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n-</a:t>
            </a:r>
            <a:r>
              <a:rPr lang="en-US" dirty="0" err="1"/>
              <a:t>th</a:t>
            </a:r>
            <a:r>
              <a:rPr lang="en-US" dirty="0"/>
              <a:t> Criteria</a:t>
            </a:r>
            <a:endParaRPr lang="en-ID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13B6339-5B4F-D15F-316C-2439A048211F}"/>
              </a:ext>
            </a:extLst>
          </p:cNvPr>
          <p:cNvCxnSpPr>
            <a:stCxn id="2" idx="2"/>
            <a:endCxn id="3" idx="0"/>
          </p:cNvCxnSpPr>
          <p:nvPr/>
        </p:nvCxnSpPr>
        <p:spPr>
          <a:xfrm flipH="1">
            <a:off x="1704792" y="2968052"/>
            <a:ext cx="4404610" cy="573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07F0CCF-A5E5-72C6-C5A1-4BD6AB9D9BEB}"/>
              </a:ext>
            </a:extLst>
          </p:cNvPr>
          <p:cNvCxnSpPr>
            <a:stCxn id="2" idx="2"/>
            <a:endCxn id="4" idx="0"/>
          </p:cNvCxnSpPr>
          <p:nvPr/>
        </p:nvCxnSpPr>
        <p:spPr>
          <a:xfrm flipH="1">
            <a:off x="3581061" y="2968052"/>
            <a:ext cx="2528341" cy="573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A8E46BD-70FA-A633-9C10-FCD8716B63F3}"/>
              </a:ext>
            </a:extLst>
          </p:cNvPr>
          <p:cNvCxnSpPr>
            <a:stCxn id="2" idx="2"/>
            <a:endCxn id="6" idx="0"/>
          </p:cNvCxnSpPr>
          <p:nvPr/>
        </p:nvCxnSpPr>
        <p:spPr>
          <a:xfrm flipH="1">
            <a:off x="5504799" y="2968052"/>
            <a:ext cx="604603" cy="573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258A2F0-A111-6B48-E469-E11C59CFD0F5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>
            <a:off x="6109402" y="2968052"/>
            <a:ext cx="3843157" cy="573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230D519-D678-79A1-D2CA-E1DF461E11BC}"/>
              </a:ext>
            </a:extLst>
          </p:cNvPr>
          <p:cNvSpPr txBox="1"/>
          <p:nvPr/>
        </p:nvSpPr>
        <p:spPr>
          <a:xfrm flipH="1">
            <a:off x="6714005" y="3563532"/>
            <a:ext cx="2143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…………………………..</a:t>
            </a:r>
            <a:endParaRPr lang="en-ID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794122-0354-24D1-EA51-A865D044092E}"/>
              </a:ext>
            </a:extLst>
          </p:cNvPr>
          <p:cNvSpPr/>
          <p:nvPr/>
        </p:nvSpPr>
        <p:spPr>
          <a:xfrm>
            <a:off x="1116090" y="4968302"/>
            <a:ext cx="1531727" cy="4931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Alternative</a:t>
            </a:r>
            <a:r>
              <a:rPr lang="en-US" dirty="0"/>
              <a:t> 1</a:t>
            </a:r>
            <a:endParaRPr lang="en-ID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D0637C-8599-E207-C660-5986FD0D8F04}"/>
              </a:ext>
            </a:extLst>
          </p:cNvPr>
          <p:cNvSpPr/>
          <p:nvPr/>
        </p:nvSpPr>
        <p:spPr>
          <a:xfrm>
            <a:off x="2992359" y="4968302"/>
            <a:ext cx="1339120" cy="4931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Alternative 2</a:t>
            </a:r>
            <a:endParaRPr lang="en-ID" sz="16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C3039C-D9A2-AD4D-81C5-C9B9EB97A1AA}"/>
              </a:ext>
            </a:extLst>
          </p:cNvPr>
          <p:cNvSpPr/>
          <p:nvPr/>
        </p:nvSpPr>
        <p:spPr>
          <a:xfrm>
            <a:off x="4916097" y="4968302"/>
            <a:ext cx="1336620" cy="4931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Alternative 3</a:t>
            </a:r>
            <a:endParaRPr lang="en-ID" sz="16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CD9A9D-9E18-53FD-435F-D48D2B408167}"/>
              </a:ext>
            </a:extLst>
          </p:cNvPr>
          <p:cNvSpPr/>
          <p:nvPr/>
        </p:nvSpPr>
        <p:spPr>
          <a:xfrm>
            <a:off x="9204641" y="4967615"/>
            <a:ext cx="1681162" cy="4931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m-</a:t>
            </a:r>
            <a:r>
              <a:rPr lang="en-US" sz="1600" dirty="0" err="1"/>
              <a:t>th</a:t>
            </a:r>
            <a:r>
              <a:rPr lang="en-US" sz="1600" dirty="0"/>
              <a:t> Alternative </a:t>
            </a:r>
            <a:endParaRPr lang="en-ID" sz="16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D700BF8-B28A-A5AA-66D2-C554890730E9}"/>
              </a:ext>
            </a:extLst>
          </p:cNvPr>
          <p:cNvCxnSpPr>
            <a:cxnSpLocks/>
            <a:stCxn id="6" idx="2"/>
            <a:endCxn id="21" idx="0"/>
          </p:cNvCxnSpPr>
          <p:nvPr/>
        </p:nvCxnSpPr>
        <p:spPr>
          <a:xfrm flipH="1">
            <a:off x="1881954" y="4034852"/>
            <a:ext cx="3622845" cy="933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A97DADF-61DA-B9F2-CC24-0BCAEF612906}"/>
              </a:ext>
            </a:extLst>
          </p:cNvPr>
          <p:cNvCxnSpPr>
            <a:cxnSpLocks/>
            <a:stCxn id="6" idx="2"/>
            <a:endCxn id="22" idx="0"/>
          </p:cNvCxnSpPr>
          <p:nvPr/>
        </p:nvCxnSpPr>
        <p:spPr>
          <a:xfrm flipH="1">
            <a:off x="3661919" y="4034852"/>
            <a:ext cx="1842880" cy="933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E92F1E0-6E31-1E6F-2324-B55BD4F0C68E}"/>
              </a:ext>
            </a:extLst>
          </p:cNvPr>
          <p:cNvCxnSpPr>
            <a:cxnSpLocks/>
            <a:stCxn id="6" idx="2"/>
            <a:endCxn id="23" idx="0"/>
          </p:cNvCxnSpPr>
          <p:nvPr/>
        </p:nvCxnSpPr>
        <p:spPr>
          <a:xfrm>
            <a:off x="5504799" y="4034852"/>
            <a:ext cx="79608" cy="933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D770F89-C653-2F4F-04FA-12AE216B0507}"/>
              </a:ext>
            </a:extLst>
          </p:cNvPr>
          <p:cNvCxnSpPr>
            <a:cxnSpLocks/>
            <a:stCxn id="6" idx="2"/>
            <a:endCxn id="24" idx="0"/>
          </p:cNvCxnSpPr>
          <p:nvPr/>
        </p:nvCxnSpPr>
        <p:spPr>
          <a:xfrm>
            <a:off x="5504799" y="4034852"/>
            <a:ext cx="4540423" cy="932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A47965C-475F-5BE3-AC38-328EF299A7D9}"/>
              </a:ext>
            </a:extLst>
          </p:cNvPr>
          <p:cNvSpPr txBox="1"/>
          <p:nvPr/>
        </p:nvSpPr>
        <p:spPr>
          <a:xfrm flipH="1">
            <a:off x="6716505" y="4990094"/>
            <a:ext cx="2143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…………………………..</a:t>
            </a:r>
            <a:endParaRPr lang="en-ID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530676F-31B9-BFD9-CDB4-375361822398}"/>
              </a:ext>
            </a:extLst>
          </p:cNvPr>
          <p:cNvCxnSpPr>
            <a:cxnSpLocks/>
            <a:stCxn id="3" idx="2"/>
            <a:endCxn id="21" idx="0"/>
          </p:cNvCxnSpPr>
          <p:nvPr/>
        </p:nvCxnSpPr>
        <p:spPr>
          <a:xfrm>
            <a:off x="1704792" y="4034852"/>
            <a:ext cx="177162" cy="933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BB2C262-5D15-1909-D06B-FC47325923A1}"/>
              </a:ext>
            </a:extLst>
          </p:cNvPr>
          <p:cNvCxnSpPr>
            <a:cxnSpLocks/>
            <a:stCxn id="3" idx="2"/>
            <a:endCxn id="22" idx="0"/>
          </p:cNvCxnSpPr>
          <p:nvPr/>
        </p:nvCxnSpPr>
        <p:spPr>
          <a:xfrm>
            <a:off x="1704792" y="4034852"/>
            <a:ext cx="1957127" cy="933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724F0A5-11FC-BD28-9895-48DD17F7543E}"/>
              </a:ext>
            </a:extLst>
          </p:cNvPr>
          <p:cNvCxnSpPr>
            <a:cxnSpLocks/>
            <a:stCxn id="3" idx="2"/>
            <a:endCxn id="23" idx="0"/>
          </p:cNvCxnSpPr>
          <p:nvPr/>
        </p:nvCxnSpPr>
        <p:spPr>
          <a:xfrm>
            <a:off x="1704792" y="4034852"/>
            <a:ext cx="3879615" cy="933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CDE91DF-9D1E-006C-06DA-A654A55BA317}"/>
              </a:ext>
            </a:extLst>
          </p:cNvPr>
          <p:cNvCxnSpPr>
            <a:cxnSpLocks/>
            <a:stCxn id="3" idx="2"/>
            <a:endCxn id="24" idx="0"/>
          </p:cNvCxnSpPr>
          <p:nvPr/>
        </p:nvCxnSpPr>
        <p:spPr>
          <a:xfrm>
            <a:off x="1704792" y="4034852"/>
            <a:ext cx="8340430" cy="932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22C88CB-A145-1942-42A4-96BED4D8D8C0}"/>
              </a:ext>
            </a:extLst>
          </p:cNvPr>
          <p:cNvCxnSpPr>
            <a:cxnSpLocks/>
            <a:stCxn id="4" idx="2"/>
            <a:endCxn id="21" idx="0"/>
          </p:cNvCxnSpPr>
          <p:nvPr/>
        </p:nvCxnSpPr>
        <p:spPr>
          <a:xfrm flipH="1">
            <a:off x="1881954" y="4034852"/>
            <a:ext cx="1699107" cy="933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9445757-3763-8A21-4BAF-1DB3239E147B}"/>
              </a:ext>
            </a:extLst>
          </p:cNvPr>
          <p:cNvCxnSpPr>
            <a:cxnSpLocks/>
            <a:stCxn id="4" idx="2"/>
            <a:endCxn id="22" idx="0"/>
          </p:cNvCxnSpPr>
          <p:nvPr/>
        </p:nvCxnSpPr>
        <p:spPr>
          <a:xfrm>
            <a:off x="3581061" y="4034852"/>
            <a:ext cx="80858" cy="933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2FB2647-1B3A-27A6-7CDF-F834A3D7C183}"/>
              </a:ext>
            </a:extLst>
          </p:cNvPr>
          <p:cNvCxnSpPr>
            <a:cxnSpLocks/>
            <a:stCxn id="4" idx="2"/>
            <a:endCxn id="23" idx="0"/>
          </p:cNvCxnSpPr>
          <p:nvPr/>
        </p:nvCxnSpPr>
        <p:spPr>
          <a:xfrm>
            <a:off x="3581061" y="4034852"/>
            <a:ext cx="2003346" cy="933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4958502-B199-DFA9-16C3-F62124F2F2DF}"/>
              </a:ext>
            </a:extLst>
          </p:cNvPr>
          <p:cNvCxnSpPr>
            <a:cxnSpLocks/>
            <a:stCxn id="4" idx="2"/>
            <a:endCxn id="24" idx="0"/>
          </p:cNvCxnSpPr>
          <p:nvPr/>
        </p:nvCxnSpPr>
        <p:spPr>
          <a:xfrm>
            <a:off x="3581061" y="4034852"/>
            <a:ext cx="6464161" cy="932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FD816B4-5468-9175-DDF3-38D682347063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 flipH="1">
            <a:off x="1881954" y="4034165"/>
            <a:ext cx="8070605" cy="934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D27B976-227F-49EB-90DD-C39C26575DC3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 flipH="1">
            <a:off x="3661919" y="4034165"/>
            <a:ext cx="6290640" cy="934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0D5701D-43A0-4042-A9D2-7CF837505BAC}"/>
              </a:ext>
            </a:extLst>
          </p:cNvPr>
          <p:cNvCxnSpPr>
            <a:cxnSpLocks/>
            <a:stCxn id="7" idx="2"/>
            <a:endCxn id="23" idx="0"/>
          </p:cNvCxnSpPr>
          <p:nvPr/>
        </p:nvCxnSpPr>
        <p:spPr>
          <a:xfrm flipH="1">
            <a:off x="5584407" y="4034165"/>
            <a:ext cx="4368152" cy="934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74A7CDA-86A7-FA14-6DC8-59A7338200A8}"/>
              </a:ext>
            </a:extLst>
          </p:cNvPr>
          <p:cNvCxnSpPr>
            <a:cxnSpLocks/>
            <a:stCxn id="7" idx="2"/>
            <a:endCxn id="24" idx="0"/>
          </p:cNvCxnSpPr>
          <p:nvPr/>
        </p:nvCxnSpPr>
        <p:spPr>
          <a:xfrm>
            <a:off x="9952559" y="4034165"/>
            <a:ext cx="92663" cy="933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589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981528" y="773164"/>
            <a:ext cx="9398000" cy="5043489"/>
            <a:chOff x="2185988" y="585787"/>
            <a:chExt cx="9398000" cy="5043489"/>
          </a:xfrm>
        </p:grpSpPr>
        <p:pic>
          <p:nvPicPr>
            <p:cNvPr id="13314" name="Picture 2" descr="Image result for AHP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342"/>
            <a:stretch/>
          </p:blipFill>
          <p:spPr bwMode="auto">
            <a:xfrm>
              <a:off x="2185988" y="585787"/>
              <a:ext cx="9398000" cy="4414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ctangle 1"/>
            <p:cNvSpPr/>
            <p:nvPr/>
          </p:nvSpPr>
          <p:spPr>
            <a:xfrm>
              <a:off x="2185988" y="5000625"/>
              <a:ext cx="1500187" cy="5857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dirty="0"/>
                <a:t>PERMATA JINGGA</a:t>
              </a:r>
              <a:endParaRPr lang="en-US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243388" y="5043488"/>
              <a:ext cx="1500187" cy="5857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dirty="0"/>
                <a:t>SAWOJAJAR</a:t>
              </a:r>
              <a:endParaRPr lang="en-US" dirty="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6196012" y="5043488"/>
              <a:ext cx="1500187" cy="5857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dirty="0"/>
                <a:t>GPA</a:t>
              </a:r>
              <a:endParaRPr lang="en-US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053388" y="5043488"/>
              <a:ext cx="1500187" cy="5857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dirty="0"/>
                <a:t>SENGKALING INDAH</a:t>
              </a:r>
              <a:endParaRPr lang="en-US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9910764" y="5043488"/>
              <a:ext cx="1500187" cy="5857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dirty="0"/>
                <a:t>GADANG PERMAI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05628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38200" y="1719265"/>
            <a:ext cx="10325101" cy="3648075"/>
          </a:xfrm>
        </p:spPr>
        <p:txBody>
          <a:bodyPr/>
          <a:lstStyle/>
          <a:p>
            <a:pPr marL="114300" indent="0">
              <a:buFont typeface="Corbel" panose="020B0503020204020204" pitchFamily="34" charset="0"/>
              <a:buNone/>
            </a:pPr>
            <a:r>
              <a:rPr lang="id-ID" altLang="en-US" sz="3600" b="1" u="sng" dirty="0"/>
              <a:t>2. Pair </a:t>
            </a:r>
            <a:r>
              <a:rPr lang="id-ID" altLang="en-US" sz="3600" b="1" u="sng" dirty="0" err="1"/>
              <a:t>comparison</a:t>
            </a:r>
            <a:endParaRPr lang="id-ID" altLang="en-US" sz="3600" b="1" u="sng" dirty="0"/>
          </a:p>
          <a:p>
            <a:pPr marL="114300" indent="0" defTabSz="533400">
              <a:buFont typeface="Corbel" panose="020B0503020204020204" pitchFamily="34" charset="0"/>
              <a:buNone/>
            </a:pPr>
            <a:r>
              <a:rPr lang="id-ID" altLang="en-US" dirty="0"/>
              <a:t>	</a:t>
            </a:r>
            <a:r>
              <a:rPr lang="id-ID" altLang="en-US" dirty="0" err="1"/>
              <a:t>Comparisons</a:t>
            </a:r>
            <a:r>
              <a:rPr lang="id-ID" altLang="en-US" dirty="0"/>
              <a:t> are </a:t>
            </a:r>
            <a:r>
              <a:rPr lang="id-ID" altLang="en-US" dirty="0" err="1"/>
              <a:t>made</a:t>
            </a:r>
            <a:r>
              <a:rPr lang="id-ID" altLang="en-US" dirty="0"/>
              <a:t> in </a:t>
            </a:r>
            <a:r>
              <a:rPr lang="id-ID" altLang="en-US" dirty="0" err="1"/>
              <a:t>pairs</a:t>
            </a:r>
            <a:r>
              <a:rPr lang="id-ID" altLang="en-US" dirty="0"/>
              <a:t> </a:t>
            </a:r>
            <a:r>
              <a:rPr lang="id-ID" altLang="en-US" dirty="0" err="1"/>
              <a:t>between</a:t>
            </a:r>
            <a:r>
              <a:rPr lang="id-ID" altLang="en-US" dirty="0"/>
              <a:t> </a:t>
            </a:r>
            <a:r>
              <a:rPr lang="id-ID" altLang="en-US" dirty="0" err="1"/>
              <a:t>each</a:t>
            </a:r>
            <a:r>
              <a:rPr lang="id-ID" altLang="en-US" dirty="0"/>
              <a:t> </a:t>
            </a:r>
            <a:r>
              <a:rPr lang="id-ID" altLang="en-US" dirty="0" err="1"/>
              <a:t>criterion</a:t>
            </a:r>
            <a:r>
              <a:rPr lang="id-ID" altLang="en-US" dirty="0"/>
              <a:t> </a:t>
            </a:r>
            <a:r>
              <a:rPr lang="id-ID" altLang="en-US" dirty="0" err="1"/>
              <a:t>or</a:t>
            </a:r>
            <a:r>
              <a:rPr lang="id-ID" altLang="en-US" dirty="0"/>
              <a:t> </a:t>
            </a:r>
            <a:r>
              <a:rPr lang="id-ID" altLang="en-US" dirty="0" err="1"/>
              <a:t>each</a:t>
            </a:r>
            <a:r>
              <a:rPr lang="id-ID" altLang="en-US" dirty="0"/>
              <a:t> 	</a:t>
            </a:r>
            <a:r>
              <a:rPr lang="id-ID" altLang="en-US" dirty="0" err="1"/>
              <a:t>alternative</a:t>
            </a:r>
            <a:endParaRPr lang="id-ID" altLang="en-US" b="1" dirty="0"/>
          </a:p>
        </p:txBody>
      </p:sp>
      <p:sp>
        <p:nvSpPr>
          <p:cNvPr id="19462" name="Rectangle 5"/>
          <p:cNvSpPr>
            <a:spLocks noChangeArrowheads="1"/>
          </p:cNvSpPr>
          <p:nvPr/>
        </p:nvSpPr>
        <p:spPr bwMode="auto">
          <a:xfrm>
            <a:off x="1416544" y="6016614"/>
            <a:ext cx="151257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ID" altLang="en-US" sz="110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ID" altLang="en-US" sz="11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Saaty</a:t>
            </a:r>
            <a:r>
              <a:rPr lang="en-ID" altLang="en-US" sz="1100" dirty="0">
                <a:solidFill>
                  <a:srgbClr val="000000"/>
                </a:solidFill>
                <a:latin typeface="Times New Roman" panose="02020603050405020304" pitchFamily="18" charset="0"/>
              </a:rPr>
              <a:t>, 1986)</a:t>
            </a:r>
            <a:r>
              <a:rPr lang="en-ID" altLang="en-US" sz="1100" dirty="0"/>
              <a:t> </a:t>
            </a:r>
          </a:p>
        </p:txBody>
      </p:sp>
      <p:sp>
        <p:nvSpPr>
          <p:cNvPr id="11" name="Title 1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520003" cy="1325563"/>
          </a:xfrm>
          <a:solidFill>
            <a:srgbClr val="FFC000"/>
          </a:solidFill>
        </p:spPr>
        <p:txBody>
          <a:bodyPr/>
          <a:lstStyle/>
          <a:p>
            <a:r>
              <a:rPr lang="id-ID" altLang="en-US" dirty="0"/>
              <a:t>STAGES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6F0A735-2669-61F7-1FEA-B7332527F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996218"/>
              </p:ext>
            </p:extLst>
          </p:nvPr>
        </p:nvGraphicFramePr>
        <p:xfrm>
          <a:off x="1536096" y="3243904"/>
          <a:ext cx="6135479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58154">
                  <a:extLst>
                    <a:ext uri="{9D8B030D-6E8A-4147-A177-3AD203B41FA5}">
                      <a16:colId xmlns:a16="http://schemas.microsoft.com/office/drawing/2014/main" val="789209309"/>
                    </a:ext>
                  </a:extLst>
                </a:gridCol>
                <a:gridCol w="4377325">
                  <a:extLst>
                    <a:ext uri="{9D8B030D-6E8A-4147-A177-3AD203B41FA5}">
                      <a16:colId xmlns:a16="http://schemas.microsoft.com/office/drawing/2014/main" val="22870164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Intensity of Interest</a:t>
                      </a:r>
                      <a:endParaRPr lang="en-ID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Information</a:t>
                      </a:r>
                      <a:endParaRPr lang="en-ID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78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Both elements are equally important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629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One element is slightly more important than the other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374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One element is more important than the other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459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One element is clearly more absolutely important than the other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365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One element is absolutely more important than the other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954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2,4,6,8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Values between two adjacent considerations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795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5696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38200" y="1184223"/>
            <a:ext cx="10515600" cy="4002140"/>
          </a:xfrm>
        </p:spPr>
        <p:txBody>
          <a:bodyPr/>
          <a:lstStyle/>
          <a:p>
            <a:r>
              <a:rPr lang="id-ID" altLang="en-US" dirty="0"/>
              <a:t>The </a:t>
            </a:r>
            <a:r>
              <a:rPr lang="id-ID" altLang="en-US" dirty="0" err="1"/>
              <a:t>pairing</a:t>
            </a:r>
            <a:r>
              <a:rPr lang="id-ID" altLang="en-US" dirty="0"/>
              <a:t> </a:t>
            </a:r>
            <a:r>
              <a:rPr lang="id-ID" altLang="en-US" dirty="0" err="1"/>
              <a:t>comparison</a:t>
            </a:r>
            <a:r>
              <a:rPr lang="id-ID" altLang="en-US" dirty="0"/>
              <a:t> </a:t>
            </a:r>
            <a:r>
              <a:rPr lang="id-ID" altLang="en-US" dirty="0" err="1"/>
              <a:t>process</a:t>
            </a:r>
            <a:r>
              <a:rPr lang="id-ID" altLang="en-US" dirty="0"/>
              <a:t> </a:t>
            </a:r>
            <a:r>
              <a:rPr lang="id-ID" altLang="en-US" dirty="0" err="1"/>
              <a:t>starts</a:t>
            </a:r>
            <a:r>
              <a:rPr lang="id-ID" altLang="en-US" dirty="0"/>
              <a:t> </a:t>
            </a:r>
            <a:r>
              <a:rPr lang="id-ID" altLang="en-US" dirty="0" err="1"/>
              <a:t>from</a:t>
            </a:r>
            <a:r>
              <a:rPr lang="id-ID" altLang="en-US" dirty="0"/>
              <a:t> </a:t>
            </a:r>
            <a:r>
              <a:rPr lang="id-ID" altLang="en-US" dirty="0" err="1"/>
              <a:t>the</a:t>
            </a:r>
            <a:r>
              <a:rPr lang="id-ID" altLang="en-US" dirty="0"/>
              <a:t> top level </a:t>
            </a:r>
            <a:r>
              <a:rPr lang="id-ID" altLang="en-US" dirty="0" err="1"/>
              <a:t>of</a:t>
            </a:r>
            <a:r>
              <a:rPr lang="id-ID" altLang="en-US" dirty="0"/>
              <a:t> </a:t>
            </a:r>
            <a:r>
              <a:rPr lang="id-ID" altLang="en-US" dirty="0" err="1"/>
              <a:t>the</a:t>
            </a:r>
            <a:r>
              <a:rPr lang="id-ID" altLang="en-US" dirty="0"/>
              <a:t> </a:t>
            </a:r>
            <a:r>
              <a:rPr lang="id-ID" altLang="en-US" dirty="0" err="1"/>
              <a:t>hierarchy</a:t>
            </a:r>
            <a:r>
              <a:rPr lang="id-ID" altLang="en-US" dirty="0"/>
              <a:t> </a:t>
            </a:r>
            <a:r>
              <a:rPr lang="id-ID" altLang="en-US" dirty="0" err="1"/>
              <a:t>which</a:t>
            </a:r>
            <a:r>
              <a:rPr lang="id-ID" altLang="en-US" dirty="0"/>
              <a:t> </a:t>
            </a:r>
            <a:r>
              <a:rPr lang="id-ID" altLang="en-US" dirty="0" err="1"/>
              <a:t>is</a:t>
            </a:r>
            <a:r>
              <a:rPr lang="id-ID" altLang="en-US" dirty="0"/>
              <a:t> </a:t>
            </a:r>
            <a:r>
              <a:rPr lang="id-ID" altLang="en-US" dirty="0" err="1"/>
              <a:t>aimed</a:t>
            </a:r>
            <a:r>
              <a:rPr lang="id-ID" altLang="en-US" dirty="0"/>
              <a:t> </a:t>
            </a:r>
            <a:r>
              <a:rPr lang="id-ID" altLang="en-US" dirty="0" err="1"/>
              <a:t>at</a:t>
            </a:r>
            <a:r>
              <a:rPr lang="id-ID" altLang="en-US" dirty="0"/>
              <a:t> </a:t>
            </a:r>
            <a:r>
              <a:rPr lang="id-ID" altLang="en-US" dirty="0" err="1"/>
              <a:t>choosing</a:t>
            </a:r>
            <a:r>
              <a:rPr lang="id-ID" altLang="en-US" dirty="0"/>
              <a:t> </a:t>
            </a:r>
            <a:r>
              <a:rPr lang="id-ID" altLang="en-US" dirty="0" err="1"/>
              <a:t>criteria</a:t>
            </a:r>
            <a:r>
              <a:rPr lang="id-ID" altLang="en-US" dirty="0"/>
              <a:t>, </a:t>
            </a:r>
            <a:r>
              <a:rPr lang="id-ID" altLang="en-US" dirty="0" err="1"/>
              <a:t>for</a:t>
            </a:r>
            <a:r>
              <a:rPr lang="id-ID" altLang="en-US" dirty="0"/>
              <a:t> </a:t>
            </a:r>
            <a:r>
              <a:rPr lang="id-ID" altLang="en-US" dirty="0" err="1"/>
              <a:t>example</a:t>
            </a:r>
            <a:r>
              <a:rPr lang="id-ID" altLang="en-US" dirty="0"/>
              <a:t> A1 </a:t>
            </a:r>
            <a:r>
              <a:rPr lang="id-ID" altLang="en-US" dirty="0" err="1"/>
              <a:t>is</a:t>
            </a:r>
            <a:r>
              <a:rPr lang="id-ID" altLang="en-US" dirty="0"/>
              <a:t> </a:t>
            </a:r>
            <a:r>
              <a:rPr lang="id-ID" altLang="en-US" dirty="0" err="1"/>
              <a:t>then</a:t>
            </a:r>
            <a:r>
              <a:rPr lang="id-ID" altLang="en-US" dirty="0"/>
              <a:t> </a:t>
            </a:r>
            <a:r>
              <a:rPr lang="id-ID" altLang="en-US" dirty="0" err="1"/>
              <a:t>taken</a:t>
            </a:r>
            <a:r>
              <a:rPr lang="id-ID" altLang="en-US" dirty="0"/>
              <a:t> </a:t>
            </a:r>
            <a:r>
              <a:rPr lang="id-ID" altLang="en-US" dirty="0" err="1"/>
              <a:t>the</a:t>
            </a:r>
            <a:r>
              <a:rPr lang="id-ID" altLang="en-US" dirty="0"/>
              <a:t> </a:t>
            </a:r>
            <a:r>
              <a:rPr lang="id-ID" altLang="en-US" dirty="0" err="1"/>
              <a:t>elements</a:t>
            </a:r>
            <a:r>
              <a:rPr lang="id-ID" altLang="en-US" dirty="0"/>
              <a:t> </a:t>
            </a:r>
            <a:r>
              <a:rPr lang="id-ID" altLang="en-US" dirty="0" err="1"/>
              <a:t>to</a:t>
            </a:r>
            <a:r>
              <a:rPr lang="id-ID" altLang="en-US" dirty="0"/>
              <a:t> </a:t>
            </a:r>
            <a:r>
              <a:rPr lang="id-ID" altLang="en-US" dirty="0" err="1"/>
              <a:t>be</a:t>
            </a:r>
            <a:r>
              <a:rPr lang="id-ID" altLang="en-US" dirty="0"/>
              <a:t> </a:t>
            </a:r>
            <a:r>
              <a:rPr lang="id-ID" altLang="en-US" dirty="0" err="1"/>
              <a:t>compared</a:t>
            </a:r>
            <a:r>
              <a:rPr lang="id-ID" altLang="en-US" dirty="0"/>
              <a:t>, </a:t>
            </a:r>
            <a:r>
              <a:rPr lang="id-ID" altLang="en-US" dirty="0" err="1"/>
              <a:t>namely</a:t>
            </a:r>
            <a:r>
              <a:rPr lang="id-ID" altLang="en-US" dirty="0"/>
              <a:t>: A1, A2, </a:t>
            </a:r>
            <a:r>
              <a:rPr lang="id-ID" altLang="en-US" dirty="0" err="1"/>
              <a:t>and</a:t>
            </a:r>
            <a:r>
              <a:rPr lang="id-ID" altLang="en-US" dirty="0"/>
              <a:t> A3.</a:t>
            </a:r>
          </a:p>
        </p:txBody>
      </p:sp>
      <p:pic>
        <p:nvPicPr>
          <p:cNvPr id="2150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31" t="38188" r="40038" b="46063"/>
          <a:stretch>
            <a:fillRect/>
          </a:stretch>
        </p:blipFill>
        <p:spPr bwMode="auto">
          <a:xfrm>
            <a:off x="1226253" y="2777954"/>
            <a:ext cx="5187075" cy="218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7920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1254498"/>
              </p:ext>
            </p:extLst>
          </p:nvPr>
        </p:nvGraphicFramePr>
        <p:xfrm>
          <a:off x="1519238" y="1211263"/>
          <a:ext cx="9318625" cy="248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Document" r:id="rId3" imgW="5549900" imgH="1270000" progId="Word.Document.8">
                  <p:embed/>
                </p:oleObj>
              </mc:Choice>
              <mc:Fallback>
                <p:oleObj name="Document" r:id="rId3" imgW="5549900" imgH="1270000" progId="Word.Document.8">
                  <p:embed/>
                  <p:pic>
                    <p:nvPicPr>
                      <p:cNvPr id="2253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238" y="1211263"/>
                        <a:ext cx="9318625" cy="2481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1" name="Text Box 13"/>
          <p:cNvSpPr>
            <a:spLocks noGrp="1" noChangeArrowheads="1"/>
          </p:cNvSpPr>
          <p:nvPr>
            <p:ph type="title"/>
          </p:nvPr>
        </p:nvSpPr>
        <p:spPr>
          <a:xfrm>
            <a:off x="1533208" y="374224"/>
            <a:ext cx="5571141" cy="646331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 dirty="0">
                <a:latin typeface="Arial" panose="020B0604020202020204" pitchFamily="34" charset="0"/>
              </a:rPr>
              <a:t>PAIRWISE COMPARISON MATRIK </a:t>
            </a:r>
            <a:br>
              <a:rPr lang="en-US" altLang="en-US" sz="2000" b="1" dirty="0">
                <a:latin typeface="Arial" panose="020B0604020202020204" pitchFamily="34" charset="0"/>
              </a:rPr>
            </a:br>
            <a:r>
              <a:rPr lang="en-US" altLang="en-US" sz="2000" b="1" dirty="0">
                <a:latin typeface="Arial" panose="020B0604020202020204" pitchFamily="34" charset="0"/>
              </a:rPr>
              <a:t>(MATRIK PERBANDINGAN BERPASANGAN)</a:t>
            </a:r>
          </a:p>
        </p:txBody>
      </p:sp>
      <p:graphicFrame>
        <p:nvGraphicFramePr>
          <p:cNvPr id="4" name="Content Placeholder 7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766777242"/>
              </p:ext>
            </p:extLst>
          </p:nvPr>
        </p:nvGraphicFramePr>
        <p:xfrm>
          <a:off x="1490980" y="4139406"/>
          <a:ext cx="4038600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element</a:t>
                      </a:r>
                      <a:endParaRPr lang="id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X</a:t>
                      </a:r>
                      <a:endParaRPr lang="id-ID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  <a:endParaRPr lang="id-ID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id-ID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A</a:t>
                      </a:r>
                      <a:endParaRPr lang="id-ID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id-ID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id-ID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B</a:t>
                      </a:r>
                      <a:endParaRPr lang="id-ID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1/3</a:t>
                      </a:r>
                      <a:endParaRPr lang="id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5/3</a:t>
                      </a:r>
                      <a:r>
                        <a:rPr lang="en-US" baseline="0" dirty="0"/>
                        <a:t> 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C</a:t>
                      </a:r>
                      <a:endParaRPr lang="id-ID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1/5</a:t>
                      </a:r>
                      <a:endParaRPr lang="id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3/5</a:t>
                      </a:r>
                      <a:endParaRPr lang="id-ID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Down Arrow 1"/>
          <p:cNvSpPr/>
          <p:nvPr/>
        </p:nvSpPr>
        <p:spPr>
          <a:xfrm>
            <a:off x="3678698" y="3429000"/>
            <a:ext cx="640080" cy="7315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 flipH="1">
            <a:off x="2755900" y="3610094"/>
            <a:ext cx="150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i="1" dirty="0" err="1"/>
              <a:t>Example</a:t>
            </a:r>
            <a:endParaRPr lang="en-US" b="1" i="1" dirty="0"/>
          </a:p>
        </p:txBody>
      </p:sp>
      <p:graphicFrame>
        <p:nvGraphicFramePr>
          <p:cNvPr id="10" name="Table 2">
            <a:extLst>
              <a:ext uri="{FF2B5EF4-FFF2-40B4-BE49-F238E27FC236}">
                <a16:creationId xmlns:a16="http://schemas.microsoft.com/office/drawing/2014/main" id="{110720F5-8879-3647-9D4E-F9495A74E3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992133"/>
              </p:ext>
            </p:extLst>
          </p:nvPr>
        </p:nvGraphicFramePr>
        <p:xfrm>
          <a:off x="5816608" y="3575879"/>
          <a:ext cx="6135479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38434">
                  <a:extLst>
                    <a:ext uri="{9D8B030D-6E8A-4147-A177-3AD203B41FA5}">
                      <a16:colId xmlns:a16="http://schemas.microsoft.com/office/drawing/2014/main" val="789209309"/>
                    </a:ext>
                  </a:extLst>
                </a:gridCol>
                <a:gridCol w="4697045">
                  <a:extLst>
                    <a:ext uri="{9D8B030D-6E8A-4147-A177-3AD203B41FA5}">
                      <a16:colId xmlns:a16="http://schemas.microsoft.com/office/drawing/2014/main" val="22870164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Intensity of Interest</a:t>
                      </a:r>
                      <a:endParaRPr lang="en-ID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Information</a:t>
                      </a:r>
                      <a:endParaRPr lang="en-ID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78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Both elements are equally important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629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One element is slightly more important than the other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374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One element is more important than the other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459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One element is clearly more absolutely important than the other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365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One element is absolutely more important than the other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954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2,4,6,8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Values between two adjacent considerations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795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1795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2084705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id-ID" sz="3600" b="1" u="sng" dirty="0"/>
              <a:t>3. </a:t>
            </a:r>
            <a:r>
              <a:rPr lang="id-ID" sz="3600" b="1" u="sng" dirty="0" err="1"/>
              <a:t>Priority</a:t>
            </a:r>
            <a:r>
              <a:rPr lang="id-ID" sz="3600" b="1" u="sng" dirty="0"/>
              <a:t> </a:t>
            </a:r>
            <a:r>
              <a:rPr lang="id-ID" sz="3600" b="1" u="sng" dirty="0" err="1"/>
              <a:t>Weight</a:t>
            </a:r>
            <a:endParaRPr lang="id-ID" sz="3600" b="1" u="sng" dirty="0"/>
          </a:p>
          <a:p>
            <a:pPr marL="628650" indent="-514350">
              <a:buFont typeface="+mj-lt"/>
              <a:buAutoNum type="alphaLcParenR"/>
            </a:pPr>
            <a:r>
              <a:rPr lang="id-ID" dirty="0" err="1"/>
              <a:t>Divide</a:t>
            </a:r>
            <a:r>
              <a:rPr lang="id-ID" dirty="0"/>
              <a:t> </a:t>
            </a:r>
            <a:r>
              <a:rPr lang="id-ID" dirty="0" err="1"/>
              <a:t>each</a:t>
            </a:r>
            <a:r>
              <a:rPr lang="id-ID" dirty="0"/>
              <a:t> </a:t>
            </a:r>
            <a:r>
              <a:rPr lang="id-ID" dirty="0" err="1"/>
              <a:t>cell</a:t>
            </a:r>
            <a:r>
              <a:rPr lang="id-ID" dirty="0"/>
              <a:t> </a:t>
            </a:r>
            <a:r>
              <a:rPr lang="id-ID" dirty="0" err="1"/>
              <a:t>value</a:t>
            </a:r>
            <a:r>
              <a:rPr lang="id-ID" dirty="0"/>
              <a:t> </a:t>
            </a:r>
            <a:r>
              <a:rPr lang="id-ID" dirty="0" err="1"/>
              <a:t>by</a:t>
            </a:r>
            <a:r>
              <a:rPr lang="id-ID" dirty="0"/>
              <a:t> </a:t>
            </a:r>
            <a:r>
              <a:rPr lang="id-ID" dirty="0" err="1"/>
              <a:t>the</a:t>
            </a:r>
            <a:r>
              <a:rPr lang="id-ID" dirty="0"/>
              <a:t> </a:t>
            </a:r>
            <a:r>
              <a:rPr lang="id-ID" dirty="0" err="1"/>
              <a:t>number</a:t>
            </a:r>
            <a:r>
              <a:rPr lang="id-ID" dirty="0"/>
              <a:t> </a:t>
            </a:r>
            <a:r>
              <a:rPr lang="id-ID" dirty="0" err="1"/>
              <a:t>of</a:t>
            </a:r>
            <a:r>
              <a:rPr lang="id-ID" dirty="0"/>
              <a:t> </a:t>
            </a:r>
            <a:r>
              <a:rPr lang="id-ID" dirty="0" err="1"/>
              <a:t>each</a:t>
            </a:r>
            <a:r>
              <a:rPr lang="id-ID" dirty="0"/>
              <a:t> </a:t>
            </a:r>
            <a:r>
              <a:rPr lang="id-ID" dirty="0" err="1"/>
              <a:t>column</a:t>
            </a:r>
            <a:r>
              <a:rPr lang="id-ID" dirty="0"/>
              <a:t> </a:t>
            </a:r>
            <a:r>
              <a:rPr lang="id-ID" dirty="0" err="1"/>
              <a:t>that</a:t>
            </a:r>
            <a:r>
              <a:rPr lang="id-ID" dirty="0"/>
              <a:t> </a:t>
            </a:r>
            <a:r>
              <a:rPr lang="id-ID" dirty="0" err="1"/>
              <a:t>corresponds</a:t>
            </a:r>
            <a:r>
              <a:rPr lang="id-ID" dirty="0"/>
              <a:t>.</a:t>
            </a:r>
          </a:p>
          <a:p>
            <a:pPr marL="628650" indent="-514350">
              <a:buFont typeface="+mj-lt"/>
              <a:buAutoNum type="alphaLcParenR"/>
            </a:pPr>
            <a:r>
              <a:rPr lang="id-ID" dirty="0" err="1"/>
              <a:t>Add</a:t>
            </a:r>
            <a:r>
              <a:rPr lang="id-ID" dirty="0"/>
              <a:t> </a:t>
            </a:r>
            <a:r>
              <a:rPr lang="id-ID" dirty="0" err="1"/>
              <a:t>and</a:t>
            </a:r>
            <a:r>
              <a:rPr lang="id-ID" dirty="0"/>
              <a:t> </a:t>
            </a:r>
            <a:r>
              <a:rPr lang="id-ID" dirty="0" err="1"/>
              <a:t>flatten</a:t>
            </a:r>
            <a:r>
              <a:rPr lang="id-ID" dirty="0"/>
              <a:t> </a:t>
            </a:r>
            <a:r>
              <a:rPr lang="id-ID" dirty="0" err="1"/>
              <a:t>each</a:t>
            </a:r>
            <a:r>
              <a:rPr lang="id-ID" dirty="0"/>
              <a:t> </a:t>
            </a:r>
            <a:r>
              <a:rPr lang="id-ID" dirty="0" err="1"/>
              <a:t>row</a:t>
            </a:r>
            <a:r>
              <a:rPr lang="id-ID" dirty="0"/>
              <a:t>.</a:t>
            </a:r>
          </a:p>
          <a:p>
            <a:pPr marL="628650" indent="-514350">
              <a:buFont typeface="+mj-lt"/>
              <a:buAutoNum type="alphaLcParenR"/>
            </a:pPr>
            <a:r>
              <a:rPr lang="id-ID" dirty="0"/>
              <a:t>The </a:t>
            </a:r>
            <a:r>
              <a:rPr lang="id-ID" dirty="0" err="1"/>
              <a:t>average</a:t>
            </a:r>
            <a:r>
              <a:rPr lang="id-ID" dirty="0"/>
              <a:t> </a:t>
            </a:r>
            <a:r>
              <a:rPr lang="id-ID" dirty="0" err="1"/>
              <a:t>shows</a:t>
            </a:r>
            <a:r>
              <a:rPr lang="id-ID" dirty="0"/>
              <a:t> </a:t>
            </a:r>
            <a:r>
              <a:rPr lang="id-ID" dirty="0" err="1"/>
              <a:t>the</a:t>
            </a:r>
            <a:r>
              <a:rPr lang="id-ID" dirty="0"/>
              <a:t> </a:t>
            </a:r>
            <a:r>
              <a:rPr lang="id-ID" dirty="0" err="1"/>
              <a:t>Priority</a:t>
            </a:r>
            <a:r>
              <a:rPr lang="id-ID" dirty="0"/>
              <a:t> </a:t>
            </a:r>
            <a:r>
              <a:rPr lang="id-ID" dirty="0" err="1"/>
              <a:t>Weight</a:t>
            </a:r>
            <a:r>
              <a:rPr lang="id-ID" dirty="0"/>
              <a:t> (PW) </a:t>
            </a:r>
            <a:r>
              <a:rPr lang="id-ID" dirty="0" err="1"/>
              <a:t>value</a:t>
            </a:r>
            <a:r>
              <a:rPr lang="id-ID" dirty="0"/>
              <a:t> </a:t>
            </a:r>
            <a:r>
              <a:rPr lang="id-ID" dirty="0" err="1"/>
              <a:t>for</a:t>
            </a:r>
            <a:r>
              <a:rPr lang="id-ID" dirty="0"/>
              <a:t> </a:t>
            </a:r>
            <a:r>
              <a:rPr lang="id-ID" dirty="0" err="1"/>
              <a:t>each</a:t>
            </a:r>
            <a:r>
              <a:rPr lang="id-ID" dirty="0"/>
              <a:t> </a:t>
            </a:r>
            <a:r>
              <a:rPr lang="id-ID" dirty="0" err="1"/>
              <a:t>row</a:t>
            </a:r>
            <a:r>
              <a:rPr lang="id-ID" dirty="0"/>
              <a:t> in </a:t>
            </a:r>
            <a:r>
              <a:rPr lang="id-ID" dirty="0" err="1"/>
              <a:t>question</a:t>
            </a:r>
            <a:r>
              <a:rPr lang="id-ID" dirty="0"/>
              <a:t>.</a:t>
            </a:r>
          </a:p>
        </p:txBody>
      </p:sp>
      <p:sp>
        <p:nvSpPr>
          <p:cNvPr id="4" name="Title 1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520003" cy="1325563"/>
          </a:xfrm>
          <a:solidFill>
            <a:srgbClr val="FFC000"/>
          </a:solidFill>
        </p:spPr>
        <p:txBody>
          <a:bodyPr/>
          <a:lstStyle/>
          <a:p>
            <a:r>
              <a:rPr lang="id-ID" altLang="en-US" dirty="0"/>
              <a:t>STAGES</a:t>
            </a:r>
          </a:p>
        </p:txBody>
      </p:sp>
    </p:spTree>
    <p:extLst>
      <p:ext uri="{BB962C8B-B14F-4D97-AF65-F5344CB8AC3E}">
        <p14:creationId xmlns:p14="http://schemas.microsoft.com/office/powerpoint/2010/main" val="2067962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32500" lnSpcReduction="20000"/>
              </a:bodyPr>
              <a:lstStyle/>
              <a:p>
                <a:pPr marL="114300" indent="0">
                  <a:buNone/>
                </a:pPr>
                <a:r>
                  <a:rPr lang="id-ID" sz="5800" b="1" u="sng" dirty="0"/>
                  <a:t>4. </a:t>
                </a:r>
                <a:r>
                  <a:rPr lang="id-ID" sz="5800" b="1" u="sng" dirty="0" err="1"/>
                  <a:t>Count</a:t>
                </a:r>
                <a:r>
                  <a:rPr lang="id-ID" sz="5800" b="1" u="sng" dirty="0"/>
                  <a:t> Consistency Ratio</a:t>
                </a:r>
              </a:p>
              <a:p>
                <a:pPr marL="571500" indent="-457200">
                  <a:buFont typeface="+mj-lt"/>
                  <a:buAutoNum type="alphaLcParenR"/>
                </a:pPr>
                <a:r>
                  <a:rPr lang="sv-SE" sz="5500" dirty="0" err="1"/>
                  <a:t>Multiplying</a:t>
                </a:r>
                <a:r>
                  <a:rPr lang="sv-SE" sz="5500" dirty="0"/>
                  <a:t> the matrix by PW</a:t>
                </a:r>
              </a:p>
              <a:p>
                <a:pPr marL="571500" indent="-457200">
                  <a:buFont typeface="+mj-lt"/>
                  <a:buAutoNum type="alphaLcParenR"/>
                </a:pPr>
                <a:r>
                  <a:rPr lang="id-ID" sz="5500" dirty="0" err="1"/>
                  <a:t>Divide</a:t>
                </a:r>
                <a:r>
                  <a:rPr lang="id-ID" sz="5500" dirty="0"/>
                  <a:t> </a:t>
                </a:r>
                <a:r>
                  <a:rPr lang="id-ID" sz="5500" dirty="0" err="1"/>
                  <a:t>the</a:t>
                </a:r>
                <a:r>
                  <a:rPr lang="id-ID" sz="5500" dirty="0"/>
                  <a:t> </a:t>
                </a:r>
                <a:r>
                  <a:rPr lang="id-ID" sz="5500" dirty="0" err="1"/>
                  <a:t>result</a:t>
                </a:r>
                <a:r>
                  <a:rPr lang="id-ID" sz="5500" dirty="0"/>
                  <a:t> </a:t>
                </a:r>
                <a:r>
                  <a:rPr lang="id-ID" sz="5500" dirty="0" err="1"/>
                  <a:t>of</a:t>
                </a:r>
                <a:r>
                  <a:rPr lang="id-ID" sz="5500" dirty="0"/>
                  <a:t> </a:t>
                </a:r>
                <a:r>
                  <a:rPr lang="id-ID" sz="5500" dirty="0" err="1"/>
                  <a:t>the</a:t>
                </a:r>
                <a:r>
                  <a:rPr lang="id-ID" sz="5500" dirty="0"/>
                  <a:t> </a:t>
                </a:r>
                <a:r>
                  <a:rPr lang="id-ID" sz="5500" dirty="0" err="1"/>
                  <a:t>above</a:t>
                </a:r>
                <a:r>
                  <a:rPr lang="id-ID" sz="5500" dirty="0"/>
                  <a:t> </a:t>
                </a:r>
                <a:r>
                  <a:rPr lang="id-ID" sz="5500" dirty="0" err="1"/>
                  <a:t>calculation</a:t>
                </a:r>
                <a:r>
                  <a:rPr lang="id-ID" sz="5500" dirty="0"/>
                  <a:t> </a:t>
                </a:r>
                <a:r>
                  <a:rPr lang="id-ID" sz="5500" dirty="0" err="1"/>
                  <a:t>by</a:t>
                </a:r>
                <a:r>
                  <a:rPr lang="id-ID" sz="5500" dirty="0"/>
                  <a:t> PW</a:t>
                </a:r>
              </a:p>
              <a:p>
                <a:pPr marL="571500" indent="-457200">
                  <a:buFont typeface="+mj-lt"/>
                  <a:buAutoNum type="alphaLcParenR"/>
                </a:pPr>
                <a:r>
                  <a:rPr lang="id-ID" sz="5500" dirty="0" err="1"/>
                  <a:t>Count</a:t>
                </a:r>
                <a:r>
                  <a:rPr lang="id-ID" sz="5500" dirty="0"/>
                  <a:t> </a:t>
                </a:r>
                <a:r>
                  <a:rPr lang="el-GR" sz="5500" dirty="0"/>
                  <a:t>λ</a:t>
                </a:r>
                <a:r>
                  <a:rPr lang="id-ID" sz="5500" dirty="0"/>
                  <a:t>maks </a:t>
                </a:r>
              </a:p>
              <a:p>
                <a:pPr marL="114300" indent="0">
                  <a:buNone/>
                </a:pPr>
                <a:r>
                  <a:rPr lang="id-ID" sz="5500" dirty="0"/>
                  <a:t>		</a:t>
                </a:r>
                <a:r>
                  <a:rPr lang="el-GR" sz="55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550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sz="5500" i="1">
                            <a:latin typeface="Cambria Math" panose="02040503050406030204" pitchFamily="18" charset="0"/>
                          </a:rPr>
                          <m:t>𝑚𝑎𝑘𝑠</m:t>
                        </m:r>
                      </m:sub>
                    </m:sSub>
                    <m:r>
                      <a:rPr lang="en-US" sz="55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55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sz="55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5500" i="1">
                                <a:latin typeface="Cambria Math" panose="02040503050406030204" pitchFamily="18" charset="0"/>
                              </a:rPr>
                              <m:t>h𝑎𝑠𝑖𝑙</m:t>
                            </m:r>
                            <m:r>
                              <a:rPr lang="en-US" sz="55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5500" i="1">
                                <a:latin typeface="Cambria Math" panose="02040503050406030204" pitchFamily="18" charset="0"/>
                              </a:rPr>
                              <m:t>𝑝𝑒𝑟h𝑖𝑡𝑢𝑛𝑔𝑎𝑛</m:t>
                            </m:r>
                            <m:r>
                              <a:rPr lang="en-US" sz="55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5500" i="1">
                                <a:latin typeface="Cambria Math" panose="02040503050406030204" pitchFamily="18" charset="0"/>
                              </a:rPr>
                              <m:t>𝑝𝑜𝑖𝑛𝑡</m:t>
                            </m:r>
                            <m:r>
                              <a:rPr lang="en-US" sz="55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55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nary>
                      </m:num>
                      <m:den>
                        <m:r>
                          <a:rPr lang="en-US" sz="5500" i="1">
                            <a:latin typeface="Cambria Math" panose="02040503050406030204" pitchFamily="18" charset="0"/>
                          </a:rPr>
                          <m:t>𝑗𝑢𝑚𝑙𝑎h</m:t>
                        </m:r>
                        <m:r>
                          <a:rPr lang="en-US" sz="55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5500" i="1">
                            <a:latin typeface="Cambria Math" panose="02040503050406030204" pitchFamily="18" charset="0"/>
                          </a:rPr>
                          <m:t>𝑒𝑙𝑒𝑚𝑒𝑛</m:t>
                        </m:r>
                        <m:r>
                          <a:rPr lang="en-US" sz="55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5500" i="1">
                            <a:latin typeface="Cambria Math" panose="02040503050406030204" pitchFamily="18" charset="0"/>
                          </a:rPr>
                          <m:t>𝑘𝑟𝑖𝑡𝑒𝑟𝑖𝑎</m:t>
                        </m:r>
                      </m:den>
                    </m:f>
                  </m:oMath>
                </a14:m>
                <a:endParaRPr lang="id-ID" sz="5500" dirty="0"/>
              </a:p>
              <a:p>
                <a:pPr marL="114300" indent="0">
                  <a:buNone/>
                </a:pPr>
                <a:r>
                  <a:rPr lang="id-ID" sz="5500" dirty="0"/>
                  <a:t>d) </a:t>
                </a:r>
                <a:r>
                  <a:rPr lang="id-ID" sz="5500" dirty="0" err="1"/>
                  <a:t>Count</a:t>
                </a:r>
                <a:r>
                  <a:rPr lang="id-ID" sz="5500" dirty="0"/>
                  <a:t> </a:t>
                </a:r>
                <a:r>
                  <a:rPr lang="id-ID" sz="5500" i="1" dirty="0" err="1"/>
                  <a:t>Consistency</a:t>
                </a:r>
                <a:r>
                  <a:rPr lang="id-ID" sz="5500" i="1" dirty="0"/>
                  <a:t> Index</a:t>
                </a:r>
                <a:endParaRPr lang="id-ID" sz="5500" dirty="0"/>
              </a:p>
              <a:p>
                <a:pPr marL="114300" indent="0">
                  <a:buNone/>
                </a:pPr>
                <a:r>
                  <a:rPr lang="id-ID" sz="5500" dirty="0"/>
                  <a:t>		 </a:t>
                </a:r>
                <a14:m>
                  <m:oMath xmlns:m="http://schemas.openxmlformats.org/officeDocument/2006/math">
                    <m:r>
                      <a:rPr lang="id-ID" sz="5500" i="1">
                        <a:latin typeface="Cambria Math" panose="02040503050406030204" pitchFamily="18" charset="0"/>
                      </a:rPr>
                      <m:t>𝐶𝐼</m:t>
                    </m:r>
                    <m:r>
                      <a:rPr lang="id-ID" sz="55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55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5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55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5500"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en-US" sz="5500" i="1">
                                    <a:latin typeface="Cambria Math" panose="02040503050406030204" pitchFamily="18" charset="0"/>
                                  </a:rPr>
                                  <m:t>𝑚𝑎𝑘𝑠</m:t>
                                </m:r>
                              </m:sub>
                            </m:sSub>
                            <m:r>
                              <a:rPr lang="en-US" sz="55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55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id-ID" sz="55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d-ID" sz="55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id-ID" sz="5500" i="1">
                            <a:latin typeface="Cambria Math" panose="02040503050406030204" pitchFamily="18" charset="0"/>
                          </a:rPr>
                          <m:t>−1)</m:t>
                        </m:r>
                      </m:den>
                    </m:f>
                    <m:r>
                      <a:rPr lang="id-ID" sz="5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id-ID" sz="5500" dirty="0"/>
              </a:p>
              <a:p>
                <a:pPr marL="114300" indent="0">
                  <a:buNone/>
                </a:pPr>
                <a:r>
                  <a:rPr lang="id-ID" sz="5500" dirty="0"/>
                  <a:t>	</a:t>
                </a:r>
                <a:r>
                  <a:rPr lang="id-ID" sz="5500" dirty="0" err="1"/>
                  <a:t>where</a:t>
                </a:r>
                <a:r>
                  <a:rPr lang="id-ID" sz="5500" dirty="0"/>
                  <a:t> </a:t>
                </a:r>
                <a:r>
                  <a:rPr lang="id-ID" sz="5500" dirty="0" err="1"/>
                  <a:t>n</a:t>
                </a:r>
                <a:r>
                  <a:rPr lang="id-ID" sz="5500" dirty="0"/>
                  <a:t> = </a:t>
                </a:r>
                <a:r>
                  <a:rPr lang="id-ID" sz="5500" dirty="0" err="1"/>
                  <a:t>Number</a:t>
                </a:r>
                <a:r>
                  <a:rPr lang="id-ID" sz="5500" dirty="0"/>
                  <a:t> </a:t>
                </a:r>
                <a:r>
                  <a:rPr lang="id-ID" sz="5500" dirty="0" err="1"/>
                  <a:t>of</a:t>
                </a:r>
                <a:r>
                  <a:rPr lang="id-ID" sz="5500" dirty="0"/>
                  <a:t> </a:t>
                </a:r>
                <a:r>
                  <a:rPr lang="id-ID" sz="5500" dirty="0" err="1"/>
                  <a:t>Criteria</a:t>
                </a:r>
                <a:r>
                  <a:rPr lang="id-ID" sz="5500" dirty="0"/>
                  <a:t> </a:t>
                </a:r>
                <a:r>
                  <a:rPr lang="id-ID" sz="5500" dirty="0" err="1"/>
                  <a:t>Elements</a:t>
                </a:r>
                <a:endParaRPr lang="id-ID" sz="5500" dirty="0"/>
              </a:p>
              <a:p>
                <a:pPr marL="114300" indent="0">
                  <a:buNone/>
                </a:pPr>
                <a:r>
                  <a:rPr lang="id-ID" sz="5500" dirty="0"/>
                  <a:t>e)  </a:t>
                </a:r>
                <a:r>
                  <a:rPr lang="en-US" sz="5500" dirty="0"/>
                  <a:t>CR (Consistency Ratio)</a:t>
                </a:r>
                <a:r>
                  <a:rPr lang="id-ID" sz="5500" dirty="0"/>
                  <a:t>=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55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5500" i="1">
                            <a:latin typeface="Cambria Math" panose="02040503050406030204" pitchFamily="18" charset="0"/>
                          </a:rPr>
                          <m:t>𝐶𝐼</m:t>
                        </m:r>
                      </m:num>
                      <m:den>
                        <m:r>
                          <a:rPr lang="en-US" sz="55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55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den>
                    </m:f>
                  </m:oMath>
                </a14:m>
                <a:r>
                  <a:rPr lang="id-ID" sz="5500" dirty="0"/>
                  <a:t>, </a:t>
                </a:r>
                <a:r>
                  <a:rPr lang="en-US" sz="5500" dirty="0"/>
                  <a:t>where RI is a random consistency index</a:t>
                </a:r>
                <a:endParaRPr lang="id-ID" sz="5500" dirty="0"/>
              </a:p>
              <a:p>
                <a:pPr marL="114300" indent="0">
                  <a:buNone/>
                </a:pPr>
                <a:endParaRPr lang="id-ID" dirty="0"/>
              </a:p>
              <a:p>
                <a:pPr marL="114300" indent="0">
                  <a:buNone/>
                </a:pPr>
                <a:endParaRPr lang="id-ID" dirty="0"/>
              </a:p>
              <a:p>
                <a:pPr marL="114300" indent="0">
                  <a:buNone/>
                </a:pPr>
                <a:endParaRPr lang="id-ID" sz="6000" b="1" dirty="0"/>
              </a:p>
              <a:p>
                <a:pPr marL="114300" indent="0">
                  <a:buNone/>
                </a:pPr>
                <a:r>
                  <a:rPr lang="id-ID" sz="6000" b="1" dirty="0"/>
                  <a:t>If </a:t>
                </a:r>
                <a:r>
                  <a:rPr lang="id-ID" sz="6000" b="1" dirty="0" err="1"/>
                  <a:t>the</a:t>
                </a:r>
                <a:r>
                  <a:rPr lang="id-ID" sz="6000" b="1" dirty="0"/>
                  <a:t> </a:t>
                </a:r>
                <a:r>
                  <a:rPr lang="id-ID" sz="6000" b="1" dirty="0" err="1"/>
                  <a:t>consistency</a:t>
                </a:r>
                <a:r>
                  <a:rPr lang="id-ID" sz="6000" b="1" dirty="0"/>
                  <a:t> </a:t>
                </a:r>
                <a:r>
                  <a:rPr lang="id-ID" sz="6000" b="1" dirty="0" err="1"/>
                  <a:t>ratio</a:t>
                </a:r>
                <a:r>
                  <a:rPr lang="id-ID" sz="6000" b="1" dirty="0"/>
                  <a:t> ≤ 0.1, </a:t>
                </a:r>
                <a:r>
                  <a:rPr lang="id-ID" sz="6000" b="1" dirty="0" err="1"/>
                  <a:t>the</a:t>
                </a:r>
                <a:r>
                  <a:rPr lang="id-ID" sz="6000" b="1" dirty="0"/>
                  <a:t> </a:t>
                </a:r>
                <a:r>
                  <a:rPr lang="id-ID" sz="6000" b="1" dirty="0" err="1"/>
                  <a:t>result</a:t>
                </a:r>
                <a:r>
                  <a:rPr lang="id-ID" sz="6000" b="1" dirty="0"/>
                  <a:t> </a:t>
                </a:r>
                <a:r>
                  <a:rPr lang="id-ID" sz="6000" b="1" dirty="0" err="1"/>
                  <a:t>of</a:t>
                </a:r>
                <a:r>
                  <a:rPr lang="id-ID" sz="6000" b="1" dirty="0"/>
                  <a:t> </a:t>
                </a:r>
                <a:r>
                  <a:rPr lang="id-ID" sz="6000" b="1" dirty="0" err="1"/>
                  <a:t>the</a:t>
                </a:r>
                <a:r>
                  <a:rPr lang="id-ID" sz="6000" b="1" dirty="0"/>
                  <a:t> data </a:t>
                </a:r>
                <a:r>
                  <a:rPr lang="id-ID" sz="6000" b="1" dirty="0" err="1"/>
                  <a:t>calculation</a:t>
                </a:r>
                <a:r>
                  <a:rPr lang="id-ID" sz="6000" b="1" dirty="0"/>
                  <a:t> </a:t>
                </a:r>
                <a:r>
                  <a:rPr lang="id-ID" sz="6000" b="1" dirty="0" err="1"/>
                  <a:t>can</a:t>
                </a:r>
                <a:r>
                  <a:rPr lang="id-ID" sz="6000" b="1" dirty="0"/>
                  <a:t> </a:t>
                </a:r>
                <a:r>
                  <a:rPr lang="id-ID" sz="6000" b="1" dirty="0" err="1"/>
                  <a:t>be</a:t>
                </a:r>
                <a:r>
                  <a:rPr lang="id-ID" sz="6000" b="1" dirty="0"/>
                  <a:t> </a:t>
                </a:r>
                <a:r>
                  <a:rPr lang="id-ID" sz="6000" b="1" dirty="0" err="1"/>
                  <a:t>justified</a:t>
                </a:r>
                <a:endParaRPr lang="id-ID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/>
          <p:cNvSpPr txBox="1">
            <a:spLocks noChangeArrowheads="1"/>
          </p:cNvSpPr>
          <p:nvPr/>
        </p:nvSpPr>
        <p:spPr>
          <a:xfrm>
            <a:off x="838200" y="365125"/>
            <a:ext cx="9520003" cy="1325563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altLang="en-US" dirty="0"/>
              <a:t>STAGES</a:t>
            </a:r>
          </a:p>
        </p:txBody>
      </p:sp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266CA43B-DFE3-B0CC-847E-2B924753EF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5974670"/>
              </p:ext>
            </p:extLst>
          </p:nvPr>
        </p:nvGraphicFramePr>
        <p:xfrm>
          <a:off x="1304144" y="4924602"/>
          <a:ext cx="673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36293205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/>
                        <a:t>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/>
                        <a:t>0,00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0,58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0,90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7789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457200">
              <a:buFont typeface="+mj-lt"/>
              <a:buAutoNum type="arabicPeriod" startAt="5"/>
            </a:pPr>
            <a:r>
              <a:rPr lang="id-ID" b="1" u="sng" dirty="0" err="1"/>
              <a:t>Calculate</a:t>
            </a:r>
            <a:r>
              <a:rPr lang="id-ID" b="1" u="sng" dirty="0"/>
              <a:t> </a:t>
            </a:r>
            <a:r>
              <a:rPr lang="id-ID" b="1" u="sng" dirty="0" err="1"/>
              <a:t>the</a:t>
            </a:r>
            <a:r>
              <a:rPr lang="id-ID" b="1" u="sng" dirty="0"/>
              <a:t> </a:t>
            </a:r>
            <a:r>
              <a:rPr lang="id-ID" b="1" u="sng" dirty="0" err="1"/>
              <a:t>Paired</a:t>
            </a:r>
            <a:r>
              <a:rPr lang="id-ID" b="1" u="sng" dirty="0"/>
              <a:t> </a:t>
            </a:r>
            <a:r>
              <a:rPr lang="id-ID" b="1" u="sng" dirty="0" err="1"/>
              <a:t>comparison</a:t>
            </a:r>
            <a:r>
              <a:rPr lang="id-ID" b="1" u="sng" dirty="0"/>
              <a:t> </a:t>
            </a:r>
            <a:r>
              <a:rPr lang="id-ID" b="1" u="sng" dirty="0" err="1"/>
              <a:t>for</a:t>
            </a:r>
            <a:r>
              <a:rPr lang="id-ID" b="1" u="sng" dirty="0"/>
              <a:t> </a:t>
            </a:r>
            <a:r>
              <a:rPr lang="id-ID" b="1" u="sng" dirty="0" err="1"/>
              <a:t>each</a:t>
            </a:r>
            <a:r>
              <a:rPr lang="id-ID" b="1" u="sng" dirty="0"/>
              <a:t> </a:t>
            </a:r>
            <a:r>
              <a:rPr lang="id-ID" b="1" u="sng" dirty="0" err="1"/>
              <a:t>alternative</a:t>
            </a:r>
            <a:r>
              <a:rPr lang="id-ID" b="1" u="sng" dirty="0"/>
              <a:t> </a:t>
            </a:r>
            <a:r>
              <a:rPr lang="id-ID" b="1" u="sng" dirty="0" err="1"/>
              <a:t>on</a:t>
            </a:r>
            <a:r>
              <a:rPr lang="id-ID" b="1" u="sng" dirty="0"/>
              <a:t> </a:t>
            </a:r>
            <a:r>
              <a:rPr lang="id-ID" b="1" u="sng" dirty="0" err="1"/>
              <a:t>each</a:t>
            </a:r>
            <a:r>
              <a:rPr lang="id-ID" b="1" u="sng" dirty="0"/>
              <a:t> </a:t>
            </a:r>
            <a:r>
              <a:rPr lang="id-ID" b="1" u="sng" dirty="0" err="1"/>
              <a:t>criterion</a:t>
            </a:r>
            <a:r>
              <a:rPr lang="id-ID" b="1" u="sng" dirty="0"/>
              <a:t> </a:t>
            </a:r>
            <a:r>
              <a:rPr lang="id-ID" u="sng" dirty="0"/>
              <a:t>in </a:t>
            </a:r>
            <a:r>
              <a:rPr lang="id-ID" u="sng" dirty="0" err="1"/>
              <a:t>the</a:t>
            </a:r>
            <a:r>
              <a:rPr lang="id-ID" u="sng" dirty="0"/>
              <a:t> </a:t>
            </a:r>
            <a:r>
              <a:rPr lang="id-ID" u="sng" dirty="0" err="1"/>
              <a:t>same</a:t>
            </a:r>
            <a:r>
              <a:rPr lang="id-ID" u="sng" dirty="0"/>
              <a:t> </a:t>
            </a:r>
            <a:r>
              <a:rPr lang="id-ID" u="sng" dirty="0" err="1"/>
              <a:t>way</a:t>
            </a:r>
            <a:r>
              <a:rPr lang="id-ID" u="sng" dirty="0"/>
              <a:t> (</a:t>
            </a:r>
            <a:r>
              <a:rPr lang="id-ID" u="sng" dirty="0" err="1"/>
              <a:t>steps</a:t>
            </a:r>
            <a:r>
              <a:rPr lang="id-ID" u="sng" dirty="0"/>
              <a:t> 1-4)</a:t>
            </a:r>
          </a:p>
          <a:p>
            <a:pPr marL="571500" indent="-457200">
              <a:buFont typeface="+mj-lt"/>
              <a:buAutoNum type="arabicPeriod" startAt="5"/>
            </a:pPr>
            <a:r>
              <a:rPr lang="id-ID" b="1" u="sng" dirty="0" err="1"/>
              <a:t>Decision</a:t>
            </a:r>
            <a:r>
              <a:rPr lang="id-ID" b="1" u="sng" dirty="0"/>
              <a:t> making</a:t>
            </a:r>
          </a:p>
          <a:p>
            <a:pPr marL="533400" indent="0">
              <a:buNone/>
            </a:pPr>
            <a:r>
              <a:rPr lang="id-ID" dirty="0" err="1"/>
              <a:t>Decision</a:t>
            </a:r>
            <a:r>
              <a:rPr lang="id-ID" dirty="0"/>
              <a:t>-making </a:t>
            </a:r>
            <a:r>
              <a:rPr lang="id-ID" dirty="0" err="1"/>
              <a:t>is</a:t>
            </a:r>
            <a:r>
              <a:rPr lang="id-ID" dirty="0"/>
              <a:t> </a:t>
            </a:r>
            <a:r>
              <a:rPr lang="id-ID" dirty="0" err="1"/>
              <a:t>based</a:t>
            </a:r>
            <a:r>
              <a:rPr lang="id-ID" dirty="0"/>
              <a:t> </a:t>
            </a:r>
            <a:r>
              <a:rPr lang="id-ID" dirty="0" err="1"/>
              <a:t>on</a:t>
            </a:r>
            <a:r>
              <a:rPr lang="id-ID" dirty="0"/>
              <a:t> </a:t>
            </a:r>
            <a:r>
              <a:rPr lang="id-ID" dirty="0" err="1"/>
              <a:t>a</a:t>
            </a:r>
            <a:r>
              <a:rPr lang="id-ID" dirty="0"/>
              <a:t> </a:t>
            </a:r>
            <a:r>
              <a:rPr lang="id-ID" dirty="0" err="1"/>
              <a:t>comparison</a:t>
            </a:r>
            <a:r>
              <a:rPr lang="id-ID" dirty="0"/>
              <a:t> </a:t>
            </a:r>
            <a:r>
              <a:rPr lang="id-ID" dirty="0" err="1"/>
              <a:t>of</a:t>
            </a:r>
            <a:r>
              <a:rPr lang="id-ID" dirty="0"/>
              <a:t> </a:t>
            </a:r>
            <a:r>
              <a:rPr lang="id-ID" dirty="0" err="1"/>
              <a:t>the</a:t>
            </a:r>
            <a:r>
              <a:rPr lang="id-ID" dirty="0"/>
              <a:t> </a:t>
            </a:r>
            <a:r>
              <a:rPr lang="id-ID" dirty="0" err="1"/>
              <a:t>calculation</a:t>
            </a:r>
            <a:r>
              <a:rPr lang="id-ID" dirty="0"/>
              <a:t> </a:t>
            </a:r>
            <a:r>
              <a:rPr lang="id-ID" dirty="0" err="1"/>
              <a:t>of</a:t>
            </a:r>
            <a:r>
              <a:rPr lang="id-ID" dirty="0"/>
              <a:t> </a:t>
            </a:r>
            <a:r>
              <a:rPr lang="id-ID" dirty="0" err="1"/>
              <a:t>the</a:t>
            </a:r>
            <a:r>
              <a:rPr lang="id-ID" dirty="0"/>
              <a:t> </a:t>
            </a:r>
            <a:r>
              <a:rPr lang="id-ID" dirty="0" err="1"/>
              <a:t>multiplication</a:t>
            </a:r>
            <a:r>
              <a:rPr lang="id-ID" dirty="0"/>
              <a:t> </a:t>
            </a:r>
            <a:r>
              <a:rPr lang="id-ID" dirty="0" err="1"/>
              <a:t>of</a:t>
            </a:r>
            <a:r>
              <a:rPr lang="id-ID" dirty="0"/>
              <a:t> </a:t>
            </a:r>
            <a:r>
              <a:rPr lang="id-ID" dirty="0" err="1"/>
              <a:t>the</a:t>
            </a:r>
            <a:r>
              <a:rPr lang="id-ID" dirty="0"/>
              <a:t> PW </a:t>
            </a:r>
            <a:r>
              <a:rPr lang="id-ID" dirty="0" err="1"/>
              <a:t>criteria</a:t>
            </a:r>
            <a:r>
              <a:rPr lang="id-ID" dirty="0"/>
              <a:t> </a:t>
            </a:r>
            <a:r>
              <a:rPr lang="id-ID" dirty="0" err="1"/>
              <a:t>with</a:t>
            </a:r>
            <a:r>
              <a:rPr lang="id-ID" dirty="0"/>
              <a:t> </a:t>
            </a:r>
            <a:r>
              <a:rPr lang="id-ID" dirty="0" err="1"/>
              <a:t>the</a:t>
            </a:r>
            <a:r>
              <a:rPr lang="id-ID" dirty="0"/>
              <a:t> </a:t>
            </a:r>
            <a:r>
              <a:rPr lang="id-ID" dirty="0" err="1"/>
              <a:t>preferred</a:t>
            </a:r>
            <a:r>
              <a:rPr lang="id-ID" dirty="0"/>
              <a:t> </a:t>
            </a:r>
            <a:r>
              <a:rPr lang="id-ID" dirty="0" err="1"/>
              <a:t>alternative</a:t>
            </a:r>
            <a:r>
              <a:rPr lang="id-ID" dirty="0"/>
              <a:t> PW.</a:t>
            </a:r>
          </a:p>
        </p:txBody>
      </p:sp>
      <p:sp>
        <p:nvSpPr>
          <p:cNvPr id="4" name="Title 1"/>
          <p:cNvSpPr txBox="1">
            <a:spLocks noChangeArrowheads="1"/>
          </p:cNvSpPr>
          <p:nvPr/>
        </p:nvSpPr>
        <p:spPr>
          <a:xfrm>
            <a:off x="838200" y="365125"/>
            <a:ext cx="9520003" cy="1325563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altLang="en-US" dirty="0"/>
              <a:t>STAGES</a:t>
            </a:r>
          </a:p>
        </p:txBody>
      </p:sp>
    </p:spTree>
    <p:extLst>
      <p:ext uri="{BB962C8B-B14F-4D97-AF65-F5344CB8AC3E}">
        <p14:creationId xmlns:p14="http://schemas.microsoft.com/office/powerpoint/2010/main" val="1890554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# Example of AHP Case Study</a:t>
            </a:r>
          </a:p>
        </p:txBody>
      </p:sp>
      <p:sp>
        <p:nvSpPr>
          <p:cNvPr id="3072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200000"/>
              </a:lnSpc>
              <a:buFont typeface="Corbel" panose="020B0503020204020204" pitchFamily="34" charset="0"/>
              <a:buNone/>
            </a:pPr>
            <a:r>
              <a:rPr lang="en-US" altLang="en-US" sz="2400" dirty="0"/>
              <a:t>The case that will be worked on is the selection of distributors. The alternatives to be chosen are </a:t>
            </a:r>
            <a:r>
              <a:rPr lang="en-US" altLang="en-US" sz="2400" b="1" dirty="0"/>
              <a:t>3 distributors </a:t>
            </a:r>
            <a:r>
              <a:rPr lang="en-US" altLang="en-US" sz="2400" dirty="0"/>
              <a:t>(Makmur Jaya, </a:t>
            </a:r>
            <a:r>
              <a:rPr lang="en-US" altLang="en-US" sz="2400" dirty="0" err="1"/>
              <a:t>Anugerah</a:t>
            </a:r>
            <a:r>
              <a:rPr lang="en-US" altLang="en-US" sz="2400" dirty="0"/>
              <a:t>, and Permata) with 3 criteria used as assessment parameters, namely </a:t>
            </a:r>
            <a:r>
              <a:rPr lang="en-US" altLang="en-US" sz="2400" b="1" dirty="0"/>
              <a:t>network breadth, credibility, and payment system.</a:t>
            </a:r>
            <a:endParaRPr lang="id-ID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65865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d-ID" altLang="en-US" dirty="0" err="1"/>
              <a:t>Settlement</a:t>
            </a:r>
            <a:endParaRPr lang="id-ID" altLang="en-US" dirty="0"/>
          </a:p>
        </p:txBody>
      </p:sp>
      <p:sp>
        <p:nvSpPr>
          <p:cNvPr id="3174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38200" y="1535113"/>
            <a:ext cx="9340850" cy="4373562"/>
          </a:xfrm>
        </p:spPr>
        <p:txBody>
          <a:bodyPr/>
          <a:lstStyle/>
          <a:p>
            <a:pPr marL="114300" indent="0">
              <a:buFont typeface="Corbel" panose="020B0503020204020204" pitchFamily="34" charset="0"/>
              <a:buNone/>
            </a:pPr>
            <a:r>
              <a:rPr lang="id-ID" altLang="en-US" b="1" u="sng" dirty="0"/>
              <a:t>1. </a:t>
            </a:r>
            <a:r>
              <a:rPr lang="id-ID" altLang="en-US" b="1" u="sng" dirty="0" err="1"/>
              <a:t>Arrange</a:t>
            </a:r>
            <a:r>
              <a:rPr lang="id-ID" altLang="en-US" b="1" u="sng" dirty="0"/>
              <a:t> </a:t>
            </a:r>
            <a:r>
              <a:rPr lang="id-ID" altLang="en-US" b="1" u="sng" dirty="0" err="1"/>
              <a:t>a</a:t>
            </a:r>
            <a:r>
              <a:rPr lang="id-ID" altLang="en-US" b="1" u="sng" dirty="0"/>
              <a:t> </a:t>
            </a:r>
            <a:r>
              <a:rPr lang="id-ID" altLang="en-US" b="1" u="sng" dirty="0" err="1"/>
              <a:t>hierarchy</a:t>
            </a:r>
            <a:r>
              <a:rPr lang="id-ID" altLang="en-US" b="1" u="sng" dirty="0"/>
              <a:t> </a:t>
            </a:r>
            <a:r>
              <a:rPr lang="id-ID" altLang="en-US" b="1" u="sng" dirty="0" err="1"/>
              <a:t>of</a:t>
            </a:r>
            <a:r>
              <a:rPr lang="id-ID" altLang="en-US" b="1" u="sng" dirty="0"/>
              <a:t> </a:t>
            </a:r>
            <a:r>
              <a:rPr lang="id-ID" altLang="en-US" b="1" u="sng" dirty="0" err="1"/>
              <a:t>problems</a:t>
            </a:r>
            <a:r>
              <a:rPr lang="id-ID" altLang="en-US" b="1" u="sng" dirty="0"/>
              <a:t> </a:t>
            </a:r>
            <a:r>
              <a:rPr lang="id-ID" altLang="en-US" b="1" u="sng" dirty="0" err="1"/>
              <a:t>faced</a:t>
            </a:r>
            <a:endParaRPr lang="id-ID" altLang="en-US" b="1" u="sng" dirty="0"/>
          </a:p>
        </p:txBody>
      </p:sp>
      <p:grpSp>
        <p:nvGrpSpPr>
          <p:cNvPr id="31748" name="Group 53"/>
          <p:cNvGrpSpPr>
            <a:grpSpLocks/>
          </p:cNvGrpSpPr>
          <p:nvPr/>
        </p:nvGrpSpPr>
        <p:grpSpPr bwMode="auto">
          <a:xfrm>
            <a:off x="1879600" y="2519045"/>
            <a:ext cx="7258050" cy="3249613"/>
            <a:chOff x="751801" y="2708920"/>
            <a:chExt cx="7258175" cy="3249652"/>
          </a:xfrm>
        </p:grpSpPr>
        <p:sp>
          <p:nvSpPr>
            <p:cNvPr id="31750" name="TextBox 3"/>
            <p:cNvSpPr txBox="1">
              <a:spLocks noChangeArrowheads="1"/>
            </p:cNvSpPr>
            <p:nvPr/>
          </p:nvSpPr>
          <p:spPr bwMode="auto">
            <a:xfrm>
              <a:off x="3668125" y="2708920"/>
              <a:ext cx="2304256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 altLang="en-US" dirty="0"/>
                <a:t>Choosing a Distributor</a:t>
              </a:r>
              <a:endParaRPr lang="id-ID" altLang="en-US" dirty="0"/>
            </a:p>
          </p:txBody>
        </p:sp>
        <p:sp>
          <p:nvSpPr>
            <p:cNvPr id="31751" name="TextBox 4"/>
            <p:cNvSpPr txBox="1">
              <a:spLocks noChangeArrowheads="1"/>
            </p:cNvSpPr>
            <p:nvPr/>
          </p:nvSpPr>
          <p:spPr bwMode="auto">
            <a:xfrm>
              <a:off x="751801" y="3669335"/>
              <a:ext cx="1800200" cy="3693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 altLang="en-US" dirty="0"/>
                <a:t>Network Breadth</a:t>
              </a:r>
              <a:endParaRPr lang="id-ID" altLang="en-US" dirty="0"/>
            </a:p>
          </p:txBody>
        </p:sp>
        <p:sp>
          <p:nvSpPr>
            <p:cNvPr id="31752" name="TextBox 5"/>
            <p:cNvSpPr txBox="1">
              <a:spLocks noChangeArrowheads="1"/>
            </p:cNvSpPr>
            <p:nvPr/>
          </p:nvSpPr>
          <p:spPr bwMode="auto">
            <a:xfrm>
              <a:off x="3264765" y="3789640"/>
              <a:ext cx="1728192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 altLang="en-US" dirty="0"/>
                <a:t>Credibility</a:t>
              </a:r>
              <a:endParaRPr lang="id-ID" altLang="en-US" dirty="0"/>
            </a:p>
          </p:txBody>
        </p:sp>
        <p:sp>
          <p:nvSpPr>
            <p:cNvPr id="31753" name="TextBox 6"/>
            <p:cNvSpPr txBox="1">
              <a:spLocks noChangeArrowheads="1"/>
            </p:cNvSpPr>
            <p:nvPr/>
          </p:nvSpPr>
          <p:spPr bwMode="auto">
            <a:xfrm>
              <a:off x="5705720" y="3772741"/>
              <a:ext cx="2304256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 altLang="en-US" dirty="0"/>
                <a:t>Payment</a:t>
              </a:r>
              <a:endParaRPr lang="id-ID" altLang="en-US" dirty="0"/>
            </a:p>
          </p:txBody>
        </p:sp>
        <p:sp>
          <p:nvSpPr>
            <p:cNvPr id="31754" name="TextBox 9"/>
            <p:cNvSpPr txBox="1">
              <a:spLocks noChangeArrowheads="1"/>
            </p:cNvSpPr>
            <p:nvPr/>
          </p:nvSpPr>
          <p:spPr bwMode="auto">
            <a:xfrm>
              <a:off x="1651901" y="5589240"/>
              <a:ext cx="1800200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dirty="0"/>
                <a:t>Makmur Jaya</a:t>
              </a:r>
              <a:endParaRPr lang="id-ID" altLang="en-US" dirty="0"/>
            </a:p>
          </p:txBody>
        </p:sp>
        <p:sp>
          <p:nvSpPr>
            <p:cNvPr id="31755" name="TextBox 10"/>
            <p:cNvSpPr txBox="1">
              <a:spLocks noChangeArrowheads="1"/>
            </p:cNvSpPr>
            <p:nvPr/>
          </p:nvSpPr>
          <p:spPr bwMode="auto">
            <a:xfrm>
              <a:off x="3656364" y="5589240"/>
              <a:ext cx="1800200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id-ID" altLang="en-US"/>
                <a:t>Anugerah</a:t>
              </a:r>
            </a:p>
          </p:txBody>
        </p:sp>
        <p:sp>
          <p:nvSpPr>
            <p:cNvPr id="31756" name="TextBox 11"/>
            <p:cNvSpPr txBox="1">
              <a:spLocks noChangeArrowheads="1"/>
            </p:cNvSpPr>
            <p:nvPr/>
          </p:nvSpPr>
          <p:spPr bwMode="auto">
            <a:xfrm>
              <a:off x="5660827" y="5555569"/>
              <a:ext cx="1800200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id-ID" altLang="en-US" dirty="0"/>
                <a:t>Permata</a:t>
              </a:r>
            </a:p>
          </p:txBody>
        </p:sp>
        <p:cxnSp>
          <p:nvCxnSpPr>
            <p:cNvPr id="14" name="Straight Connector 13"/>
            <p:cNvCxnSpPr>
              <a:stCxn id="31750" idx="2"/>
              <a:endCxn id="31751" idx="0"/>
            </p:cNvCxnSpPr>
            <p:nvPr/>
          </p:nvCxnSpPr>
          <p:spPr>
            <a:xfrm flipH="1">
              <a:off x="1651902" y="3078252"/>
              <a:ext cx="3168352" cy="59108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31750" idx="2"/>
              <a:endCxn id="31752" idx="0"/>
            </p:cNvCxnSpPr>
            <p:nvPr/>
          </p:nvCxnSpPr>
          <p:spPr>
            <a:xfrm flipH="1">
              <a:off x="4128472" y="3078812"/>
              <a:ext cx="692162" cy="71120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31750" idx="2"/>
              <a:endCxn id="31753" idx="0"/>
            </p:cNvCxnSpPr>
            <p:nvPr/>
          </p:nvCxnSpPr>
          <p:spPr>
            <a:xfrm>
              <a:off x="4820634" y="3078812"/>
              <a:ext cx="2036797" cy="69374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31751" idx="2"/>
              <a:endCxn id="31754" idx="0"/>
            </p:cNvCxnSpPr>
            <p:nvPr/>
          </p:nvCxnSpPr>
          <p:spPr>
            <a:xfrm>
              <a:off x="1651902" y="4038671"/>
              <a:ext cx="900100" cy="155056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31751" idx="2"/>
              <a:endCxn id="31755" idx="0"/>
            </p:cNvCxnSpPr>
            <p:nvPr/>
          </p:nvCxnSpPr>
          <p:spPr>
            <a:xfrm>
              <a:off x="1651902" y="4038671"/>
              <a:ext cx="2904563" cy="155056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31751" idx="2"/>
              <a:endCxn id="31756" idx="0"/>
            </p:cNvCxnSpPr>
            <p:nvPr/>
          </p:nvCxnSpPr>
          <p:spPr>
            <a:xfrm>
              <a:off x="1651902" y="4038671"/>
              <a:ext cx="4909026" cy="151689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31752" idx="2"/>
              <a:endCxn id="31754" idx="0"/>
            </p:cNvCxnSpPr>
            <p:nvPr/>
          </p:nvCxnSpPr>
          <p:spPr>
            <a:xfrm flipH="1">
              <a:off x="2552057" y="4158325"/>
              <a:ext cx="1576415" cy="143035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31752" idx="2"/>
              <a:endCxn id="31755" idx="0"/>
            </p:cNvCxnSpPr>
            <p:nvPr/>
          </p:nvCxnSpPr>
          <p:spPr>
            <a:xfrm>
              <a:off x="4128472" y="4158325"/>
              <a:ext cx="428632" cy="143035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stCxn id="31752" idx="2"/>
              <a:endCxn id="31756" idx="0"/>
            </p:cNvCxnSpPr>
            <p:nvPr/>
          </p:nvCxnSpPr>
          <p:spPr>
            <a:xfrm>
              <a:off x="4128472" y="4158325"/>
              <a:ext cx="2432092" cy="139701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>
              <a:stCxn id="31753" idx="2"/>
              <a:endCxn id="31754" idx="0"/>
            </p:cNvCxnSpPr>
            <p:nvPr/>
          </p:nvCxnSpPr>
          <p:spPr>
            <a:xfrm flipH="1">
              <a:off x="2552057" y="4142450"/>
              <a:ext cx="4305374" cy="144622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stCxn id="31753" idx="2"/>
              <a:endCxn id="31755" idx="0"/>
            </p:cNvCxnSpPr>
            <p:nvPr/>
          </p:nvCxnSpPr>
          <p:spPr>
            <a:xfrm flipH="1">
              <a:off x="4557105" y="4142450"/>
              <a:ext cx="2300327" cy="144622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>
              <a:stCxn id="31753" idx="2"/>
              <a:endCxn id="31756" idx="0"/>
            </p:cNvCxnSpPr>
            <p:nvPr/>
          </p:nvCxnSpPr>
          <p:spPr>
            <a:xfrm flipH="1">
              <a:off x="6560564" y="4142450"/>
              <a:ext cx="296867" cy="141289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78334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Settlement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1432560"/>
            <a:ext cx="9372600" cy="458565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r>
              <a:rPr lang="id-ID" sz="2800" b="1" u="sng" dirty="0"/>
              <a:t>2. </a:t>
            </a:r>
            <a:r>
              <a:rPr lang="id-ID" sz="2800" b="1" u="sng" dirty="0" err="1"/>
              <a:t>Couple</a:t>
            </a:r>
            <a:r>
              <a:rPr lang="id-ID" sz="2800" b="1" u="sng" dirty="0"/>
              <a:t> </a:t>
            </a:r>
            <a:r>
              <a:rPr lang="id-ID" sz="2800" b="1" u="sng" dirty="0" err="1"/>
              <a:t>comparison</a:t>
            </a:r>
            <a:r>
              <a:rPr lang="id-ID" sz="2800" b="1" u="sng" dirty="0"/>
              <a:t> </a:t>
            </a:r>
            <a:r>
              <a:rPr lang="id-ID" sz="2800" b="1" u="sng" dirty="0" err="1"/>
              <a:t>matrix</a:t>
            </a:r>
            <a:endParaRPr lang="id-ID" sz="2400" dirty="0">
              <a:latin typeface="+mn-lt"/>
            </a:endParaRPr>
          </a:p>
        </p:txBody>
      </p:sp>
      <p:graphicFrame>
        <p:nvGraphicFramePr>
          <p:cNvPr id="12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9303691"/>
              </p:ext>
            </p:extLst>
          </p:nvPr>
        </p:nvGraphicFramePr>
        <p:xfrm>
          <a:off x="4871864" y="4728940"/>
          <a:ext cx="6583680" cy="15595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Kriteria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K.Jaringan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Kredibilitas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Pembayaran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solidFill>
                            <a:schemeClr val="bg1"/>
                          </a:solidFill>
                        </a:rPr>
                        <a:t>K.Jaringan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id-ID" dirty="0">
                          <a:solidFill>
                            <a:schemeClr val="bg1"/>
                          </a:solidFill>
                        </a:rPr>
                        <a:t>Kredibilitas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id-ID" dirty="0">
                          <a:solidFill>
                            <a:schemeClr val="bg1"/>
                          </a:solidFill>
                        </a:rPr>
                        <a:t>Pembayaran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id-ID" dirty="0">
                          <a:solidFill>
                            <a:schemeClr val="bg1"/>
                          </a:solidFill>
                        </a:rPr>
                        <a:t>Jumlah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1/1</a:t>
                      </a:r>
                    </a:p>
                    <a:p>
                      <a:pPr algn="ctr"/>
                      <a:r>
                        <a:rPr lang="id-ID" dirty="0"/>
                        <a:t>3</a:t>
                      </a:r>
                      <a:r>
                        <a:rPr lang="en-US" dirty="0"/>
                        <a:t>/1</a:t>
                      </a:r>
                    </a:p>
                    <a:p>
                      <a:pPr algn="ctr"/>
                      <a:r>
                        <a:rPr lang="en-US" dirty="0"/>
                        <a:t>1/</a:t>
                      </a:r>
                      <a:r>
                        <a:rPr lang="id-ID" dirty="0"/>
                        <a:t>5</a:t>
                      </a:r>
                    </a:p>
                    <a:p>
                      <a:pPr algn="ctr"/>
                      <a:r>
                        <a:rPr lang="id-ID" dirty="0"/>
                        <a:t>4.2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1/</a:t>
                      </a:r>
                      <a:r>
                        <a:rPr lang="id-ID" dirty="0"/>
                        <a:t>3</a:t>
                      </a:r>
                      <a:endParaRPr lang="en-US" dirty="0"/>
                    </a:p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1/1</a:t>
                      </a:r>
                    </a:p>
                    <a:p>
                      <a:pPr algn="ctr"/>
                      <a:r>
                        <a:rPr lang="en-US" dirty="0"/>
                        <a:t>1/</a:t>
                      </a:r>
                      <a:r>
                        <a:rPr lang="id-ID" dirty="0"/>
                        <a:t>6</a:t>
                      </a:r>
                      <a:endParaRPr lang="en-US" dirty="0"/>
                    </a:p>
                    <a:p>
                      <a:pPr algn="ctr"/>
                      <a:r>
                        <a:rPr lang="id-ID" dirty="0"/>
                        <a:t>1.5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highlight>
                            <a:srgbClr val="00FF00"/>
                          </a:highlight>
                        </a:rPr>
                        <a:t>5</a:t>
                      </a:r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/1</a:t>
                      </a:r>
                    </a:p>
                    <a:p>
                      <a:pPr algn="ctr"/>
                      <a:r>
                        <a:rPr lang="id-ID" dirty="0"/>
                        <a:t>6</a:t>
                      </a:r>
                      <a:r>
                        <a:rPr lang="en-US" dirty="0"/>
                        <a:t>/1</a:t>
                      </a:r>
                    </a:p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1/1</a:t>
                      </a:r>
                    </a:p>
                    <a:p>
                      <a:pPr algn="ctr"/>
                      <a:r>
                        <a:rPr lang="id-ID" dirty="0"/>
                        <a:t>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4" name="Straight Connector 13"/>
          <p:cNvCxnSpPr/>
          <p:nvPr/>
        </p:nvCxnSpPr>
        <p:spPr>
          <a:xfrm>
            <a:off x="4872038" y="6021388"/>
            <a:ext cx="6553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7923CA6-13B9-40D2-BE93-C028D3DE6DBA}"/>
              </a:ext>
            </a:extLst>
          </p:cNvPr>
          <p:cNvCxnSpPr>
            <a:cxnSpLocks/>
          </p:cNvCxnSpPr>
          <p:nvPr/>
        </p:nvCxnSpPr>
        <p:spPr>
          <a:xfrm>
            <a:off x="10602913" y="4079875"/>
            <a:ext cx="0" cy="59213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EBF1029-3C05-4E9D-BBB4-6B420785789F}"/>
              </a:ext>
            </a:extLst>
          </p:cNvPr>
          <p:cNvSpPr/>
          <p:nvPr/>
        </p:nvSpPr>
        <p:spPr>
          <a:xfrm>
            <a:off x="9500633" y="2425201"/>
            <a:ext cx="2203638" cy="15607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bg1"/>
                </a:solidFill>
                <a:highlight>
                  <a:srgbClr val="0000FF"/>
                </a:highlight>
              </a:rPr>
              <a:t>How to read:
5x network breadth is more important than the payout
Or 5 to 1</a:t>
            </a:r>
            <a:endParaRPr lang="en-ID" dirty="0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  <p:graphicFrame>
        <p:nvGraphicFramePr>
          <p:cNvPr id="10" name="Table 2">
            <a:extLst>
              <a:ext uri="{FF2B5EF4-FFF2-40B4-BE49-F238E27FC236}">
                <a16:creationId xmlns:a16="http://schemas.microsoft.com/office/drawing/2014/main" id="{B48D982C-81AE-7647-966D-EFD01E2401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141780"/>
              </p:ext>
            </p:extLst>
          </p:nvPr>
        </p:nvGraphicFramePr>
        <p:xfrm>
          <a:off x="959795" y="2076133"/>
          <a:ext cx="6135479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38434">
                  <a:extLst>
                    <a:ext uri="{9D8B030D-6E8A-4147-A177-3AD203B41FA5}">
                      <a16:colId xmlns:a16="http://schemas.microsoft.com/office/drawing/2014/main" val="789209309"/>
                    </a:ext>
                  </a:extLst>
                </a:gridCol>
                <a:gridCol w="4697045">
                  <a:extLst>
                    <a:ext uri="{9D8B030D-6E8A-4147-A177-3AD203B41FA5}">
                      <a16:colId xmlns:a16="http://schemas.microsoft.com/office/drawing/2014/main" val="22870164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Intensity of Interest</a:t>
                      </a:r>
                      <a:endParaRPr lang="en-ID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Information</a:t>
                      </a:r>
                      <a:endParaRPr lang="en-ID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78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Both elements are equally important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629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One element is slightly more important than the other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374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One element is more important than the other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459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One element is clearly more absolutely important than the other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365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One element is absolutely more important than the other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954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2,4,6,8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Values between two adjacent considerations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795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5807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Settlement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1432560"/>
            <a:ext cx="9372600" cy="458565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r>
              <a:rPr lang="id-ID" sz="2800" b="1" u="sng" dirty="0"/>
              <a:t>2. </a:t>
            </a:r>
            <a:r>
              <a:rPr lang="id-ID" sz="2800" b="1" u="sng" dirty="0" err="1"/>
              <a:t>Couple</a:t>
            </a:r>
            <a:r>
              <a:rPr lang="id-ID" sz="2800" b="1" u="sng" dirty="0"/>
              <a:t> </a:t>
            </a:r>
            <a:r>
              <a:rPr lang="id-ID" sz="2800" b="1" u="sng" dirty="0" err="1"/>
              <a:t>comparison</a:t>
            </a:r>
            <a:r>
              <a:rPr lang="id-ID" sz="2800" b="1" u="sng" dirty="0"/>
              <a:t> </a:t>
            </a:r>
            <a:r>
              <a:rPr lang="id-ID" sz="2800" b="1" u="sng" dirty="0" err="1"/>
              <a:t>matrix</a:t>
            </a:r>
            <a:endParaRPr lang="id-ID" sz="2400" dirty="0">
              <a:latin typeface="+mn-lt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4872038" y="6021388"/>
            <a:ext cx="6553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FBB4B6A-F45A-1FB6-4115-2EC38D0674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074" t="43713" r="39262" b="40323"/>
          <a:stretch/>
        </p:blipFill>
        <p:spPr>
          <a:xfrm>
            <a:off x="1663908" y="2089386"/>
            <a:ext cx="3372787" cy="1094282"/>
          </a:xfrm>
          <a:prstGeom prst="rect">
            <a:avLst/>
          </a:prstGeom>
        </p:spPr>
      </p:pic>
      <p:pic>
        <p:nvPicPr>
          <p:cNvPr id="3074" name="Picture 2" descr="Premium Vector | 5g wireless network technology, global high speed internet,  flat vector illustration. rocket flying around planet earth.">
            <a:extLst>
              <a:ext uri="{FF2B5EF4-FFF2-40B4-BE49-F238E27FC236}">
                <a16:creationId xmlns:a16="http://schemas.microsoft.com/office/drawing/2014/main" id="{B815F528-FA51-59A6-5F5C-9D38A59CF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56690"/>
            <a:ext cx="759674" cy="759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90226C-6315-3363-7CD2-5DF5ABC9469F}"/>
              </a:ext>
            </a:extLst>
          </p:cNvPr>
          <p:cNvSpPr txBox="1"/>
          <p:nvPr/>
        </p:nvSpPr>
        <p:spPr>
          <a:xfrm>
            <a:off x="617297" y="1926536"/>
            <a:ext cx="1201480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err="1"/>
              <a:t>Keluasan</a:t>
            </a:r>
            <a:r>
              <a:rPr lang="en-US" sz="1050" b="1" dirty="0"/>
              <a:t> </a:t>
            </a:r>
            <a:r>
              <a:rPr lang="en-US" sz="1050" b="1" dirty="0" err="1"/>
              <a:t>Jaringan</a:t>
            </a:r>
            <a:endParaRPr lang="en-ID" sz="1050" b="1" dirty="0"/>
          </a:p>
        </p:txBody>
      </p:sp>
      <p:pic>
        <p:nvPicPr>
          <p:cNvPr id="3076" name="Picture 4" descr="Credibility - Free security icons">
            <a:extLst>
              <a:ext uri="{FF2B5EF4-FFF2-40B4-BE49-F238E27FC236}">
                <a16:creationId xmlns:a16="http://schemas.microsoft.com/office/drawing/2014/main" id="{F489D2E2-0848-A608-45D6-F1DB77647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2713" y="2256690"/>
            <a:ext cx="769769" cy="769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C82AC3-5511-6C6A-D415-B5C5DC0EE89D}"/>
              </a:ext>
            </a:extLst>
          </p:cNvPr>
          <p:cNvSpPr txBox="1"/>
          <p:nvPr/>
        </p:nvSpPr>
        <p:spPr>
          <a:xfrm>
            <a:off x="4660923" y="1951978"/>
            <a:ext cx="1201480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err="1"/>
              <a:t>Kredibilitas</a:t>
            </a:r>
            <a:endParaRPr lang="en-ID" sz="1050" b="1" dirty="0"/>
          </a:p>
        </p:txBody>
      </p:sp>
      <p:pic>
        <p:nvPicPr>
          <p:cNvPr id="3078" name="Picture 6" descr="Pembayaran, aplikasi, jari Ikon di Payment">
            <a:extLst>
              <a:ext uri="{FF2B5EF4-FFF2-40B4-BE49-F238E27FC236}">
                <a16:creationId xmlns:a16="http://schemas.microsoft.com/office/drawing/2014/main" id="{FB4A0BEA-09F4-9401-63F1-30D42E35F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6695" y="3487508"/>
            <a:ext cx="837965" cy="837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1B8A5F-7BC7-ADDC-26DF-C9892EF1FD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074" t="43713" r="39262" b="40323"/>
          <a:stretch/>
        </p:blipFill>
        <p:spPr>
          <a:xfrm>
            <a:off x="1652326" y="3359350"/>
            <a:ext cx="3372787" cy="1094282"/>
          </a:xfrm>
          <a:prstGeom prst="rect">
            <a:avLst/>
          </a:prstGeom>
        </p:spPr>
      </p:pic>
      <p:pic>
        <p:nvPicPr>
          <p:cNvPr id="11" name="Picture 2" descr="Premium Vector | 5g wireless network technology, global high speed internet,  flat vector illustration. rocket flying around planet earth.">
            <a:extLst>
              <a:ext uri="{FF2B5EF4-FFF2-40B4-BE49-F238E27FC236}">
                <a16:creationId xmlns:a16="http://schemas.microsoft.com/office/drawing/2014/main" id="{C8295646-B8C8-CDBB-3067-BC5BEF5B9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8" y="3526654"/>
            <a:ext cx="759674" cy="759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B36E30E-E9B3-D63B-1562-4943673ECFDC}"/>
              </a:ext>
            </a:extLst>
          </p:cNvPr>
          <p:cNvSpPr txBox="1"/>
          <p:nvPr/>
        </p:nvSpPr>
        <p:spPr>
          <a:xfrm>
            <a:off x="4649341" y="3221942"/>
            <a:ext cx="1201480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err="1"/>
              <a:t>Pembayaran</a:t>
            </a:r>
            <a:endParaRPr lang="en-ID" sz="105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59C5CB-894D-1E66-1E08-BC10A98711A1}"/>
              </a:ext>
            </a:extLst>
          </p:cNvPr>
          <p:cNvSpPr txBox="1"/>
          <p:nvPr/>
        </p:nvSpPr>
        <p:spPr>
          <a:xfrm>
            <a:off x="605715" y="3204034"/>
            <a:ext cx="1201480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err="1"/>
              <a:t>Keluasan</a:t>
            </a:r>
            <a:r>
              <a:rPr lang="en-US" sz="1050" b="1" dirty="0"/>
              <a:t> </a:t>
            </a:r>
            <a:r>
              <a:rPr lang="en-US" sz="1050" b="1" dirty="0" err="1"/>
              <a:t>Jaringan</a:t>
            </a:r>
            <a:endParaRPr lang="en-ID" sz="1050" b="1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F9CC0FE-3B9F-70AE-DD1E-3861EAC15A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074" t="43713" r="39262" b="40323"/>
          <a:stretch/>
        </p:blipFill>
        <p:spPr>
          <a:xfrm>
            <a:off x="1676165" y="4619837"/>
            <a:ext cx="3372787" cy="1094282"/>
          </a:xfrm>
          <a:prstGeom prst="rect">
            <a:avLst/>
          </a:prstGeom>
        </p:spPr>
      </p:pic>
      <p:pic>
        <p:nvPicPr>
          <p:cNvPr id="22" name="Picture 2" descr="Premium Vector | 5g wireless network technology, global high speed internet,  flat vector illustration. rocket flying around planet earth.">
            <a:extLst>
              <a:ext uri="{FF2B5EF4-FFF2-40B4-BE49-F238E27FC236}">
                <a16:creationId xmlns:a16="http://schemas.microsoft.com/office/drawing/2014/main" id="{30715574-89EC-7C25-B140-2D9167C3F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497" y="4801722"/>
            <a:ext cx="759674" cy="759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68E449B-D233-EE7D-9D5A-80D1815E9EE7}"/>
              </a:ext>
            </a:extLst>
          </p:cNvPr>
          <p:cNvSpPr txBox="1"/>
          <p:nvPr/>
        </p:nvSpPr>
        <p:spPr>
          <a:xfrm>
            <a:off x="4660923" y="4465282"/>
            <a:ext cx="1201480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err="1"/>
              <a:t>Keluasan</a:t>
            </a:r>
            <a:r>
              <a:rPr lang="en-US" sz="1050" b="1" dirty="0"/>
              <a:t> </a:t>
            </a:r>
            <a:r>
              <a:rPr lang="en-US" sz="1050" b="1" dirty="0" err="1"/>
              <a:t>Jaringan</a:t>
            </a:r>
            <a:endParaRPr lang="en-ID" sz="1050" b="1" dirty="0"/>
          </a:p>
        </p:txBody>
      </p:sp>
      <p:pic>
        <p:nvPicPr>
          <p:cNvPr id="24" name="Picture 4" descr="Credibility - Free security icons">
            <a:extLst>
              <a:ext uri="{FF2B5EF4-FFF2-40B4-BE49-F238E27FC236}">
                <a16:creationId xmlns:a16="http://schemas.microsoft.com/office/drawing/2014/main" id="{99D73E6A-D1F9-C1AC-58F9-0166956FA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396" y="4805039"/>
            <a:ext cx="769769" cy="769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8AC377A-DE8A-C40A-15E4-D49787144FDE}"/>
              </a:ext>
            </a:extLst>
          </p:cNvPr>
          <p:cNvSpPr txBox="1"/>
          <p:nvPr/>
        </p:nvSpPr>
        <p:spPr>
          <a:xfrm>
            <a:off x="694606" y="4500327"/>
            <a:ext cx="1201480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err="1"/>
              <a:t>Kredibilitas</a:t>
            </a:r>
            <a:endParaRPr lang="en-ID" sz="1050" b="1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96AF59B-1ED8-962E-F0F3-A2C1C0F46C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074" t="43713" r="39262" b="40323"/>
          <a:stretch/>
        </p:blipFill>
        <p:spPr>
          <a:xfrm>
            <a:off x="7018155" y="2078948"/>
            <a:ext cx="3372787" cy="1094282"/>
          </a:xfrm>
          <a:prstGeom prst="rect">
            <a:avLst/>
          </a:prstGeom>
        </p:spPr>
      </p:pic>
      <p:pic>
        <p:nvPicPr>
          <p:cNvPr id="31" name="Picture 4" descr="Credibility - Free security icons">
            <a:extLst>
              <a:ext uri="{FF2B5EF4-FFF2-40B4-BE49-F238E27FC236}">
                <a16:creationId xmlns:a16="http://schemas.microsoft.com/office/drawing/2014/main" id="{C419FEDF-4B15-7861-5B2B-30D99F66D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386" y="2264150"/>
            <a:ext cx="769769" cy="769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4EFFA16-B248-1C0E-7EA3-FAE9C3E7CA73}"/>
              </a:ext>
            </a:extLst>
          </p:cNvPr>
          <p:cNvSpPr txBox="1"/>
          <p:nvPr/>
        </p:nvSpPr>
        <p:spPr>
          <a:xfrm>
            <a:off x="6036596" y="1959438"/>
            <a:ext cx="1201480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err="1"/>
              <a:t>Kredibilitas</a:t>
            </a:r>
            <a:endParaRPr lang="en-ID" sz="1050" b="1" dirty="0"/>
          </a:p>
        </p:txBody>
      </p:sp>
      <p:pic>
        <p:nvPicPr>
          <p:cNvPr id="33" name="Picture 6" descr="Pembayaran, aplikasi, jari Ikon di Payment">
            <a:extLst>
              <a:ext uri="{FF2B5EF4-FFF2-40B4-BE49-F238E27FC236}">
                <a16:creationId xmlns:a16="http://schemas.microsoft.com/office/drawing/2014/main" id="{F11FEF1A-DD3B-2D8C-1712-1CCDBF1D2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2746" y="2193117"/>
            <a:ext cx="837965" cy="837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6947EDC-C1E7-8879-C760-C1C3E683F0BC}"/>
              </a:ext>
            </a:extLst>
          </p:cNvPr>
          <p:cNvSpPr txBox="1"/>
          <p:nvPr/>
        </p:nvSpPr>
        <p:spPr>
          <a:xfrm>
            <a:off x="9935392" y="1927551"/>
            <a:ext cx="1201480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err="1"/>
              <a:t>Pembayaran</a:t>
            </a:r>
            <a:endParaRPr lang="en-ID" sz="1050" b="1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6B00011-3FF6-E2C2-1B28-DD637FA557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074" t="43713" r="39262" b="40323"/>
          <a:stretch/>
        </p:blipFill>
        <p:spPr>
          <a:xfrm>
            <a:off x="7018155" y="3359350"/>
            <a:ext cx="3372787" cy="1094282"/>
          </a:xfrm>
          <a:prstGeom prst="rect">
            <a:avLst/>
          </a:prstGeom>
        </p:spPr>
      </p:pic>
      <p:pic>
        <p:nvPicPr>
          <p:cNvPr id="36" name="Picture 4" descr="Credibility - Free security icons">
            <a:extLst>
              <a:ext uri="{FF2B5EF4-FFF2-40B4-BE49-F238E27FC236}">
                <a16:creationId xmlns:a16="http://schemas.microsoft.com/office/drawing/2014/main" id="{4487360E-E98A-9A90-9FD8-AA3585DC2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2746" y="4858335"/>
            <a:ext cx="769769" cy="769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73B8802-F21C-B7CB-21E1-825808527312}"/>
              </a:ext>
            </a:extLst>
          </p:cNvPr>
          <p:cNvSpPr txBox="1"/>
          <p:nvPr/>
        </p:nvSpPr>
        <p:spPr>
          <a:xfrm>
            <a:off x="10110956" y="4553623"/>
            <a:ext cx="1201480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err="1"/>
              <a:t>Kredibilitas</a:t>
            </a:r>
            <a:endParaRPr lang="en-ID" sz="1050" b="1" dirty="0"/>
          </a:p>
        </p:txBody>
      </p:sp>
      <p:pic>
        <p:nvPicPr>
          <p:cNvPr id="38" name="Picture 6" descr="Pembayaran, aplikasi, jari Ikon di Payment">
            <a:extLst>
              <a:ext uri="{FF2B5EF4-FFF2-40B4-BE49-F238E27FC236}">
                <a16:creationId xmlns:a16="http://schemas.microsoft.com/office/drawing/2014/main" id="{02E10816-3F7F-063D-1BB2-B94A35A66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111" y="3575974"/>
            <a:ext cx="837965" cy="837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66F7B73-EDFD-2F45-FD78-210D3FC54FE3}"/>
              </a:ext>
            </a:extLst>
          </p:cNvPr>
          <p:cNvSpPr txBox="1"/>
          <p:nvPr/>
        </p:nvSpPr>
        <p:spPr>
          <a:xfrm>
            <a:off x="6012757" y="3310408"/>
            <a:ext cx="1201480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err="1"/>
              <a:t>Pembayaran</a:t>
            </a:r>
            <a:endParaRPr lang="en-ID" sz="1050" b="1" dirty="0"/>
          </a:p>
        </p:txBody>
      </p:sp>
      <p:pic>
        <p:nvPicPr>
          <p:cNvPr id="40" name="Picture 2" descr="Premium Vector | 5g wireless network technology, global high speed internet,  flat vector illustration. rocket flying around planet earth.">
            <a:extLst>
              <a:ext uri="{FF2B5EF4-FFF2-40B4-BE49-F238E27FC236}">
                <a16:creationId xmlns:a16="http://schemas.microsoft.com/office/drawing/2014/main" id="{5E371159-EA47-D0F9-38D2-C017AFF56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3999" y="3552096"/>
            <a:ext cx="759674" cy="759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23008223-0A72-BF1F-B080-2999D6F09FEC}"/>
              </a:ext>
            </a:extLst>
          </p:cNvPr>
          <p:cNvSpPr txBox="1"/>
          <p:nvPr/>
        </p:nvSpPr>
        <p:spPr>
          <a:xfrm>
            <a:off x="10073096" y="3229476"/>
            <a:ext cx="1201480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err="1"/>
              <a:t>Keluasan</a:t>
            </a:r>
            <a:r>
              <a:rPr lang="en-US" sz="1050" b="1" dirty="0"/>
              <a:t> </a:t>
            </a:r>
            <a:r>
              <a:rPr lang="en-US" sz="1050" b="1" dirty="0" err="1"/>
              <a:t>Jaringan</a:t>
            </a:r>
            <a:endParaRPr lang="en-ID" sz="1050" b="1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B14C0862-C457-E4E5-B217-0B6A2D2933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074" t="43713" r="39262" b="40323"/>
          <a:stretch/>
        </p:blipFill>
        <p:spPr>
          <a:xfrm>
            <a:off x="7028259" y="4606032"/>
            <a:ext cx="3372787" cy="1094282"/>
          </a:xfrm>
          <a:prstGeom prst="rect">
            <a:avLst/>
          </a:prstGeom>
        </p:spPr>
      </p:pic>
      <p:pic>
        <p:nvPicPr>
          <p:cNvPr id="43" name="Picture 6" descr="Pembayaran, aplikasi, jari Ikon di Payment">
            <a:extLst>
              <a:ext uri="{FF2B5EF4-FFF2-40B4-BE49-F238E27FC236}">
                <a16:creationId xmlns:a16="http://schemas.microsoft.com/office/drawing/2014/main" id="{E15D4D27-6103-5B8C-13C7-E411CDEFE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0215" y="4822656"/>
            <a:ext cx="837965" cy="837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C8F1F6F2-3A6F-1C51-E6E0-1FB1A585CA8E}"/>
              </a:ext>
            </a:extLst>
          </p:cNvPr>
          <p:cNvSpPr txBox="1"/>
          <p:nvPr/>
        </p:nvSpPr>
        <p:spPr>
          <a:xfrm>
            <a:off x="6022861" y="4557090"/>
            <a:ext cx="1201480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err="1"/>
              <a:t>Pembayaran</a:t>
            </a:r>
            <a:endParaRPr lang="en-ID" sz="1050" b="1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D95E103-D358-5E7A-473B-70F62DAE3832}"/>
              </a:ext>
            </a:extLst>
          </p:cNvPr>
          <p:cNvCxnSpPr/>
          <p:nvPr/>
        </p:nvCxnSpPr>
        <p:spPr>
          <a:xfrm flipH="1">
            <a:off x="5850821" y="2089386"/>
            <a:ext cx="23839" cy="3571235"/>
          </a:xfrm>
          <a:prstGeom prst="straightConnector1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49" name="Content Placeholder 4">
            <a:extLst>
              <a:ext uri="{FF2B5EF4-FFF2-40B4-BE49-F238E27FC236}">
                <a16:creationId xmlns:a16="http://schemas.microsoft.com/office/drawing/2014/main" id="{A00934BD-C6B2-53EA-1B78-3152E80275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4336566"/>
              </p:ext>
            </p:extLst>
          </p:nvPr>
        </p:nvGraphicFramePr>
        <p:xfrm>
          <a:off x="6057646" y="360155"/>
          <a:ext cx="4361457" cy="1315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70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Kriteria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K.Jaringan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Kredibilitas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Pembayaran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sz="1400" dirty="0">
                          <a:solidFill>
                            <a:schemeClr val="bg1"/>
                          </a:solidFill>
                        </a:rPr>
                        <a:t>K.Jaringan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id-ID" sz="1400" dirty="0">
                          <a:solidFill>
                            <a:schemeClr val="bg1"/>
                          </a:solidFill>
                        </a:rPr>
                        <a:t>Kredibilitas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id-ID" sz="1400" dirty="0">
                          <a:solidFill>
                            <a:schemeClr val="bg1"/>
                          </a:solidFill>
                        </a:rPr>
                        <a:t>Pembayaran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id-ID" sz="1400" dirty="0">
                          <a:solidFill>
                            <a:schemeClr val="bg1"/>
                          </a:solidFill>
                        </a:rPr>
                        <a:t>Jumlah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highlight>
                            <a:srgbClr val="800080"/>
                          </a:highlight>
                        </a:rPr>
                        <a:t>1/1</a:t>
                      </a:r>
                    </a:p>
                    <a:p>
                      <a:pPr algn="ctr"/>
                      <a:r>
                        <a:rPr lang="id-ID" sz="1400" dirty="0"/>
                        <a:t>3</a:t>
                      </a:r>
                      <a:r>
                        <a:rPr lang="en-US" sz="1400" dirty="0"/>
                        <a:t>/1</a:t>
                      </a:r>
                    </a:p>
                    <a:p>
                      <a:pPr algn="ctr"/>
                      <a:r>
                        <a:rPr lang="en-US" sz="1400" dirty="0"/>
                        <a:t>1/</a:t>
                      </a:r>
                      <a:r>
                        <a:rPr lang="id-ID" sz="1400" dirty="0"/>
                        <a:t>5</a:t>
                      </a:r>
                    </a:p>
                    <a:p>
                      <a:pPr algn="ctr"/>
                      <a:r>
                        <a:rPr lang="id-ID" sz="1400" dirty="0"/>
                        <a:t>4.2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1/</a:t>
                      </a:r>
                      <a:r>
                        <a:rPr lang="id-ID" sz="1400" dirty="0"/>
                        <a:t>3</a:t>
                      </a:r>
                      <a:endParaRPr lang="en-US" sz="1400" dirty="0"/>
                    </a:p>
                    <a:p>
                      <a:pPr algn="ctr"/>
                      <a:r>
                        <a:rPr lang="en-US" sz="1400" dirty="0">
                          <a:highlight>
                            <a:srgbClr val="800080"/>
                          </a:highlight>
                        </a:rPr>
                        <a:t>1/1</a:t>
                      </a:r>
                    </a:p>
                    <a:p>
                      <a:pPr algn="ctr"/>
                      <a:r>
                        <a:rPr lang="en-US" sz="1400" dirty="0"/>
                        <a:t>1/</a:t>
                      </a:r>
                      <a:r>
                        <a:rPr lang="id-ID" sz="1400" dirty="0"/>
                        <a:t>6</a:t>
                      </a:r>
                      <a:endParaRPr lang="en-US" sz="1400" dirty="0"/>
                    </a:p>
                    <a:p>
                      <a:pPr algn="ctr"/>
                      <a:r>
                        <a:rPr lang="id-ID" sz="1400" dirty="0"/>
                        <a:t>1.5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>
                          <a:highlight>
                            <a:srgbClr val="0000FF"/>
                          </a:highlight>
                        </a:rPr>
                        <a:t>5</a:t>
                      </a:r>
                      <a:r>
                        <a:rPr lang="en-US" sz="1400" dirty="0">
                          <a:highlight>
                            <a:srgbClr val="0000FF"/>
                          </a:highlight>
                        </a:rPr>
                        <a:t>/1</a:t>
                      </a:r>
                    </a:p>
                    <a:p>
                      <a:pPr algn="ctr"/>
                      <a:r>
                        <a:rPr lang="id-ID" sz="1400" dirty="0"/>
                        <a:t>6</a:t>
                      </a:r>
                      <a:r>
                        <a:rPr lang="en-US" sz="1400" dirty="0"/>
                        <a:t>/1</a:t>
                      </a:r>
                    </a:p>
                    <a:p>
                      <a:pPr algn="ctr"/>
                      <a:r>
                        <a:rPr lang="en-US" sz="1400" dirty="0">
                          <a:highlight>
                            <a:srgbClr val="800080"/>
                          </a:highlight>
                        </a:rPr>
                        <a:t>1/1</a:t>
                      </a:r>
                    </a:p>
                    <a:p>
                      <a:pPr algn="ctr"/>
                      <a:r>
                        <a:rPr lang="id-ID" sz="1400" dirty="0"/>
                        <a:t>12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FCA8944-4109-1FEE-B4F1-E3EE26072258}"/>
                  </a:ext>
                </a:extLst>
              </p:cNvPr>
              <p:cNvSpPr txBox="1"/>
              <p:nvPr/>
            </p:nvSpPr>
            <p:spPr>
              <a:xfrm>
                <a:off x="3445114" y="2450614"/>
                <a:ext cx="270908" cy="3968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D" sz="2400" b="0" i="1" smtClean="0">
                          <a:solidFill>
                            <a:srgbClr val="00CC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ID" sz="2400" dirty="0">
                  <a:solidFill>
                    <a:srgbClr val="00CC0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FCA8944-4109-1FEE-B4F1-E3EE26072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5114" y="2450614"/>
                <a:ext cx="270908" cy="3968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3DE96C1-345C-429D-322E-EC9C45EDB298}"/>
                  </a:ext>
                </a:extLst>
              </p:cNvPr>
              <p:cNvSpPr txBox="1"/>
              <p:nvPr/>
            </p:nvSpPr>
            <p:spPr>
              <a:xfrm>
                <a:off x="2810868" y="4968558"/>
                <a:ext cx="270908" cy="3968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D" sz="2400" b="0" i="1" smtClean="0">
                          <a:solidFill>
                            <a:srgbClr val="00CC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ID" sz="2400" dirty="0">
                  <a:solidFill>
                    <a:srgbClr val="00CC0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3DE96C1-345C-429D-322E-EC9C45EDB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0868" y="4968558"/>
                <a:ext cx="270908" cy="3968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00B78AB-A624-DBC1-5C20-A9917E6DE3B5}"/>
                  </a:ext>
                </a:extLst>
              </p:cNvPr>
              <p:cNvSpPr txBox="1"/>
              <p:nvPr/>
            </p:nvSpPr>
            <p:spPr>
              <a:xfrm>
                <a:off x="2456236" y="3753644"/>
                <a:ext cx="270908" cy="3968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D" sz="2400" b="0" i="1" smtClean="0">
                          <a:solidFill>
                            <a:srgbClr val="00CC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ID" sz="2400" dirty="0">
                  <a:solidFill>
                    <a:srgbClr val="00CC00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00B78AB-A624-DBC1-5C20-A9917E6DE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6236" y="3753644"/>
                <a:ext cx="270908" cy="39684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BCD629D-2BDF-CD2B-BD4B-4A30979B5E58}"/>
                  </a:ext>
                </a:extLst>
              </p:cNvPr>
              <p:cNvSpPr txBox="1"/>
              <p:nvPr/>
            </p:nvSpPr>
            <p:spPr>
              <a:xfrm>
                <a:off x="9164857" y="3753644"/>
                <a:ext cx="270908" cy="3968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D" sz="2400" b="0" i="1" smtClean="0">
                          <a:solidFill>
                            <a:srgbClr val="00CC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ID" sz="2400" dirty="0">
                  <a:solidFill>
                    <a:srgbClr val="00CC00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BCD629D-2BDF-CD2B-BD4B-4A30979B5E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4857" y="3753644"/>
                <a:ext cx="270908" cy="3968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7AB7D6F-950C-12F0-73FF-0DE25B292B60}"/>
                  </a:ext>
                </a:extLst>
              </p:cNvPr>
              <p:cNvSpPr txBox="1"/>
              <p:nvPr/>
            </p:nvSpPr>
            <p:spPr>
              <a:xfrm>
                <a:off x="7675098" y="2438107"/>
                <a:ext cx="270908" cy="3968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D" sz="2400" b="0" i="1" smtClean="0">
                          <a:solidFill>
                            <a:srgbClr val="00CC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ID" sz="2400" dirty="0">
                  <a:solidFill>
                    <a:srgbClr val="00CC00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7AB7D6F-950C-12F0-73FF-0DE25B292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5098" y="2438107"/>
                <a:ext cx="270908" cy="39684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F24FB91-F3F1-207E-96E0-DF120545230A}"/>
                  </a:ext>
                </a:extLst>
              </p:cNvPr>
              <p:cNvSpPr txBox="1"/>
              <p:nvPr/>
            </p:nvSpPr>
            <p:spPr>
              <a:xfrm>
                <a:off x="9350273" y="4977790"/>
                <a:ext cx="270908" cy="3968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D" sz="2400" b="0" i="1" smtClean="0">
                          <a:solidFill>
                            <a:srgbClr val="00CC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ID" sz="2400" dirty="0">
                  <a:solidFill>
                    <a:srgbClr val="00CC00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F24FB91-F3F1-207E-96E0-DF1205452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0273" y="4977790"/>
                <a:ext cx="270908" cy="39684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0303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d-ID" altLang="en-US" dirty="0" err="1"/>
              <a:t>Settlement</a:t>
            </a:r>
            <a:endParaRPr lang="id-ID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3648" y="1273239"/>
            <a:ext cx="8770571" cy="3651504"/>
          </a:xfrm>
        </p:spPr>
        <p:txBody>
          <a:bodyPr rtlCol="0">
            <a:normAutofit/>
          </a:bodyPr>
          <a:lstStyle/>
          <a:p>
            <a:pPr marL="114300" indent="0" fontAlgn="auto">
              <a:spcBef>
                <a:spcPts val="930"/>
              </a:spcBef>
              <a:spcAft>
                <a:spcPts val="0"/>
              </a:spcAft>
              <a:buFont typeface="Corbel" panose="020B0503020204020204" pitchFamily="34" charset="0"/>
              <a:buNone/>
              <a:defRPr/>
            </a:pPr>
            <a:r>
              <a:rPr lang="id-ID" b="1" u="sng" dirty="0"/>
              <a:t>3. </a:t>
            </a:r>
            <a:r>
              <a:rPr lang="id-ID" b="1" u="sng" dirty="0" err="1"/>
              <a:t>Calculating</a:t>
            </a:r>
            <a:r>
              <a:rPr lang="id-ID" b="1" u="sng" dirty="0"/>
              <a:t> </a:t>
            </a:r>
            <a:r>
              <a:rPr lang="id-ID" b="1" u="sng" dirty="0" err="1"/>
              <a:t>Priority</a:t>
            </a:r>
            <a:r>
              <a:rPr lang="id-ID" b="1" u="sng" dirty="0"/>
              <a:t> </a:t>
            </a:r>
            <a:r>
              <a:rPr lang="id-ID" b="1" u="sng" dirty="0" err="1"/>
              <a:t>Weights</a:t>
            </a:r>
            <a:endParaRPr lang="id-ID" u="sng" dirty="0">
              <a:highlight>
                <a:srgbClr val="FFFF00"/>
              </a:highlight>
            </a:endParaRPr>
          </a:p>
        </p:txBody>
      </p:sp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1857863"/>
              </p:ext>
            </p:extLst>
          </p:nvPr>
        </p:nvGraphicFramePr>
        <p:xfrm>
          <a:off x="1394460" y="4182006"/>
          <a:ext cx="8531666" cy="16459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2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3715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Kriteria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highlight>
                            <a:srgbClr val="0000FF"/>
                          </a:highlight>
                        </a:rPr>
                        <a:t>K.Jaringan</a:t>
                      </a:r>
                      <a:endParaRPr lang="en-US" dirty="0">
                        <a:highlight>
                          <a:srgbClr val="0000FF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highlight>
                            <a:srgbClr val="0000FF"/>
                          </a:highlight>
                        </a:rPr>
                        <a:t>Kredibilitas</a:t>
                      </a:r>
                      <a:endParaRPr lang="en-US" dirty="0">
                        <a:highlight>
                          <a:srgbClr val="0000FF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highlight>
                            <a:srgbClr val="0000FF"/>
                          </a:highlight>
                        </a:rPr>
                        <a:t>Pembayaran</a:t>
                      </a:r>
                      <a:endParaRPr lang="en-US" dirty="0">
                        <a:highlight>
                          <a:srgbClr val="0000FF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solidFill>
                            <a:schemeClr val="bg1"/>
                          </a:solidFill>
                          <a:highlight>
                            <a:srgbClr val="00FF00"/>
                          </a:highlight>
                        </a:rPr>
                        <a:t>Jumlah</a:t>
                      </a:r>
                      <a:endParaRPr lang="en-US" dirty="0">
                        <a:solidFill>
                          <a:schemeClr val="bg1"/>
                        </a:solidFill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Priority</a:t>
                      </a:r>
                      <a:r>
                        <a:rPr lang="id-ID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id-ID" b="1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Weight</a:t>
                      </a:r>
                      <a:endParaRPr lang="en-US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solidFill>
                            <a:schemeClr val="bg1"/>
                          </a:solidFill>
                        </a:rPr>
                        <a:t>K.Jaringan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id-ID" dirty="0">
                          <a:solidFill>
                            <a:schemeClr val="bg1"/>
                          </a:solidFill>
                        </a:rPr>
                        <a:t>Kredibilitas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id-ID" dirty="0">
                          <a:solidFill>
                            <a:schemeClr val="bg1"/>
                          </a:solidFill>
                        </a:rPr>
                        <a:t>Pembayaran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solidFill>
                            <a:srgbClr val="0070C0"/>
                          </a:solidFill>
                        </a:rPr>
                        <a:t>0.238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r>
                        <a:rPr lang="id-ID" dirty="0"/>
                        <a:t>0.714</a:t>
                      </a:r>
                      <a:endParaRPr lang="en-US" dirty="0"/>
                    </a:p>
                    <a:p>
                      <a:pPr algn="ctr"/>
                      <a:r>
                        <a:rPr lang="id-ID" dirty="0"/>
                        <a:t>0.048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r>
                        <a:rPr lang="id-ID" dirty="0"/>
                        <a:t>.222</a:t>
                      </a:r>
                      <a:endParaRPr lang="en-US" dirty="0"/>
                    </a:p>
                    <a:p>
                      <a:pPr algn="ctr"/>
                      <a:r>
                        <a:rPr lang="id-ID" dirty="0"/>
                        <a:t>0.667</a:t>
                      </a:r>
                      <a:endParaRPr lang="en-US" dirty="0"/>
                    </a:p>
                    <a:p>
                      <a:pPr algn="ctr"/>
                      <a:r>
                        <a:rPr lang="id-ID" dirty="0"/>
                        <a:t>0.111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0.417</a:t>
                      </a:r>
                      <a:endParaRPr lang="en-US" dirty="0"/>
                    </a:p>
                    <a:p>
                      <a:pPr algn="ctr"/>
                      <a:r>
                        <a:rPr lang="id-ID" dirty="0"/>
                        <a:t>0.5</a:t>
                      </a:r>
                      <a:endParaRPr lang="en-US" dirty="0"/>
                    </a:p>
                    <a:p>
                      <a:pPr algn="ctr"/>
                      <a:r>
                        <a:rPr lang="id-ID" dirty="0"/>
                        <a:t>0.083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solidFill>
                            <a:srgbClr val="00B050"/>
                          </a:solidFill>
                        </a:rPr>
                        <a:t>0.877</a:t>
                      </a:r>
                    </a:p>
                    <a:p>
                      <a:pPr algn="ctr"/>
                      <a:r>
                        <a:rPr lang="id-ID" dirty="0">
                          <a:solidFill>
                            <a:srgbClr val="00B050"/>
                          </a:solidFill>
                        </a:rPr>
                        <a:t>1.881</a:t>
                      </a:r>
                    </a:p>
                    <a:p>
                      <a:pPr algn="ctr"/>
                      <a:r>
                        <a:rPr lang="id-ID" dirty="0">
                          <a:solidFill>
                            <a:srgbClr val="00B050"/>
                          </a:solidFill>
                        </a:rPr>
                        <a:t>0.242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2000" b="1" dirty="0">
                          <a:solidFill>
                            <a:srgbClr val="00B050"/>
                          </a:solidFill>
                          <a:highlight>
                            <a:srgbClr val="FFFF00"/>
                          </a:highlight>
                        </a:rPr>
                        <a:t>0.292</a:t>
                      </a:r>
                    </a:p>
                    <a:p>
                      <a:pPr algn="ctr"/>
                      <a:r>
                        <a:rPr lang="id-ID" sz="2000" b="1" dirty="0">
                          <a:solidFill>
                            <a:srgbClr val="00B050"/>
                          </a:solidFill>
                          <a:highlight>
                            <a:srgbClr val="FFFF00"/>
                          </a:highlight>
                        </a:rPr>
                        <a:t>0.627</a:t>
                      </a:r>
                    </a:p>
                    <a:p>
                      <a:pPr algn="ctr"/>
                      <a:r>
                        <a:rPr lang="id-ID" sz="2000" b="1" dirty="0">
                          <a:solidFill>
                            <a:srgbClr val="00B050"/>
                          </a:solidFill>
                          <a:highlight>
                            <a:srgbClr val="FFFF00"/>
                          </a:highlight>
                        </a:rPr>
                        <a:t>0.0081</a:t>
                      </a:r>
                      <a:endParaRPr lang="en-US" sz="2000" b="1" dirty="0">
                        <a:solidFill>
                          <a:srgbClr val="00B05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D7BC43E2-678F-4430-8273-9A8AEDF60D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5245447"/>
              </p:ext>
            </p:extLst>
          </p:nvPr>
        </p:nvGraphicFramePr>
        <p:xfrm>
          <a:off x="1394460" y="1746290"/>
          <a:ext cx="6583680" cy="15595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Kriteria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K.Jaringan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Kredibilitas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Pembayaran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solidFill>
                            <a:schemeClr val="bg1"/>
                          </a:solidFill>
                        </a:rPr>
                        <a:t>K.Jaringan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id-ID" dirty="0">
                          <a:solidFill>
                            <a:schemeClr val="bg1"/>
                          </a:solidFill>
                        </a:rPr>
                        <a:t>Kredibilitas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id-ID" dirty="0">
                          <a:solidFill>
                            <a:schemeClr val="bg1"/>
                          </a:solidFill>
                        </a:rPr>
                        <a:t>Pembayaran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id-ID" dirty="0">
                          <a:solidFill>
                            <a:schemeClr val="bg1"/>
                          </a:solidFill>
                        </a:rPr>
                        <a:t>Jumlah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  <a:p>
                      <a:pPr algn="ctr"/>
                      <a:r>
                        <a:rPr lang="id-ID" dirty="0">
                          <a:highlight>
                            <a:srgbClr val="FFFF00"/>
                          </a:highlight>
                        </a:rPr>
                        <a:t>3</a:t>
                      </a:r>
                      <a:endParaRPr lang="en-US" dirty="0">
                        <a:highlight>
                          <a:srgbClr val="FFFF00"/>
                        </a:highlight>
                      </a:endParaRPr>
                    </a:p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0.2</a:t>
                      </a:r>
                      <a:endParaRPr lang="id-ID" dirty="0">
                        <a:highlight>
                          <a:srgbClr val="FFFF00"/>
                        </a:highlight>
                      </a:endParaRPr>
                    </a:p>
                    <a:p>
                      <a:pPr algn="ctr"/>
                      <a:r>
                        <a:rPr lang="id-ID" dirty="0">
                          <a:solidFill>
                            <a:srgbClr val="0070C0"/>
                          </a:solidFill>
                        </a:rPr>
                        <a:t>4.2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0.333</a:t>
                      </a:r>
                    </a:p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0.167</a:t>
                      </a:r>
                    </a:p>
                    <a:p>
                      <a:pPr algn="ctr"/>
                      <a:r>
                        <a:rPr lang="id-ID" dirty="0"/>
                        <a:t>1.5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highlight>
                            <a:srgbClr val="FFFF00"/>
                          </a:highlight>
                        </a:rPr>
                        <a:t>5</a:t>
                      </a:r>
                      <a:endParaRPr lang="en-US" dirty="0">
                        <a:highlight>
                          <a:srgbClr val="FFFF00"/>
                        </a:highlight>
                      </a:endParaRPr>
                    </a:p>
                    <a:p>
                      <a:pPr algn="ctr"/>
                      <a:r>
                        <a:rPr lang="id-ID" dirty="0">
                          <a:highlight>
                            <a:srgbClr val="FFFF00"/>
                          </a:highlight>
                        </a:rPr>
                        <a:t>6</a:t>
                      </a:r>
                      <a:endParaRPr lang="en-US" dirty="0">
                        <a:highlight>
                          <a:srgbClr val="FFFF00"/>
                        </a:highlight>
                      </a:endParaRPr>
                    </a:p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  <a:p>
                      <a:pPr algn="ctr"/>
                      <a:r>
                        <a:rPr lang="id-ID" dirty="0"/>
                        <a:t>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72E8C8-AFA0-4284-9437-DC7CD3CDFCF1}"/>
              </a:ext>
            </a:extLst>
          </p:cNvPr>
          <p:cNvCxnSpPr/>
          <p:nvPr/>
        </p:nvCxnSpPr>
        <p:spPr>
          <a:xfrm>
            <a:off x="1426527" y="3008190"/>
            <a:ext cx="655161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DED54DF-CB21-4578-A8FC-4126FAB4D36F}"/>
              </a:ext>
            </a:extLst>
          </p:cNvPr>
          <p:cNvSpPr/>
          <p:nvPr/>
        </p:nvSpPr>
        <p:spPr>
          <a:xfrm>
            <a:off x="3225463" y="3461972"/>
            <a:ext cx="3280261" cy="4016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Normalization 1 / 4.2 = </a:t>
            </a:r>
            <a:r>
              <a:rPr lang="en-US" dirty="0">
                <a:solidFill>
                  <a:srgbClr val="0070C0"/>
                </a:solidFill>
              </a:rPr>
              <a:t>0.238</a:t>
            </a:r>
            <a:endParaRPr lang="en-ID" dirty="0">
              <a:solidFill>
                <a:srgbClr val="0070C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1A55EBF-1937-4D78-9602-F3E35867152B}"/>
              </a:ext>
            </a:extLst>
          </p:cNvPr>
          <p:cNvCxnSpPr>
            <a:cxnSpLocks/>
          </p:cNvCxnSpPr>
          <p:nvPr/>
        </p:nvCxnSpPr>
        <p:spPr>
          <a:xfrm>
            <a:off x="9333158" y="3533190"/>
            <a:ext cx="0" cy="59213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D063018B-C7B0-40CB-81DA-6D855D8320B4}"/>
              </a:ext>
            </a:extLst>
          </p:cNvPr>
          <p:cNvSpPr/>
          <p:nvPr/>
        </p:nvSpPr>
        <p:spPr>
          <a:xfrm>
            <a:off x="8243621" y="3200283"/>
            <a:ext cx="2203638" cy="2815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>
                <a:solidFill>
                  <a:srgbClr val="0070C0"/>
                </a:solidFill>
                <a:highlight>
                  <a:srgbClr val="00FF00"/>
                </a:highlight>
              </a:rPr>
              <a:t>Jumlah</a:t>
            </a:r>
            <a:r>
              <a:rPr lang="en-US" dirty="0">
                <a:solidFill>
                  <a:srgbClr val="0070C0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  <a:highlight>
                  <a:srgbClr val="0000FF"/>
                </a:highlight>
              </a:rPr>
              <a:t>kuantitas</a:t>
            </a:r>
            <a:endParaRPr lang="en-ID" dirty="0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C9263684-3158-4970-B880-0A83006651BA}"/>
              </a:ext>
            </a:extLst>
          </p:cNvPr>
          <p:cNvSpPr/>
          <p:nvPr/>
        </p:nvSpPr>
        <p:spPr>
          <a:xfrm>
            <a:off x="9463333" y="3660168"/>
            <a:ext cx="2022475" cy="2571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600" dirty="0"/>
              <a:t>Eigen Vector</a:t>
            </a:r>
          </a:p>
        </p:txBody>
      </p:sp>
      <p:sp>
        <p:nvSpPr>
          <p:cNvPr id="15" name="Down Arrow 7">
            <a:extLst>
              <a:ext uri="{FF2B5EF4-FFF2-40B4-BE49-F238E27FC236}">
                <a16:creationId xmlns:a16="http://schemas.microsoft.com/office/drawing/2014/main" id="{C8AE9F56-5F35-4147-8BDC-07E1C81804EA}"/>
              </a:ext>
            </a:extLst>
          </p:cNvPr>
          <p:cNvSpPr/>
          <p:nvPr/>
        </p:nvSpPr>
        <p:spPr>
          <a:xfrm>
            <a:off x="9463333" y="3944353"/>
            <a:ext cx="133350" cy="21590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sp>
        <p:nvSpPr>
          <p:cNvPr id="2" name="Right Arrow 1"/>
          <p:cNvSpPr/>
          <p:nvPr/>
        </p:nvSpPr>
        <p:spPr>
          <a:xfrm>
            <a:off x="10091348" y="5163870"/>
            <a:ext cx="441960" cy="762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0533308" y="5381957"/>
            <a:ext cx="14446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PW KRITERIA</a:t>
            </a:r>
            <a:endParaRPr lang="en-US" u="sng" dirty="0"/>
          </a:p>
        </p:txBody>
      </p:sp>
      <p:sp>
        <p:nvSpPr>
          <p:cNvPr id="10" name="Rounded Rectangle 9"/>
          <p:cNvSpPr/>
          <p:nvPr/>
        </p:nvSpPr>
        <p:spPr>
          <a:xfrm>
            <a:off x="3570157" y="2170396"/>
            <a:ext cx="627089" cy="218087"/>
          </a:xfrm>
          <a:prstGeom prst="round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3471471" y="5163870"/>
            <a:ext cx="824459" cy="218087"/>
          </a:xfrm>
          <a:prstGeom prst="round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/>
          <p:cNvGrpSpPr/>
          <p:nvPr/>
        </p:nvGrpSpPr>
        <p:grpSpPr>
          <a:xfrm>
            <a:off x="3130147" y="2279440"/>
            <a:ext cx="440011" cy="3005446"/>
            <a:chOff x="3130147" y="2279440"/>
            <a:chExt cx="440011" cy="3005446"/>
          </a:xfrm>
        </p:grpSpPr>
        <p:cxnSp>
          <p:nvCxnSpPr>
            <p:cNvPr id="27" name="Elbow Connector 26"/>
            <p:cNvCxnSpPr>
              <a:stCxn id="10" idx="1"/>
            </p:cNvCxnSpPr>
            <p:nvPr/>
          </p:nvCxnSpPr>
          <p:spPr>
            <a:xfrm rot="10800000" flipV="1">
              <a:off x="3132945" y="2279440"/>
              <a:ext cx="437213" cy="3005446"/>
            </a:xfrm>
            <a:prstGeom prst="bentConnector2">
              <a:avLst/>
            </a:prstGeom>
            <a:ln w="28575">
              <a:solidFill>
                <a:srgbClr val="F1542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3130147" y="5272913"/>
              <a:ext cx="382494" cy="0"/>
            </a:xfrm>
            <a:prstGeom prst="straightConnector1">
              <a:avLst/>
            </a:prstGeom>
            <a:ln w="28575">
              <a:solidFill>
                <a:srgbClr val="F1542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EB4356D7-F8C3-2AE3-7F3F-10AF4FF58C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5500347"/>
              </p:ext>
            </p:extLst>
          </p:nvPr>
        </p:nvGraphicFramePr>
        <p:xfrm>
          <a:off x="5797411" y="274270"/>
          <a:ext cx="4361457" cy="1315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70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Kriteria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K.Jaringan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Kredibilitas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Pembayaran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sz="1400" dirty="0">
                          <a:solidFill>
                            <a:schemeClr val="bg1"/>
                          </a:solidFill>
                        </a:rPr>
                        <a:t>K.Jaringan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id-ID" sz="1400" dirty="0">
                          <a:solidFill>
                            <a:schemeClr val="bg1"/>
                          </a:solidFill>
                        </a:rPr>
                        <a:t>Kredibilitas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id-ID" sz="1400" dirty="0">
                          <a:solidFill>
                            <a:schemeClr val="bg1"/>
                          </a:solidFill>
                        </a:rPr>
                        <a:t>Pembayaran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id-ID" sz="1400" dirty="0">
                          <a:solidFill>
                            <a:schemeClr val="bg1"/>
                          </a:solidFill>
                        </a:rPr>
                        <a:t>Jumlah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highlight>
                            <a:srgbClr val="800080"/>
                          </a:highlight>
                        </a:rPr>
                        <a:t>1/1</a:t>
                      </a:r>
                    </a:p>
                    <a:p>
                      <a:pPr algn="ctr"/>
                      <a:r>
                        <a:rPr lang="id-ID" sz="1400" dirty="0"/>
                        <a:t>3</a:t>
                      </a:r>
                      <a:r>
                        <a:rPr lang="en-US" sz="1400" dirty="0"/>
                        <a:t>/1</a:t>
                      </a:r>
                    </a:p>
                    <a:p>
                      <a:pPr algn="ctr"/>
                      <a:r>
                        <a:rPr lang="en-US" sz="1400" dirty="0"/>
                        <a:t>1/</a:t>
                      </a:r>
                      <a:r>
                        <a:rPr lang="id-ID" sz="1400" dirty="0"/>
                        <a:t>5</a:t>
                      </a:r>
                    </a:p>
                    <a:p>
                      <a:pPr algn="ctr"/>
                      <a:r>
                        <a:rPr lang="id-ID" sz="1400" dirty="0"/>
                        <a:t>4.2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1/</a:t>
                      </a:r>
                      <a:r>
                        <a:rPr lang="id-ID" sz="1400" dirty="0"/>
                        <a:t>3</a:t>
                      </a:r>
                      <a:endParaRPr lang="en-US" sz="1400" dirty="0"/>
                    </a:p>
                    <a:p>
                      <a:pPr algn="ctr"/>
                      <a:r>
                        <a:rPr lang="en-US" sz="1400" dirty="0">
                          <a:highlight>
                            <a:srgbClr val="800080"/>
                          </a:highlight>
                        </a:rPr>
                        <a:t>1/1</a:t>
                      </a:r>
                    </a:p>
                    <a:p>
                      <a:pPr algn="ctr"/>
                      <a:r>
                        <a:rPr lang="en-US" sz="1400" dirty="0"/>
                        <a:t>1/</a:t>
                      </a:r>
                      <a:r>
                        <a:rPr lang="id-ID" sz="1400" dirty="0"/>
                        <a:t>6</a:t>
                      </a:r>
                      <a:endParaRPr lang="en-US" sz="1400" dirty="0"/>
                    </a:p>
                    <a:p>
                      <a:pPr algn="ctr"/>
                      <a:r>
                        <a:rPr lang="id-ID" sz="1400" dirty="0"/>
                        <a:t>1.5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>
                          <a:highlight>
                            <a:srgbClr val="0000FF"/>
                          </a:highlight>
                        </a:rPr>
                        <a:t>5</a:t>
                      </a:r>
                      <a:r>
                        <a:rPr lang="en-US" sz="1400" dirty="0">
                          <a:highlight>
                            <a:srgbClr val="0000FF"/>
                          </a:highlight>
                        </a:rPr>
                        <a:t>/1</a:t>
                      </a:r>
                    </a:p>
                    <a:p>
                      <a:pPr algn="ctr"/>
                      <a:r>
                        <a:rPr lang="id-ID" sz="1400" dirty="0"/>
                        <a:t>6</a:t>
                      </a:r>
                      <a:r>
                        <a:rPr lang="en-US" sz="1400" dirty="0"/>
                        <a:t>/1</a:t>
                      </a:r>
                    </a:p>
                    <a:p>
                      <a:pPr algn="ctr"/>
                      <a:r>
                        <a:rPr lang="en-US" sz="1400" dirty="0">
                          <a:highlight>
                            <a:srgbClr val="800080"/>
                          </a:highlight>
                        </a:rPr>
                        <a:t>1/1</a:t>
                      </a:r>
                    </a:p>
                    <a:p>
                      <a:pPr algn="ctr"/>
                      <a:r>
                        <a:rPr lang="id-ID" sz="1400" dirty="0"/>
                        <a:t>12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9A10973-1CD9-B34B-AE4B-A06AE2533CB0}"/>
              </a:ext>
            </a:extLst>
          </p:cNvPr>
          <p:cNvCxnSpPr/>
          <p:nvPr/>
        </p:nvCxnSpPr>
        <p:spPr>
          <a:xfrm flipH="1">
            <a:off x="8081319" y="1690688"/>
            <a:ext cx="506627" cy="92894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5123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76400"/>
            <a:ext cx="10515600" cy="450056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id-ID" b="1" u="sng" dirty="0"/>
              <a:t>4. </a:t>
            </a:r>
            <a:r>
              <a:rPr lang="id-ID" b="1" u="sng" dirty="0" err="1"/>
              <a:t>Calculating</a:t>
            </a:r>
            <a:r>
              <a:rPr lang="id-ID" b="1" u="sng" dirty="0"/>
              <a:t> </a:t>
            </a:r>
            <a:r>
              <a:rPr lang="id-ID" b="1" u="sng" dirty="0" err="1"/>
              <a:t>the</a:t>
            </a:r>
            <a:r>
              <a:rPr lang="id-ID" b="1" u="sng" dirty="0"/>
              <a:t> </a:t>
            </a:r>
            <a:r>
              <a:rPr lang="id-ID" b="1" u="sng" dirty="0" err="1"/>
              <a:t>Consistency</a:t>
            </a:r>
            <a:r>
              <a:rPr lang="id-ID" b="1" u="sng" dirty="0"/>
              <a:t> Rasio (CR)</a:t>
            </a:r>
          </a:p>
          <a:p>
            <a:pPr marL="571500" indent="-457200">
              <a:buAutoNum type="alphaLcPeriod"/>
            </a:pPr>
            <a:r>
              <a:rPr lang="sv-SE" dirty="0" err="1"/>
              <a:t>Multiplying</a:t>
            </a:r>
            <a:r>
              <a:rPr lang="sv-SE" dirty="0"/>
              <a:t> the matrix by PW</a:t>
            </a:r>
          </a:p>
          <a:p>
            <a:pPr marL="571500" indent="-457200">
              <a:buAutoNum type="alphaLcPeriod"/>
            </a:pPr>
            <a:endParaRPr lang="id-ID" b="1" u="sng" dirty="0"/>
          </a:p>
          <a:p>
            <a:pPr marL="571500" indent="-457200">
              <a:buAutoNum type="alphaLcPeriod"/>
            </a:pPr>
            <a:endParaRPr lang="id-ID" b="1" u="sng" dirty="0"/>
          </a:p>
          <a:p>
            <a:pPr marL="114300" indent="0">
              <a:buNone/>
            </a:pPr>
            <a:endParaRPr lang="id-ID" b="1" u="sng" dirty="0"/>
          </a:p>
          <a:p>
            <a:pPr marL="114300" lvl="0" indent="0">
              <a:buNone/>
            </a:pPr>
            <a:r>
              <a:rPr lang="id-ID" dirty="0"/>
              <a:t>b. </a:t>
            </a:r>
            <a:r>
              <a:rPr lang="id-ID" dirty="0" err="1"/>
              <a:t>Divide</a:t>
            </a:r>
            <a:r>
              <a:rPr lang="id-ID" dirty="0"/>
              <a:t> </a:t>
            </a:r>
            <a:r>
              <a:rPr lang="id-ID" dirty="0" err="1"/>
              <a:t>the</a:t>
            </a:r>
            <a:r>
              <a:rPr lang="id-ID" dirty="0"/>
              <a:t> </a:t>
            </a:r>
            <a:r>
              <a:rPr lang="id-ID" dirty="0" err="1"/>
              <a:t>result</a:t>
            </a:r>
            <a:r>
              <a:rPr lang="id-ID" dirty="0"/>
              <a:t> </a:t>
            </a:r>
            <a:r>
              <a:rPr lang="id-ID" dirty="0" err="1"/>
              <a:t>of</a:t>
            </a:r>
            <a:r>
              <a:rPr lang="id-ID" dirty="0"/>
              <a:t> </a:t>
            </a:r>
            <a:r>
              <a:rPr lang="id-ID" dirty="0" err="1"/>
              <a:t>the</a:t>
            </a:r>
            <a:r>
              <a:rPr lang="id-ID" dirty="0"/>
              <a:t> </a:t>
            </a:r>
            <a:r>
              <a:rPr lang="id-ID" dirty="0" err="1"/>
              <a:t>above</a:t>
            </a:r>
            <a:r>
              <a:rPr lang="id-ID" dirty="0"/>
              <a:t> </a:t>
            </a:r>
            <a:r>
              <a:rPr lang="id-ID" dirty="0" err="1"/>
              <a:t>calculation</a:t>
            </a:r>
            <a:r>
              <a:rPr lang="id-ID" dirty="0"/>
              <a:t> </a:t>
            </a:r>
            <a:r>
              <a:rPr lang="id-ID" dirty="0" err="1"/>
              <a:t>by</a:t>
            </a:r>
            <a:r>
              <a:rPr lang="id-ID" dirty="0"/>
              <a:t> PW</a:t>
            </a:r>
          </a:p>
          <a:p>
            <a:pPr lvl="1"/>
            <a:r>
              <a:rPr lang="id-ID" dirty="0"/>
              <a:t>    K.Jaringan = 0.905/0.292 = </a:t>
            </a:r>
            <a:r>
              <a:rPr lang="id-ID" b="1" dirty="0"/>
              <a:t>3.095</a:t>
            </a:r>
          </a:p>
          <a:p>
            <a:pPr lvl="1"/>
            <a:r>
              <a:rPr lang="id-ID" dirty="0"/>
              <a:t>    Kredibilitas = 1.988/0.627 = </a:t>
            </a:r>
            <a:r>
              <a:rPr lang="id-ID" b="1" dirty="0"/>
              <a:t>3.171</a:t>
            </a:r>
          </a:p>
          <a:p>
            <a:pPr lvl="1"/>
            <a:r>
              <a:rPr lang="id-ID" dirty="0"/>
              <a:t>    Pembayaran = 0.244/0.081 = </a:t>
            </a:r>
            <a:r>
              <a:rPr lang="id-ID" b="1" dirty="0"/>
              <a:t>3.020</a:t>
            </a:r>
          </a:p>
          <a:p>
            <a:pPr lvl="1"/>
            <a:endParaRPr lang="en-US" dirty="0"/>
          </a:p>
        </p:txBody>
      </p:sp>
      <p:sp>
        <p:nvSpPr>
          <p:cNvPr id="4" name="Title 1"/>
          <p:cNvSpPr>
            <a:spLocks noGrp="1" noChangeArrowheads="1"/>
          </p:cNvSpPr>
          <p:nvPr>
            <p:ph type="title"/>
          </p:nvPr>
        </p:nvSpPr>
        <p:spPr>
          <a:xfrm>
            <a:off x="736600" y="283308"/>
            <a:ext cx="6192838" cy="1032609"/>
          </a:xfrm>
        </p:spPr>
        <p:txBody>
          <a:bodyPr/>
          <a:lstStyle/>
          <a:p>
            <a:r>
              <a:rPr lang="en-US" altLang="en-US" dirty="0"/>
              <a:t>Settlement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6850201" y="2770233"/>
            <a:ext cx="5266469" cy="602553"/>
          </a:xfrm>
          <a:prstGeom prst="rect">
            <a:avLst/>
          </a:prstGeom>
          <a:ln>
            <a:solidFill>
              <a:srgbClr val="F15429"/>
            </a:solidFill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13" t="71655" r="56088" b="14563"/>
          <a:stretch>
            <a:fillRect/>
          </a:stretch>
        </p:blipFill>
        <p:spPr bwMode="auto">
          <a:xfrm>
            <a:off x="1343819" y="2642636"/>
            <a:ext cx="4937904" cy="1191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005788" y="3693517"/>
            <a:ext cx="18272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b="1" i="1" dirty="0">
                <a:solidFill>
                  <a:schemeClr val="accent5">
                    <a:lumMod val="75000"/>
                  </a:schemeClr>
                </a:solidFill>
              </a:rPr>
              <a:t>Matriks bobot kriteria</a:t>
            </a:r>
            <a:endParaRPr lang="en-US" sz="1400" b="1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25126" y="3693517"/>
            <a:ext cx="4743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400" b="1" i="1" dirty="0">
                <a:solidFill>
                  <a:schemeClr val="accent5">
                    <a:lumMod val="75000"/>
                  </a:schemeClr>
                </a:solidFill>
              </a:rPr>
              <a:t>PW</a:t>
            </a:r>
            <a:endParaRPr lang="en-US" sz="1400" b="1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5" name="Straight Arrow Connector 14"/>
          <p:cNvCxnSpPr>
            <a:cxnSpLocks/>
          </p:cNvCxnSpPr>
          <p:nvPr/>
        </p:nvCxnSpPr>
        <p:spPr>
          <a:xfrm flipV="1">
            <a:off x="6188075" y="2911475"/>
            <a:ext cx="662126" cy="6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C2968A35-ECD2-C901-266E-32C0A9D777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6407072"/>
              </p:ext>
            </p:extLst>
          </p:nvPr>
        </p:nvGraphicFramePr>
        <p:xfrm>
          <a:off x="4050540" y="449091"/>
          <a:ext cx="6192840" cy="106914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48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82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826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Kriteria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K.Jaringan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Kredibilitas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Pembayaran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4346">
                <a:tc>
                  <a:txBody>
                    <a:bodyPr/>
                    <a:lstStyle/>
                    <a:p>
                      <a:pPr algn="ctr"/>
                      <a:r>
                        <a:rPr lang="id-ID" sz="1400" dirty="0">
                          <a:solidFill>
                            <a:schemeClr val="bg1"/>
                          </a:solidFill>
                        </a:rPr>
                        <a:t>K.Jaringan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id-ID" sz="1400" dirty="0">
                          <a:solidFill>
                            <a:schemeClr val="bg1"/>
                          </a:solidFill>
                        </a:rPr>
                        <a:t>Kredibilitas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id-ID" sz="1400" dirty="0">
                          <a:solidFill>
                            <a:schemeClr val="bg1"/>
                          </a:solidFill>
                        </a:rPr>
                        <a:t>Pembayaran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  <a:p>
                      <a:pPr algn="ctr"/>
                      <a:r>
                        <a:rPr lang="id-ID" sz="1400" dirty="0">
                          <a:highlight>
                            <a:srgbClr val="FFFF00"/>
                          </a:highlight>
                        </a:rPr>
                        <a:t>3</a:t>
                      </a:r>
                      <a:endParaRPr lang="en-US" sz="1400" dirty="0">
                        <a:highlight>
                          <a:srgbClr val="FFFF00"/>
                        </a:highlight>
                      </a:endParaRPr>
                    </a:p>
                    <a:p>
                      <a:pPr algn="ctr"/>
                      <a:r>
                        <a:rPr lang="en-US" sz="1400" dirty="0">
                          <a:highlight>
                            <a:srgbClr val="FFFF00"/>
                          </a:highlight>
                        </a:rP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highlight>
                            <a:srgbClr val="FFFF00"/>
                          </a:highlight>
                        </a:rPr>
                        <a:t>0.333</a:t>
                      </a:r>
                    </a:p>
                    <a:p>
                      <a:pPr algn="ctr"/>
                      <a:r>
                        <a:rPr lang="en-US" sz="1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  <a:p>
                      <a:pPr algn="ctr"/>
                      <a:r>
                        <a:rPr lang="en-US" sz="1400" dirty="0">
                          <a:highlight>
                            <a:srgbClr val="FFFF00"/>
                          </a:highlight>
                        </a:rPr>
                        <a:t>0.167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>
                          <a:highlight>
                            <a:srgbClr val="FFFF00"/>
                          </a:highlight>
                        </a:rPr>
                        <a:t>5</a:t>
                      </a:r>
                      <a:endParaRPr lang="en-US" sz="1400" dirty="0">
                        <a:highlight>
                          <a:srgbClr val="FFFF00"/>
                        </a:highlight>
                      </a:endParaRPr>
                    </a:p>
                    <a:p>
                      <a:pPr algn="ctr"/>
                      <a:r>
                        <a:rPr lang="id-ID" sz="1400" dirty="0">
                          <a:highlight>
                            <a:srgbClr val="FFFF00"/>
                          </a:highlight>
                        </a:rPr>
                        <a:t>6</a:t>
                      </a:r>
                      <a:endParaRPr lang="en-US" sz="1400" dirty="0">
                        <a:highlight>
                          <a:srgbClr val="FFFF00"/>
                        </a:highlight>
                      </a:endParaRPr>
                    </a:p>
                    <a:p>
                      <a:pPr algn="ctr"/>
                      <a:r>
                        <a:rPr lang="en-US" sz="1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3964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Settlement</a:t>
            </a:r>
            <a:endParaRPr lang="id-ID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85171"/>
                <a:ext cx="10180269" cy="3651504"/>
              </a:xfrm>
            </p:spPr>
            <p:txBody>
              <a:bodyPr rtlCol="0">
                <a:noAutofit/>
              </a:bodyPr>
              <a:lstStyle/>
              <a:p>
                <a:pPr marL="114300" indent="0" fontAlgn="auto">
                  <a:spcBef>
                    <a:spcPts val="930"/>
                  </a:spcBef>
                  <a:spcAft>
                    <a:spcPts val="0"/>
                  </a:spcAft>
                  <a:buFont typeface="Corbel" panose="020B0503020204020204" pitchFamily="34" charset="0"/>
                  <a:buNone/>
                  <a:defRPr/>
                </a:pPr>
                <a:r>
                  <a:rPr lang="id-ID" dirty="0"/>
                  <a:t>c. </a:t>
                </a:r>
                <a:r>
                  <a:rPr lang="en-US" dirty="0"/>
                  <a:t>Count </a:t>
                </a:r>
                <a:r>
                  <a:rPr lang="en-US" b="1" dirty="0" err="1"/>
                  <a:t>λmaks</a:t>
                </a:r>
                <a:r>
                  <a:rPr lang="en-US" b="1" dirty="0"/>
                  <a:t> </a:t>
                </a:r>
                <a:r>
                  <a:rPr lang="id-ID" b="1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𝑚𝑎𝑘𝑠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h𝑎𝑠𝑖𝑙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𝑝𝑒𝑟h𝑖𝑡𝑢𝑛𝑔𝑎𝑛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𝑝𝑜𝑖𝑛𝑡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nary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𝑗𝑢𝑚𝑙𝑎h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𝑒𝑙𝑒𝑚𝑒𝑛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𝑘𝑟𝑖𝑡𝑒𝑟𝑖𝑎</m:t>
                        </m:r>
                      </m:den>
                    </m:f>
                  </m:oMath>
                </a14:m>
                <a:endParaRPr lang="id-ID" b="1" dirty="0"/>
              </a:p>
              <a:p>
                <a:pPr marL="114300" indent="0" fontAlgn="auto">
                  <a:spcBef>
                    <a:spcPts val="930"/>
                  </a:spcBef>
                  <a:spcAft>
                    <a:spcPts val="0"/>
                  </a:spcAft>
                  <a:buFont typeface="Corbel" panose="020B0503020204020204" pitchFamily="34" charset="0"/>
                  <a:buNone/>
                  <a:defRPr/>
                </a:pPr>
                <a:endParaRPr lang="id-ID" dirty="0"/>
              </a:p>
              <a:p>
                <a:pPr marL="114300" indent="0" fontAlgn="auto">
                  <a:spcBef>
                    <a:spcPts val="930"/>
                  </a:spcBef>
                  <a:spcAft>
                    <a:spcPts val="0"/>
                  </a:spcAft>
                  <a:buFont typeface="Corbel" panose="020B0503020204020204" pitchFamily="34" charset="0"/>
                  <a:buNone/>
                  <a:defRPr/>
                </a:pPr>
                <a:endParaRPr lang="id-ID" dirty="0"/>
              </a:p>
              <a:p>
                <a:pPr marL="457200" indent="-457200" eaLnBrk="0" hangingPunct="0">
                  <a:spcBef>
                    <a:spcPct val="0"/>
                  </a:spcBef>
                  <a:buFont typeface="Corbel" panose="020B0503020204020204" pitchFamily="34" charset="0"/>
                  <a:buAutoNum type="alphaLcPeriod" startAt="4"/>
                  <a:tabLst>
                    <a:tab pos="685800" algn="l"/>
                  </a:tabLst>
                  <a:defRPr/>
                </a:pPr>
                <a:r>
                  <a:rPr lang="en-US" dirty="0">
                    <a:ea typeface="Times New Roman" panose="02020603050405020304" pitchFamily="18" charset="0"/>
                  </a:rPr>
                  <a:t>Count </a:t>
                </a:r>
                <a:r>
                  <a:rPr lang="en-US" i="1" dirty="0"/>
                  <a:t>Consistency Index</a:t>
                </a:r>
                <a:r>
                  <a:rPr lang="en-US" dirty="0"/>
                  <a:t>(CI)</a:t>
                </a:r>
                <a:r>
                  <a:rPr lang="id-ID" dirty="0"/>
                  <a:t> </a:t>
                </a:r>
                <a:r>
                  <a:rPr lang="id-ID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𝐶𝐼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𝑚𝑎𝑘𝑠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id-ID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d-ID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id-ID" i="1">
                            <a:latin typeface="Cambria Math" panose="02040503050406030204" pitchFamily="18" charset="0"/>
                          </a:rPr>
                          <m:t>−1)</m:t>
                        </m:r>
                      </m:den>
                    </m:f>
                    <m:r>
                      <a:rPr lang="id-ID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id-ID" dirty="0">
                  <a:ea typeface="Times New Roman" panose="02020603050405020304" pitchFamily="18" charset="0"/>
                </a:endParaRPr>
              </a:p>
              <a:p>
                <a:pPr marL="0" indent="0" eaLnBrk="0" hangingPunct="0">
                  <a:spcBef>
                    <a:spcPct val="0"/>
                  </a:spcBef>
                  <a:buFont typeface="Corbel" panose="020B0503020204020204" pitchFamily="34" charset="0"/>
                  <a:buNone/>
                  <a:tabLst>
                    <a:tab pos="685800" algn="l"/>
                  </a:tabLst>
                  <a:defRPr/>
                </a:pPr>
                <a:r>
                  <a:rPr lang="id-ID" dirty="0">
                    <a:ea typeface="Times New Roman" panose="02020603050405020304" pitchFamily="18" charset="0"/>
                  </a:rPr>
                  <a:t> </a:t>
                </a:r>
                <a:endParaRPr lang="id-ID" dirty="0"/>
              </a:p>
              <a:p>
                <a:pPr marL="114300" indent="0" fontAlgn="auto">
                  <a:spcBef>
                    <a:spcPts val="930"/>
                  </a:spcBef>
                  <a:spcAft>
                    <a:spcPts val="0"/>
                  </a:spcAft>
                  <a:buFont typeface="Corbel" panose="020B0503020204020204" pitchFamily="34" charset="0"/>
                  <a:buNone/>
                  <a:defRPr/>
                </a:pPr>
                <a:r>
                  <a:rPr lang="id-ID" dirty="0"/>
                  <a:t>e. </a:t>
                </a:r>
                <a:r>
                  <a:rPr lang="en-US" dirty="0"/>
                  <a:t>Consistency Ratio(CR) = CI/ RI</a:t>
                </a:r>
                <a:r>
                  <a:rPr lang="id-ID" dirty="0"/>
                  <a:t>. </a:t>
                </a:r>
              </a:p>
              <a:p>
                <a:pPr marL="114300" indent="0" fontAlgn="auto">
                  <a:spcBef>
                    <a:spcPts val="930"/>
                  </a:spcBef>
                  <a:spcAft>
                    <a:spcPts val="0"/>
                  </a:spcAft>
                  <a:buFont typeface="Corbel" panose="020B0503020204020204" pitchFamily="34" charset="0"/>
                  <a:buNone/>
                  <a:defRPr/>
                </a:pPr>
                <a:r>
                  <a:rPr lang="id-ID" dirty="0"/>
                  <a:t>    </a:t>
                </a:r>
                <a:r>
                  <a:rPr lang="en-US" dirty="0"/>
                  <a:t>From RC table Obtained for </a:t>
                </a:r>
                <a:r>
                  <a:rPr lang="en-US" b="1" dirty="0">
                    <a:highlight>
                      <a:srgbClr val="FFFF00"/>
                    </a:highlight>
                  </a:rPr>
                  <a:t>N = 3, RI = 0.58</a:t>
                </a:r>
                <a:r>
                  <a:rPr lang="en-US" dirty="0"/>
                  <a:t>. </a:t>
                </a:r>
                <a:endParaRPr lang="id-ID" dirty="0"/>
              </a:p>
              <a:p>
                <a:pPr marL="441325" indent="0" fontAlgn="auto">
                  <a:spcBef>
                    <a:spcPts val="930"/>
                  </a:spcBef>
                  <a:spcAft>
                    <a:spcPts val="0"/>
                  </a:spcAft>
                  <a:buFont typeface="Corbel" panose="020B0503020204020204" pitchFamily="34" charset="0"/>
                  <a:buNone/>
                  <a:defRPr/>
                </a:pPr>
                <a:r>
                  <a:rPr lang="en-US" dirty="0"/>
                  <a:t>Consistency Ratio(CR) = 0.047/0.58 = </a:t>
                </a:r>
                <a:r>
                  <a:rPr lang="en-US" dirty="0">
                    <a:highlight>
                      <a:srgbClr val="FFFF00"/>
                    </a:highlight>
                  </a:rPr>
                  <a:t>0.082</a:t>
                </a:r>
                <a:r>
                  <a:rPr lang="en-US" dirty="0"/>
                  <a:t> </a:t>
                </a:r>
                <a:r>
                  <a:rPr lang="en-ID" sz="2000" dirty="0"/>
                  <a:t>(</a:t>
                </a:r>
                <a:r>
                  <a:rPr lang="en-ID" sz="2000" b="1" dirty="0"/>
                  <a:t>&lt;=0.1</a:t>
                </a:r>
                <a:r>
                  <a:rPr lang="en-ID" sz="2000" dirty="0"/>
                  <a:t>, so that it is consistent) </a:t>
                </a:r>
                <a:br>
                  <a:rPr lang="en-ID" dirty="0">
                    <a:highlight>
                      <a:srgbClr val="FFFF00"/>
                    </a:highlight>
                  </a:rPr>
                </a:br>
                <a:endParaRPr lang="id-ID" dirty="0">
                  <a:highlight>
                    <a:srgbClr val="FFFF00"/>
                  </a:highlight>
                </a:endParaRPr>
              </a:p>
              <a:p>
                <a:pPr marL="114300" indent="0" fontAlgn="auto">
                  <a:spcBef>
                    <a:spcPts val="930"/>
                  </a:spcBef>
                  <a:spcAft>
                    <a:spcPts val="0"/>
                  </a:spcAft>
                  <a:buFont typeface="Corbel" panose="020B0503020204020204" pitchFamily="34" charset="0"/>
                  <a:buNone/>
                  <a:defRPr/>
                </a:pPr>
                <a:endParaRPr lang="id-ID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85171"/>
                <a:ext cx="10180269" cy="3651504"/>
              </a:xfrm>
              <a:blipFill>
                <a:blip r:embed="rId3"/>
                <a:stretch>
                  <a:fillRect l="-1247" t="-14583" b="-19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84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60" t="74609" r="59409" b="20470"/>
          <a:stretch>
            <a:fillRect/>
          </a:stretch>
        </p:blipFill>
        <p:spPr bwMode="auto">
          <a:xfrm>
            <a:off x="1524000" y="2151655"/>
            <a:ext cx="492601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5" name="Rectangle 23"/>
          <p:cNvSpPr>
            <a:spLocks noChangeArrowheads="1"/>
          </p:cNvSpPr>
          <p:nvPr/>
        </p:nvSpPr>
        <p:spPr bwMode="auto">
          <a:xfrm>
            <a:off x="1524000" y="444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/>
            <a:endParaRPr lang="en-US" altLang="en-US">
              <a:latin typeface="Arial" panose="020B0604020202020204" pitchFamily="34" charset="0"/>
            </a:endParaRPr>
          </a:p>
        </p:txBody>
      </p:sp>
      <p:grpSp>
        <p:nvGrpSpPr>
          <p:cNvPr id="35846" name="Group 1"/>
          <p:cNvGrpSpPr>
            <a:grpSpLocks/>
          </p:cNvGrpSpPr>
          <p:nvPr/>
        </p:nvGrpSpPr>
        <p:grpSpPr bwMode="auto">
          <a:xfrm>
            <a:off x="1519533" y="3681227"/>
            <a:ext cx="3384550" cy="503238"/>
            <a:chOff x="4659" y="644"/>
            <a:chExt cx="2608" cy="601"/>
          </a:xfrm>
        </p:grpSpPr>
        <p:sp>
          <p:nvSpPr>
            <p:cNvPr id="35851" name="Rectangle 22"/>
            <p:cNvSpPr>
              <a:spLocks noChangeArrowheads="1"/>
            </p:cNvSpPr>
            <p:nvPr/>
          </p:nvSpPr>
          <p:spPr bwMode="auto">
            <a:xfrm>
              <a:off x="4659" y="644"/>
              <a:ext cx="2588" cy="3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id-ID" altLang="en-US"/>
            </a:p>
          </p:txBody>
        </p:sp>
        <p:sp>
          <p:nvSpPr>
            <p:cNvPr id="35852" name="Rectangle 21"/>
            <p:cNvSpPr>
              <a:spLocks noChangeArrowheads="1"/>
            </p:cNvSpPr>
            <p:nvPr/>
          </p:nvSpPr>
          <p:spPr bwMode="auto">
            <a:xfrm>
              <a:off x="4659" y="678"/>
              <a:ext cx="2588" cy="56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id-ID" altLang="en-US"/>
            </a:p>
          </p:txBody>
        </p:sp>
        <p:sp>
          <p:nvSpPr>
            <p:cNvPr id="35853" name="Rectangle 20"/>
            <p:cNvSpPr>
              <a:spLocks noChangeArrowheads="1"/>
            </p:cNvSpPr>
            <p:nvPr/>
          </p:nvSpPr>
          <p:spPr bwMode="auto">
            <a:xfrm>
              <a:off x="4659" y="867"/>
              <a:ext cx="212" cy="16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id-ID" altLang="en-US"/>
            </a:p>
          </p:txBody>
        </p:sp>
        <p:sp>
          <p:nvSpPr>
            <p:cNvPr id="35854" name="Rectangle 19"/>
            <p:cNvSpPr>
              <a:spLocks noChangeArrowheads="1"/>
            </p:cNvSpPr>
            <p:nvPr/>
          </p:nvSpPr>
          <p:spPr bwMode="auto">
            <a:xfrm>
              <a:off x="4865" y="973"/>
              <a:ext cx="99" cy="10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id-ID" altLang="en-US"/>
            </a:p>
          </p:txBody>
        </p:sp>
        <p:sp>
          <p:nvSpPr>
            <p:cNvPr id="35855" name="Line 18"/>
            <p:cNvSpPr>
              <a:spLocks noChangeShapeType="1"/>
            </p:cNvSpPr>
            <p:nvPr/>
          </p:nvSpPr>
          <p:spPr bwMode="auto">
            <a:xfrm>
              <a:off x="5043" y="979"/>
              <a:ext cx="180" cy="0"/>
            </a:xfrm>
            <a:prstGeom prst="line">
              <a:avLst/>
            </a:prstGeom>
            <a:noFill/>
            <a:ln w="65532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56" name="Rectangle 17"/>
            <p:cNvSpPr>
              <a:spLocks noChangeArrowheads="1"/>
            </p:cNvSpPr>
            <p:nvPr/>
          </p:nvSpPr>
          <p:spPr bwMode="auto">
            <a:xfrm>
              <a:off x="5389" y="678"/>
              <a:ext cx="867" cy="22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id-ID" altLang="en-US"/>
            </a:p>
          </p:txBody>
        </p:sp>
        <p:sp>
          <p:nvSpPr>
            <p:cNvPr id="35857" name="Line 16"/>
            <p:cNvSpPr>
              <a:spLocks noChangeShapeType="1"/>
            </p:cNvSpPr>
            <p:nvPr/>
          </p:nvSpPr>
          <p:spPr bwMode="auto">
            <a:xfrm>
              <a:off x="5339" y="678"/>
              <a:ext cx="0" cy="223"/>
            </a:xfrm>
            <a:prstGeom prst="line">
              <a:avLst/>
            </a:prstGeom>
            <a:noFill/>
            <a:ln w="6400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58" name="Rectangle 15"/>
            <p:cNvSpPr>
              <a:spLocks noChangeArrowheads="1"/>
            </p:cNvSpPr>
            <p:nvPr/>
          </p:nvSpPr>
          <p:spPr bwMode="auto">
            <a:xfrm>
              <a:off x="5521" y="822"/>
              <a:ext cx="51" cy="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id-ID" altLang="en-US"/>
            </a:p>
          </p:txBody>
        </p:sp>
        <p:sp>
          <p:nvSpPr>
            <p:cNvPr id="35859" name="Line 14"/>
            <p:cNvSpPr>
              <a:spLocks noChangeShapeType="1"/>
            </p:cNvSpPr>
            <p:nvPr/>
          </p:nvSpPr>
          <p:spPr bwMode="auto">
            <a:xfrm>
              <a:off x="5888" y="810"/>
              <a:ext cx="180" cy="0"/>
            </a:xfrm>
            <a:prstGeom prst="line">
              <a:avLst/>
            </a:prstGeom>
            <a:noFill/>
            <a:ln w="4876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0" name="Line 13"/>
            <p:cNvSpPr>
              <a:spLocks noChangeShapeType="1"/>
            </p:cNvSpPr>
            <p:nvPr/>
          </p:nvSpPr>
          <p:spPr bwMode="auto">
            <a:xfrm>
              <a:off x="6306" y="678"/>
              <a:ext cx="0" cy="223"/>
            </a:xfrm>
            <a:prstGeom prst="line">
              <a:avLst/>
            </a:prstGeom>
            <a:noFill/>
            <a:ln w="6400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1" name="Rectangle 12"/>
            <p:cNvSpPr>
              <a:spLocks noChangeArrowheads="1"/>
            </p:cNvSpPr>
            <p:nvPr/>
          </p:nvSpPr>
          <p:spPr bwMode="auto">
            <a:xfrm>
              <a:off x="5547" y="1021"/>
              <a:ext cx="550" cy="22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id-ID" altLang="en-US"/>
            </a:p>
          </p:txBody>
        </p:sp>
        <p:sp>
          <p:nvSpPr>
            <p:cNvPr id="35862" name="Rectangle 11"/>
            <p:cNvSpPr>
              <a:spLocks noChangeArrowheads="1"/>
            </p:cNvSpPr>
            <p:nvPr/>
          </p:nvSpPr>
          <p:spPr bwMode="auto">
            <a:xfrm>
              <a:off x="5444" y="1021"/>
              <a:ext cx="3" cy="22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id-ID" altLang="en-US"/>
            </a:p>
          </p:txBody>
        </p:sp>
        <p:sp>
          <p:nvSpPr>
            <p:cNvPr id="35863" name="Line 10"/>
            <p:cNvSpPr>
              <a:spLocks noChangeShapeType="1"/>
            </p:cNvSpPr>
            <p:nvPr/>
          </p:nvSpPr>
          <p:spPr bwMode="auto">
            <a:xfrm>
              <a:off x="5497" y="1021"/>
              <a:ext cx="0" cy="223"/>
            </a:xfrm>
            <a:prstGeom prst="line">
              <a:avLst/>
            </a:prstGeom>
            <a:noFill/>
            <a:ln w="6400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4" name="Line 9"/>
            <p:cNvSpPr>
              <a:spLocks noChangeShapeType="1"/>
            </p:cNvSpPr>
            <p:nvPr/>
          </p:nvSpPr>
          <p:spPr bwMode="auto">
            <a:xfrm>
              <a:off x="5732" y="1153"/>
              <a:ext cx="180" cy="0"/>
            </a:xfrm>
            <a:prstGeom prst="line">
              <a:avLst/>
            </a:prstGeom>
            <a:noFill/>
            <a:ln w="4876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5" name="Line 8"/>
            <p:cNvSpPr>
              <a:spLocks noChangeShapeType="1"/>
            </p:cNvSpPr>
            <p:nvPr/>
          </p:nvSpPr>
          <p:spPr bwMode="auto">
            <a:xfrm>
              <a:off x="6147" y="1021"/>
              <a:ext cx="0" cy="223"/>
            </a:xfrm>
            <a:prstGeom prst="line">
              <a:avLst/>
            </a:prstGeom>
            <a:noFill/>
            <a:ln w="64008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6" name="Line 7"/>
            <p:cNvSpPr>
              <a:spLocks noChangeShapeType="1"/>
            </p:cNvSpPr>
            <p:nvPr/>
          </p:nvSpPr>
          <p:spPr bwMode="auto">
            <a:xfrm>
              <a:off x="5288" y="962"/>
              <a:ext cx="1066" cy="0"/>
            </a:xfrm>
            <a:prstGeom prst="line">
              <a:avLst/>
            </a:prstGeom>
            <a:noFill/>
            <a:ln w="1066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7" name="Line 6"/>
            <p:cNvSpPr>
              <a:spLocks noChangeShapeType="1"/>
            </p:cNvSpPr>
            <p:nvPr/>
          </p:nvSpPr>
          <p:spPr bwMode="auto">
            <a:xfrm>
              <a:off x="6421" y="979"/>
              <a:ext cx="180" cy="0"/>
            </a:xfrm>
            <a:prstGeom prst="line">
              <a:avLst/>
            </a:prstGeom>
            <a:noFill/>
            <a:ln w="65532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8" name="Rectangle 5"/>
            <p:cNvSpPr>
              <a:spLocks noChangeArrowheads="1"/>
            </p:cNvSpPr>
            <p:nvPr/>
          </p:nvSpPr>
          <p:spPr bwMode="auto">
            <a:xfrm>
              <a:off x="6800" y="1004"/>
              <a:ext cx="51" cy="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id-ID" altLang="en-US"/>
            </a:p>
          </p:txBody>
        </p:sp>
        <p:sp>
          <p:nvSpPr>
            <p:cNvPr id="35869" name="Text Box 4"/>
            <p:cNvSpPr txBox="1">
              <a:spLocks noChangeArrowheads="1"/>
            </p:cNvSpPr>
            <p:nvPr/>
          </p:nvSpPr>
          <p:spPr bwMode="auto">
            <a:xfrm>
              <a:off x="6421" y="843"/>
              <a:ext cx="846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defTabSz="914400"/>
              <a:r>
                <a:rPr lang="en-US" altLang="en-US" dirty="0">
                  <a:latin typeface="Arial" panose="020B0604020202020204" pitchFamily="34" charset="0"/>
                  <a:cs typeface="Times New Roman" panose="02020603050405020304" pitchFamily="18" charset="0"/>
                </a:rPr>
                <a:t>= 0.047</a:t>
              </a:r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870" name="Text Box 3"/>
            <p:cNvSpPr txBox="1">
              <a:spLocks noChangeArrowheads="1"/>
            </p:cNvSpPr>
            <p:nvPr/>
          </p:nvSpPr>
          <p:spPr bwMode="auto">
            <a:xfrm>
              <a:off x="5288" y="661"/>
              <a:ext cx="1087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defTabSz="914400"/>
              <a:r>
                <a:rPr lang="en-US" altLang="en-US" dirty="0">
                  <a:latin typeface="Arial" panose="020B0604020202020204" pitchFamily="34" charset="0"/>
                  <a:cs typeface="Times New Roman" panose="02020603050405020304" pitchFamily="18" charset="0"/>
                </a:rPr>
                <a:t>(3.09 − 3)</a:t>
              </a:r>
              <a:endParaRPr lang="en-US" altLang="en-US" dirty="0">
                <a:latin typeface="Arial" panose="020B0604020202020204" pitchFamily="34" charset="0"/>
              </a:endParaRPr>
            </a:p>
            <a:p>
              <a:pPr algn="ctr" defTabSz="914400"/>
              <a:r>
                <a:rPr lang="en-US" altLang="en-US" dirty="0">
                  <a:latin typeface="Arial" panose="020B0604020202020204" pitchFamily="34" charset="0"/>
                  <a:cs typeface="Times New Roman" panose="02020603050405020304" pitchFamily="18" charset="0"/>
                </a:rPr>
                <a:t>(3 − 1)</a:t>
              </a:r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871" name="Text Box 2"/>
            <p:cNvSpPr txBox="1">
              <a:spLocks noChangeArrowheads="1"/>
            </p:cNvSpPr>
            <p:nvPr/>
          </p:nvSpPr>
          <p:spPr bwMode="auto">
            <a:xfrm>
              <a:off x="4659" y="843"/>
              <a:ext cx="584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defTabSz="914400"/>
              <a:r>
                <a:rPr lang="en-US" altLang="en-US" dirty="0">
                  <a:latin typeface="Arial" panose="020B0604020202020204" pitchFamily="34" charset="0"/>
                  <a:cs typeface="Times New Roman" panose="02020603050405020304" pitchFamily="18" charset="0"/>
                </a:rPr>
                <a:t>CI</a:t>
              </a:r>
              <a:r>
                <a:rPr lang="en-US" altLang="en-US" baseline="-30000" dirty="0">
                  <a:latin typeface="Arial" panose="020B0604020202020204" pitchFamily="34" charset="0"/>
                  <a:cs typeface="Times New Roman" panose="02020603050405020304" pitchFamily="18" charset="0"/>
                </a:rPr>
                <a:t>1</a:t>
              </a:r>
              <a:r>
                <a:rPr lang="en-US" altLang="en-US" dirty="0">
                  <a:latin typeface="Arial" panose="020B0604020202020204" pitchFamily="34" charset="0"/>
                  <a:cs typeface="Times New Roman" panose="02020603050405020304" pitchFamily="18" charset="0"/>
                </a:rPr>
                <a:t> =</a:t>
              </a:r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5847" name="Rectangle 27"/>
          <p:cNvSpPr>
            <a:spLocks noChangeArrowheads="1"/>
          </p:cNvSpPr>
          <p:nvPr/>
        </p:nvSpPr>
        <p:spPr bwMode="auto">
          <a:xfrm>
            <a:off x="2209800" y="415925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6858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6858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6858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6858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6858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/>
            <a:endParaRPr lang="en-US" altLang="en-US">
              <a:latin typeface="Arial" panose="020B0604020202020204" pitchFamily="34" charset="0"/>
            </a:endParaRPr>
          </a:p>
        </p:txBody>
      </p:sp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E4865C61-7425-A817-BE4C-2B91ADB764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7458350"/>
              </p:ext>
            </p:extLst>
          </p:nvPr>
        </p:nvGraphicFramePr>
        <p:xfrm>
          <a:off x="6424920" y="3830273"/>
          <a:ext cx="5544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362932055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u="sn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/>
                        <a:t>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0" dirty="0"/>
                        <a:t>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0" dirty="0"/>
                        <a:t>0,00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0,58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0,90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1,12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1,24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1,32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1,41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1,45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1,51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3636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 noChangeArrowheads="1"/>
          </p:cNvSpPr>
          <p:nvPr>
            <p:ph type="title"/>
          </p:nvPr>
        </p:nvSpPr>
        <p:spPr>
          <a:xfrm>
            <a:off x="853440" y="365340"/>
            <a:ext cx="10515600" cy="1325563"/>
          </a:xfrm>
        </p:spPr>
        <p:txBody>
          <a:bodyPr/>
          <a:lstStyle/>
          <a:p>
            <a:r>
              <a:rPr lang="en-US" altLang="en-US" dirty="0"/>
              <a:t>Settlement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3440" y="1568983"/>
            <a:ext cx="10927080" cy="3651504"/>
          </a:xfrm>
        </p:spPr>
        <p:txBody>
          <a:bodyPr rtlCol="0">
            <a:normAutofit/>
          </a:bodyPr>
          <a:lstStyle/>
          <a:p>
            <a:pPr marL="114300" indent="0" fontAlgn="auto">
              <a:spcBef>
                <a:spcPts val="930"/>
              </a:spcBef>
              <a:spcAft>
                <a:spcPts val="0"/>
              </a:spcAft>
              <a:buFont typeface="Corbel" panose="020B0503020204020204" pitchFamily="34" charset="0"/>
              <a:buNone/>
              <a:defRPr/>
            </a:pPr>
            <a:r>
              <a:rPr lang="id-ID" b="1" u="sng" dirty="0"/>
              <a:t>5. </a:t>
            </a:r>
            <a:r>
              <a:rPr lang="id-ID" b="1" u="sng" dirty="0" err="1"/>
              <a:t>Calculate</a:t>
            </a:r>
            <a:r>
              <a:rPr lang="id-ID" b="1" u="sng" dirty="0"/>
              <a:t> </a:t>
            </a:r>
            <a:r>
              <a:rPr lang="id-ID" b="1" u="sng" dirty="0" err="1"/>
              <a:t>the</a:t>
            </a:r>
            <a:r>
              <a:rPr lang="id-ID" b="1" u="sng" dirty="0"/>
              <a:t> </a:t>
            </a:r>
            <a:r>
              <a:rPr lang="id-ID" b="1" u="sng" dirty="0" err="1"/>
              <a:t>Paired</a:t>
            </a:r>
            <a:r>
              <a:rPr lang="id-ID" b="1" u="sng" dirty="0"/>
              <a:t> </a:t>
            </a:r>
            <a:r>
              <a:rPr lang="id-ID" b="1" u="sng" dirty="0" err="1"/>
              <a:t>comparison</a:t>
            </a:r>
            <a:r>
              <a:rPr lang="id-ID" b="1" u="sng" dirty="0"/>
              <a:t> </a:t>
            </a:r>
            <a:r>
              <a:rPr lang="id-ID" b="1" u="sng" dirty="0" err="1"/>
              <a:t>for</a:t>
            </a:r>
            <a:r>
              <a:rPr lang="id-ID" b="1" u="sng" dirty="0"/>
              <a:t> </a:t>
            </a:r>
            <a:r>
              <a:rPr lang="id-ID" b="1" u="sng" dirty="0" err="1"/>
              <a:t>alternatives</a:t>
            </a:r>
            <a:endParaRPr lang="id-ID" b="1" u="sng" dirty="0"/>
          </a:p>
          <a:p>
            <a:pPr marL="114300" indent="0" fontAlgn="auto">
              <a:spcBef>
                <a:spcPts val="930"/>
              </a:spcBef>
              <a:spcAft>
                <a:spcPts val="0"/>
              </a:spcAft>
              <a:buFont typeface="Corbel" panose="020B0503020204020204" pitchFamily="34" charset="0"/>
              <a:buNone/>
              <a:defRPr/>
            </a:pPr>
            <a:r>
              <a:rPr lang="id-ID" dirty="0"/>
              <a:t>By </a:t>
            </a:r>
            <a:r>
              <a:rPr lang="id-ID" dirty="0" err="1"/>
              <a:t>the</a:t>
            </a:r>
            <a:r>
              <a:rPr lang="id-ID" dirty="0"/>
              <a:t> </a:t>
            </a:r>
            <a:r>
              <a:rPr lang="id-ID" dirty="0" err="1"/>
              <a:t>same</a:t>
            </a:r>
            <a:r>
              <a:rPr lang="id-ID" dirty="0"/>
              <a:t> </a:t>
            </a:r>
            <a:r>
              <a:rPr lang="id-ID" dirty="0" err="1"/>
              <a:t>calculation</a:t>
            </a:r>
            <a:r>
              <a:rPr lang="id-ID" dirty="0"/>
              <a:t> </a:t>
            </a:r>
            <a:r>
              <a:rPr lang="id-ID" dirty="0" err="1"/>
              <a:t>method</a:t>
            </a:r>
            <a:r>
              <a:rPr lang="id-ID" dirty="0"/>
              <a:t>, </a:t>
            </a:r>
            <a:r>
              <a:rPr lang="id-ID" dirty="0" err="1"/>
              <a:t>the</a:t>
            </a:r>
            <a:r>
              <a:rPr lang="id-ID" dirty="0"/>
              <a:t> </a:t>
            </a:r>
            <a:r>
              <a:rPr lang="id-ID" dirty="0" err="1"/>
              <a:t>Consistency</a:t>
            </a:r>
            <a:r>
              <a:rPr lang="id-ID" dirty="0"/>
              <a:t> </a:t>
            </a:r>
            <a:r>
              <a:rPr lang="id-ID" dirty="0" err="1"/>
              <a:t>Ratio</a:t>
            </a:r>
            <a:r>
              <a:rPr lang="id-ID" dirty="0"/>
              <a:t> (CR) </a:t>
            </a:r>
            <a:r>
              <a:rPr lang="id-ID" dirty="0" err="1"/>
              <a:t>is</a:t>
            </a:r>
            <a:r>
              <a:rPr lang="id-ID" dirty="0"/>
              <a:t> </a:t>
            </a:r>
            <a:r>
              <a:rPr lang="id-ID" dirty="0" err="1"/>
              <a:t>obtained</a:t>
            </a:r>
            <a:r>
              <a:rPr lang="id-ID" dirty="0"/>
              <a:t> </a:t>
            </a:r>
            <a:r>
              <a:rPr lang="id-ID" dirty="0" err="1"/>
              <a:t>for</a:t>
            </a:r>
            <a:r>
              <a:rPr lang="id-ID" dirty="0"/>
              <a:t> </a:t>
            </a:r>
            <a:r>
              <a:rPr lang="id-ID" dirty="0" err="1"/>
              <a:t>the</a:t>
            </a:r>
            <a:r>
              <a:rPr lang="id-ID" dirty="0"/>
              <a:t> </a:t>
            </a:r>
            <a:r>
              <a:rPr lang="id-ID" dirty="0" err="1"/>
              <a:t>pairwise</a:t>
            </a:r>
            <a:r>
              <a:rPr lang="id-ID" dirty="0"/>
              <a:t> </a:t>
            </a:r>
            <a:r>
              <a:rPr lang="id-ID" dirty="0" err="1"/>
              <a:t>comparison</a:t>
            </a:r>
            <a:r>
              <a:rPr lang="id-ID" dirty="0"/>
              <a:t> </a:t>
            </a:r>
            <a:r>
              <a:rPr lang="id-ID" dirty="0" err="1"/>
              <a:t>between</a:t>
            </a:r>
            <a:r>
              <a:rPr lang="id-ID" dirty="0"/>
              <a:t> </a:t>
            </a:r>
            <a:r>
              <a:rPr lang="id-ID" dirty="0" err="1"/>
              <a:t>the</a:t>
            </a:r>
            <a:r>
              <a:rPr lang="id-ID" dirty="0"/>
              <a:t> </a:t>
            </a:r>
            <a:r>
              <a:rPr lang="id-ID" dirty="0" err="1"/>
              <a:t>alternatives</a:t>
            </a:r>
            <a:r>
              <a:rPr lang="id-ID" dirty="0"/>
              <a:t> as </a:t>
            </a:r>
            <a:r>
              <a:rPr lang="id-ID" dirty="0" err="1"/>
              <a:t>follows</a:t>
            </a:r>
            <a:r>
              <a:rPr lang="id-ID" dirty="0"/>
              <a:t>:</a:t>
            </a:r>
          </a:p>
          <a:p>
            <a:pPr marL="114300" indent="0" fontAlgn="auto">
              <a:spcBef>
                <a:spcPts val="930"/>
              </a:spcBef>
              <a:spcAft>
                <a:spcPts val="0"/>
              </a:spcAft>
              <a:buFont typeface="Corbel" panose="020B0503020204020204" pitchFamily="34" charset="0"/>
              <a:buNone/>
              <a:defRPr/>
            </a:pPr>
            <a:r>
              <a:rPr lang="id-ID" dirty="0" err="1"/>
              <a:t>a</a:t>
            </a:r>
            <a:r>
              <a:rPr lang="id-ID" dirty="0"/>
              <a:t>. </a:t>
            </a:r>
            <a:r>
              <a:rPr lang="en-US" dirty="0"/>
              <a:t>Consistency Ratio(CR) </a:t>
            </a:r>
            <a:r>
              <a:rPr lang="en-US" dirty="0" err="1"/>
              <a:t>kriteria</a:t>
            </a:r>
            <a:r>
              <a:rPr lang="en-US" dirty="0"/>
              <a:t> </a:t>
            </a:r>
            <a:r>
              <a:rPr lang="en-US" b="1" i="1" dirty="0" err="1"/>
              <a:t>Keluasan</a:t>
            </a:r>
            <a:r>
              <a:rPr lang="en-US" b="1" i="1" dirty="0"/>
              <a:t> </a:t>
            </a:r>
            <a:r>
              <a:rPr lang="en-US" b="1" i="1" dirty="0" err="1"/>
              <a:t>Jaringan</a:t>
            </a:r>
            <a:endParaRPr lang="en-US" b="1" i="1" dirty="0"/>
          </a:p>
        </p:txBody>
      </p:sp>
      <p:sp>
        <p:nvSpPr>
          <p:cNvPr id="37892" name="Rectangle 2"/>
          <p:cNvSpPr>
            <a:spLocks noChangeArrowheads="1"/>
          </p:cNvSpPr>
          <p:nvPr/>
        </p:nvSpPr>
        <p:spPr bwMode="auto">
          <a:xfrm>
            <a:off x="152400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7893" name="Rectangle 4"/>
          <p:cNvSpPr>
            <a:spLocks noChangeArrowheads="1"/>
          </p:cNvSpPr>
          <p:nvPr/>
        </p:nvSpPr>
        <p:spPr bwMode="auto">
          <a:xfrm>
            <a:off x="152400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25880" y="3902975"/>
          <a:ext cx="1004316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6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4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04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K.Jaringan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Makmur</a:t>
                      </a:r>
                      <a:r>
                        <a:rPr lang="id-ID" baseline="0" dirty="0"/>
                        <a:t> Jaya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Anugerah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Permata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</a:rPr>
                        <a:t>Priority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CR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dirty="0"/>
                        <a:t>Makmur</a:t>
                      </a:r>
                      <a:r>
                        <a:rPr lang="id-ID" baseline="0" dirty="0"/>
                        <a:t> Jaya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5</a:t>
                      </a:r>
                      <a:r>
                        <a:rPr lang="en-US" dirty="0"/>
                        <a:t>/1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7</a:t>
                      </a:r>
                      <a:r>
                        <a:rPr lang="en-US" dirty="0"/>
                        <a:t>/1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0.724</a:t>
                      </a:r>
                      <a:endParaRPr lang="id-ID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endParaRPr lang="id-ID" dirty="0"/>
                    </a:p>
                    <a:p>
                      <a:r>
                        <a:rPr lang="id-ID" dirty="0"/>
                        <a:t>0.057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dirty="0"/>
                        <a:t>Anugerah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1/5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3</a:t>
                      </a:r>
                      <a:r>
                        <a:rPr lang="en-US" dirty="0"/>
                        <a:t>/1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solidFill>
                            <a:srgbClr val="7030A0"/>
                          </a:solidFill>
                        </a:rPr>
                        <a:t>0.</a:t>
                      </a:r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193</a:t>
                      </a:r>
                      <a:endParaRPr lang="id-ID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dirty="0"/>
                        <a:t>Permata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1/7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1/3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solidFill>
                            <a:srgbClr val="7030A0"/>
                          </a:solidFill>
                        </a:rPr>
                        <a:t>0.</a:t>
                      </a:r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083</a:t>
                      </a:r>
                      <a:endParaRPr lang="id-ID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F7370594-F3A0-4116-95AC-0868B9C4A9FE}"/>
              </a:ext>
            </a:extLst>
          </p:cNvPr>
          <p:cNvSpPr/>
          <p:nvPr/>
        </p:nvSpPr>
        <p:spPr>
          <a:xfrm>
            <a:off x="5642482" y="5603064"/>
            <a:ext cx="65495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</a:rPr>
              <a:t>Consistency Ratio(CR) = 0.057 </a:t>
            </a:r>
            <a:r>
              <a:rPr lang="en-ID" dirty="0">
                <a:highlight>
                  <a:srgbClr val="FFFF00"/>
                </a:highlight>
                <a:latin typeface="+mn-lt"/>
              </a:rPr>
              <a:t>(&lt;=0.1, </a:t>
            </a:r>
            <a:r>
              <a:rPr lang="en-ID" dirty="0">
                <a:highlight>
                  <a:srgbClr val="FFFF00"/>
                </a:highlight>
              </a:rPr>
              <a:t>so that it is consistent) </a:t>
            </a:r>
            <a:endParaRPr lang="en-ID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79809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 noChangeArrowheads="1"/>
          </p:cNvSpPr>
          <p:nvPr>
            <p:ph type="title"/>
          </p:nvPr>
        </p:nvSpPr>
        <p:spPr>
          <a:xfrm>
            <a:off x="838200" y="234602"/>
            <a:ext cx="9360000" cy="1325563"/>
          </a:xfrm>
        </p:spPr>
        <p:txBody>
          <a:bodyPr/>
          <a:lstStyle/>
          <a:p>
            <a:r>
              <a:rPr lang="id-ID" altLang="en-US" dirty="0"/>
              <a:t>SETTLEMENT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3794"/>
            <a:ext cx="10515600" cy="4351338"/>
          </a:xfrm>
        </p:spPr>
        <p:txBody>
          <a:bodyPr rtlCol="0">
            <a:normAutofit/>
          </a:bodyPr>
          <a:lstStyle/>
          <a:p>
            <a:pPr marL="114300" indent="0" fontAlgn="auto">
              <a:spcBef>
                <a:spcPts val="930"/>
              </a:spcBef>
              <a:spcAft>
                <a:spcPts val="0"/>
              </a:spcAft>
              <a:buFont typeface="Corbel" panose="020B0503020204020204" pitchFamily="34" charset="0"/>
              <a:buNone/>
              <a:defRPr/>
            </a:pPr>
            <a:r>
              <a:rPr lang="id-ID" dirty="0"/>
              <a:t>b. </a:t>
            </a:r>
            <a:r>
              <a:rPr lang="en-US" dirty="0"/>
              <a:t>Consistency Ratio(CR) </a:t>
            </a:r>
            <a:r>
              <a:rPr lang="en-US" dirty="0" err="1"/>
              <a:t>kriteria</a:t>
            </a:r>
            <a:r>
              <a:rPr lang="en-US" dirty="0"/>
              <a:t> </a:t>
            </a:r>
            <a:r>
              <a:rPr lang="en-US" b="1" i="1" dirty="0"/>
              <a:t>K</a:t>
            </a:r>
            <a:r>
              <a:rPr lang="id-ID" b="1" i="1" dirty="0"/>
              <a:t>redibilitas</a:t>
            </a:r>
          </a:p>
          <a:p>
            <a:pPr marL="114300" indent="0" fontAlgn="auto">
              <a:spcBef>
                <a:spcPts val="930"/>
              </a:spcBef>
              <a:spcAft>
                <a:spcPts val="0"/>
              </a:spcAft>
              <a:buFont typeface="Corbel" panose="020B0503020204020204" pitchFamily="34" charset="0"/>
              <a:buNone/>
              <a:defRPr/>
            </a:pPr>
            <a:endParaRPr lang="id-ID" dirty="0"/>
          </a:p>
          <a:p>
            <a:pPr marL="320040" indent="-320040" fontAlgn="auto">
              <a:spcBef>
                <a:spcPts val="930"/>
              </a:spcBef>
              <a:spcAft>
                <a:spcPts val="0"/>
              </a:spcAft>
              <a:defRPr/>
            </a:pPr>
            <a:endParaRPr lang="id-ID" dirty="0"/>
          </a:p>
          <a:p>
            <a:pPr marL="114300" indent="0" fontAlgn="auto">
              <a:spcBef>
                <a:spcPts val="930"/>
              </a:spcBef>
              <a:spcAft>
                <a:spcPts val="0"/>
              </a:spcAft>
              <a:buFont typeface="Corbel" panose="020B0503020204020204" pitchFamily="34" charset="0"/>
              <a:buNone/>
              <a:defRPr/>
            </a:pPr>
            <a:endParaRPr lang="id-ID" dirty="0"/>
          </a:p>
          <a:p>
            <a:pPr marL="114300" indent="0" fontAlgn="auto">
              <a:spcBef>
                <a:spcPts val="930"/>
              </a:spcBef>
              <a:spcAft>
                <a:spcPts val="0"/>
              </a:spcAft>
              <a:buFont typeface="Corbel" panose="020B0503020204020204" pitchFamily="34" charset="0"/>
              <a:buNone/>
              <a:defRPr/>
            </a:pPr>
            <a:r>
              <a:rPr lang="en-US" dirty="0"/>
              <a:t> </a:t>
            </a:r>
            <a:endParaRPr lang="id-ID" dirty="0"/>
          </a:p>
          <a:p>
            <a:pPr marL="114300" indent="0" fontAlgn="auto">
              <a:spcBef>
                <a:spcPts val="930"/>
              </a:spcBef>
              <a:spcAft>
                <a:spcPts val="0"/>
              </a:spcAft>
              <a:buFont typeface="Corbel" panose="020B0503020204020204" pitchFamily="34" charset="0"/>
              <a:buNone/>
              <a:defRPr/>
            </a:pPr>
            <a:r>
              <a:rPr lang="id-ID" dirty="0"/>
              <a:t>c. </a:t>
            </a:r>
            <a:r>
              <a:rPr lang="en-US" dirty="0"/>
              <a:t>Consistency Ratio(CR) </a:t>
            </a:r>
            <a:r>
              <a:rPr lang="en-US" dirty="0" err="1"/>
              <a:t>kriteria</a:t>
            </a:r>
            <a:r>
              <a:rPr lang="en-US" dirty="0"/>
              <a:t> </a:t>
            </a:r>
            <a:r>
              <a:rPr lang="id-ID" b="1" i="1" dirty="0"/>
              <a:t>Pembayaran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557470"/>
              </p:ext>
            </p:extLst>
          </p:nvPr>
        </p:nvGraphicFramePr>
        <p:xfrm>
          <a:off x="1805371" y="1728108"/>
          <a:ext cx="8869364" cy="148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4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8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5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82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53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1078"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Kredibilitas</a:t>
                      </a:r>
                    </a:p>
                  </a:txBody>
                  <a:tcPr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Makmur</a:t>
                      </a:r>
                      <a:r>
                        <a:rPr lang="id-ID" sz="1800" baseline="0" dirty="0"/>
                        <a:t> Jaya</a:t>
                      </a:r>
                      <a:endParaRPr lang="id-ID" sz="1800" dirty="0"/>
                    </a:p>
                  </a:txBody>
                  <a:tcPr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Anugerah</a:t>
                      </a:r>
                    </a:p>
                  </a:txBody>
                  <a:tcPr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Permata</a:t>
                      </a:r>
                    </a:p>
                  </a:txBody>
                  <a:tcPr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</a:rPr>
                        <a:t>Priority Weight</a:t>
                      </a:r>
                      <a:endParaRPr lang="id-ID" sz="1800" dirty="0"/>
                    </a:p>
                  </a:txBody>
                  <a:tcPr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CR</a:t>
                      </a:r>
                    </a:p>
                  </a:txBody>
                  <a:tcPr marT="45749" marB="4574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r>
                        <a:rPr lang="id-ID" sz="1800" dirty="0"/>
                        <a:t>Makmur</a:t>
                      </a:r>
                      <a:r>
                        <a:rPr lang="id-ID" sz="1800" baseline="0" dirty="0"/>
                        <a:t> Jaya</a:t>
                      </a:r>
                      <a:endParaRPr lang="id-ID" sz="1800" dirty="0"/>
                    </a:p>
                  </a:txBody>
                  <a:tcPr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1</a:t>
                      </a:r>
                    </a:p>
                  </a:txBody>
                  <a:tcPr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5</a:t>
                      </a:r>
                    </a:p>
                  </a:txBody>
                  <a:tcPr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9</a:t>
                      </a:r>
                    </a:p>
                  </a:txBody>
                  <a:tcPr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0.748</a:t>
                      </a:r>
                    </a:p>
                  </a:txBody>
                  <a:tcPr marT="45749" marB="45749"/>
                </a:tc>
                <a:tc rowSpan="3">
                  <a:txBody>
                    <a:bodyPr/>
                    <a:lstStyle/>
                    <a:p>
                      <a:endParaRPr lang="id-ID" sz="1800" dirty="0"/>
                    </a:p>
                    <a:p>
                      <a:r>
                        <a:rPr lang="id-ID" sz="1800" dirty="0"/>
                        <a:t>0.025</a:t>
                      </a:r>
                    </a:p>
                  </a:txBody>
                  <a:tcPr marT="45749" marB="4574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r>
                        <a:rPr lang="id-ID" sz="1800" dirty="0"/>
                        <a:t>Anugerah</a:t>
                      </a:r>
                    </a:p>
                  </a:txBody>
                  <a:tcPr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0.2</a:t>
                      </a:r>
                    </a:p>
                  </a:txBody>
                  <a:tcPr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1</a:t>
                      </a:r>
                    </a:p>
                  </a:txBody>
                  <a:tcPr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3</a:t>
                      </a:r>
                    </a:p>
                  </a:txBody>
                  <a:tcPr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0.180</a:t>
                      </a:r>
                    </a:p>
                  </a:txBody>
                  <a:tcPr marT="45749" marB="45749"/>
                </a:tc>
                <a:tc v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r>
                        <a:rPr lang="id-ID" sz="1800" dirty="0"/>
                        <a:t>Permata</a:t>
                      </a:r>
                    </a:p>
                  </a:txBody>
                  <a:tcPr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0.1111</a:t>
                      </a:r>
                    </a:p>
                  </a:txBody>
                  <a:tcPr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0.333</a:t>
                      </a:r>
                    </a:p>
                  </a:txBody>
                  <a:tcPr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1</a:t>
                      </a:r>
                    </a:p>
                  </a:txBody>
                  <a:tcPr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0.071</a:t>
                      </a:r>
                    </a:p>
                  </a:txBody>
                  <a:tcPr marT="45749" marB="45749"/>
                </a:tc>
                <a:tc v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3443"/>
              </p:ext>
            </p:extLst>
          </p:nvPr>
        </p:nvGraphicFramePr>
        <p:xfrm>
          <a:off x="1805371" y="4221957"/>
          <a:ext cx="8870951" cy="148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4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9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7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8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56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1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1078"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Pembayaran</a:t>
                      </a:r>
                    </a:p>
                  </a:txBody>
                  <a:tcPr marL="91456" marR="91456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Makmur</a:t>
                      </a:r>
                      <a:r>
                        <a:rPr lang="id-ID" sz="1800" baseline="0" dirty="0"/>
                        <a:t> Jaya</a:t>
                      </a:r>
                      <a:endParaRPr lang="id-ID" sz="1800" dirty="0"/>
                    </a:p>
                  </a:txBody>
                  <a:tcPr marL="91456" marR="91456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Anugerah</a:t>
                      </a:r>
                    </a:p>
                  </a:txBody>
                  <a:tcPr marL="91456" marR="91456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Permata</a:t>
                      </a:r>
                    </a:p>
                  </a:txBody>
                  <a:tcPr marL="91456" marR="91456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solidFill>
                            <a:schemeClr val="bg1"/>
                          </a:solidFill>
                          <a:highlight>
                            <a:srgbClr val="800080"/>
                          </a:highlight>
                        </a:rPr>
                        <a:t>Priority Weight</a:t>
                      </a:r>
                      <a:endParaRPr lang="id-ID" sz="1800" dirty="0"/>
                    </a:p>
                  </a:txBody>
                  <a:tcPr marL="91456" marR="91456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CR</a:t>
                      </a:r>
                    </a:p>
                  </a:txBody>
                  <a:tcPr marL="91456" marR="91456" marT="45749" marB="4574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r>
                        <a:rPr lang="id-ID" sz="1800" dirty="0"/>
                        <a:t>Makmur</a:t>
                      </a:r>
                      <a:r>
                        <a:rPr lang="id-ID" sz="1800" baseline="0" dirty="0"/>
                        <a:t> Jaya</a:t>
                      </a:r>
                      <a:endParaRPr lang="id-ID" sz="1800" dirty="0"/>
                    </a:p>
                  </a:txBody>
                  <a:tcPr marL="91456" marR="91456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1</a:t>
                      </a:r>
                    </a:p>
                  </a:txBody>
                  <a:tcPr marL="91456" marR="91456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5</a:t>
                      </a:r>
                    </a:p>
                  </a:txBody>
                  <a:tcPr marL="91456" marR="91456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7</a:t>
                      </a:r>
                    </a:p>
                  </a:txBody>
                  <a:tcPr marL="91456" marR="91456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0.724</a:t>
                      </a:r>
                    </a:p>
                  </a:txBody>
                  <a:tcPr marL="91456" marR="91456" marT="45749" marB="45749"/>
                </a:tc>
                <a:tc rowSpan="3">
                  <a:txBody>
                    <a:bodyPr/>
                    <a:lstStyle/>
                    <a:p>
                      <a:endParaRPr lang="id-ID" sz="1800" dirty="0"/>
                    </a:p>
                    <a:p>
                      <a:r>
                        <a:rPr lang="id-ID" sz="1800" dirty="0"/>
                        <a:t>0.038</a:t>
                      </a:r>
                    </a:p>
                  </a:txBody>
                  <a:tcPr marL="91456" marR="91456" marT="45749" marB="4574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r>
                        <a:rPr lang="id-ID" sz="1800" dirty="0"/>
                        <a:t>Anugerah</a:t>
                      </a:r>
                    </a:p>
                  </a:txBody>
                  <a:tcPr marL="91456" marR="91456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0.2</a:t>
                      </a:r>
                    </a:p>
                  </a:txBody>
                  <a:tcPr marL="91456" marR="91456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1</a:t>
                      </a:r>
                    </a:p>
                  </a:txBody>
                  <a:tcPr marL="91456" marR="91456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3</a:t>
                      </a:r>
                    </a:p>
                  </a:txBody>
                  <a:tcPr marL="91456" marR="91456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0.193</a:t>
                      </a:r>
                    </a:p>
                  </a:txBody>
                  <a:tcPr marL="91456" marR="91456" marT="45749" marB="45749"/>
                </a:tc>
                <a:tc v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r>
                        <a:rPr lang="id-ID" sz="1800" dirty="0"/>
                        <a:t>Permata</a:t>
                      </a:r>
                    </a:p>
                  </a:txBody>
                  <a:tcPr marL="91456" marR="91456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0.142</a:t>
                      </a:r>
                    </a:p>
                  </a:txBody>
                  <a:tcPr marL="91456" marR="91456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0.333</a:t>
                      </a:r>
                    </a:p>
                  </a:txBody>
                  <a:tcPr marL="91456" marR="91456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1</a:t>
                      </a:r>
                    </a:p>
                  </a:txBody>
                  <a:tcPr marL="91456" marR="91456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/>
                        <a:t>0.083</a:t>
                      </a:r>
                    </a:p>
                  </a:txBody>
                  <a:tcPr marL="91456" marR="91456" marT="45749" marB="45749"/>
                </a:tc>
                <a:tc v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ABE2DC5-B275-491B-BDE1-D3093F62A5A4}"/>
              </a:ext>
            </a:extLst>
          </p:cNvPr>
          <p:cNvSpPr/>
          <p:nvPr/>
        </p:nvSpPr>
        <p:spPr>
          <a:xfrm>
            <a:off x="5734395" y="334785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Consistency Ratio(CR) = 0.025 </a:t>
            </a:r>
            <a:r>
              <a:rPr lang="en-ID" dirty="0">
                <a:highlight>
                  <a:srgbClr val="FFFF00"/>
                </a:highlight>
                <a:latin typeface="+mn-lt"/>
              </a:rPr>
              <a:t>(&lt;=0.1, </a:t>
            </a:r>
            <a:r>
              <a:rPr lang="en-ID" dirty="0">
                <a:highlight>
                  <a:srgbClr val="FFFF00"/>
                </a:highlight>
              </a:rPr>
              <a:t>so that it is consistent)</a:t>
            </a:r>
            <a:endParaRPr lang="en-ID" dirty="0">
              <a:latin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37F5CD-113B-403B-9E3F-2D1E43A86B2C}"/>
              </a:ext>
            </a:extLst>
          </p:cNvPr>
          <p:cNvSpPr/>
          <p:nvPr/>
        </p:nvSpPr>
        <p:spPr>
          <a:xfrm>
            <a:off x="5864211" y="5874212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Consistency Ratio(CR) = 0.038 </a:t>
            </a:r>
            <a:r>
              <a:rPr lang="en-ID" dirty="0">
                <a:highlight>
                  <a:srgbClr val="FFFF00"/>
                </a:highlight>
                <a:latin typeface="+mn-lt"/>
              </a:rPr>
              <a:t>(&lt;=0.1, </a:t>
            </a:r>
            <a:r>
              <a:rPr lang="en-ID" dirty="0">
                <a:highlight>
                  <a:srgbClr val="FFFF00"/>
                </a:highlight>
              </a:rPr>
              <a:t>so that it is consistent)</a:t>
            </a:r>
            <a:r>
              <a:rPr lang="en-ID" dirty="0">
                <a:highlight>
                  <a:srgbClr val="FFFF00"/>
                </a:highlight>
                <a:latin typeface="+mn-lt"/>
              </a:rPr>
              <a:t> </a:t>
            </a:r>
            <a:endParaRPr lang="en-ID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0073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d-ID" altLang="en-US" dirty="0"/>
              <a:t>SETTLEMENT</a:t>
            </a:r>
          </a:p>
        </p:txBody>
      </p:sp>
      <p:sp>
        <p:nvSpPr>
          <p:cNvPr id="3993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26770" y="1690688"/>
            <a:ext cx="10515600" cy="4351338"/>
          </a:xfrm>
        </p:spPr>
        <p:txBody>
          <a:bodyPr/>
          <a:lstStyle/>
          <a:p>
            <a:pPr marL="114300" indent="0">
              <a:buFont typeface="Corbel" panose="020B0503020204020204" pitchFamily="34" charset="0"/>
              <a:buNone/>
            </a:pPr>
            <a:r>
              <a:rPr lang="id-ID" altLang="en-US" b="1" u="sng" dirty="0"/>
              <a:t>6. </a:t>
            </a:r>
            <a:r>
              <a:rPr lang="id-ID" altLang="en-US" b="1" u="sng" dirty="0" err="1"/>
              <a:t>Decision</a:t>
            </a:r>
            <a:r>
              <a:rPr lang="id-ID" altLang="en-US" b="1" u="sng" dirty="0"/>
              <a:t> Making</a:t>
            </a:r>
          </a:p>
          <a:p>
            <a:pPr marL="114300" indent="0">
              <a:buFont typeface="Corbel" panose="020B0503020204020204" pitchFamily="34" charset="0"/>
              <a:buNone/>
            </a:pPr>
            <a:r>
              <a:rPr lang="id-ID" dirty="0" err="1"/>
              <a:t>Decision</a:t>
            </a:r>
            <a:r>
              <a:rPr lang="id-ID" dirty="0"/>
              <a:t> making </a:t>
            </a:r>
            <a:r>
              <a:rPr lang="id-ID" dirty="0" err="1"/>
              <a:t>is</a:t>
            </a:r>
            <a:r>
              <a:rPr lang="id-ID" dirty="0"/>
              <a:t> </a:t>
            </a:r>
            <a:r>
              <a:rPr lang="id-ID" dirty="0" err="1"/>
              <a:t>based</a:t>
            </a:r>
            <a:r>
              <a:rPr lang="id-ID" dirty="0"/>
              <a:t> </a:t>
            </a:r>
            <a:r>
              <a:rPr lang="id-ID" dirty="0" err="1"/>
              <a:t>on</a:t>
            </a:r>
            <a:r>
              <a:rPr lang="id-ID" dirty="0"/>
              <a:t> </a:t>
            </a:r>
            <a:r>
              <a:rPr lang="id-ID" dirty="0" err="1"/>
              <a:t>a</a:t>
            </a:r>
            <a:r>
              <a:rPr lang="id-ID" dirty="0"/>
              <a:t> </a:t>
            </a:r>
            <a:r>
              <a:rPr lang="id-ID" dirty="0" err="1"/>
              <a:t>comparison</a:t>
            </a:r>
            <a:r>
              <a:rPr lang="id-ID" dirty="0"/>
              <a:t> </a:t>
            </a:r>
            <a:r>
              <a:rPr lang="id-ID" dirty="0" err="1"/>
              <a:t>of</a:t>
            </a:r>
            <a:r>
              <a:rPr lang="id-ID" dirty="0"/>
              <a:t> </a:t>
            </a:r>
            <a:r>
              <a:rPr lang="id-ID" dirty="0" err="1"/>
              <a:t>the</a:t>
            </a:r>
            <a:r>
              <a:rPr lang="id-ID" dirty="0"/>
              <a:t> </a:t>
            </a:r>
            <a:r>
              <a:rPr lang="id-ID" dirty="0" err="1"/>
              <a:t>calculation</a:t>
            </a:r>
            <a:r>
              <a:rPr lang="id-ID" dirty="0"/>
              <a:t> </a:t>
            </a:r>
            <a:r>
              <a:rPr lang="id-ID" dirty="0" err="1"/>
              <a:t>of</a:t>
            </a:r>
            <a:r>
              <a:rPr lang="id-ID" dirty="0"/>
              <a:t> </a:t>
            </a:r>
            <a:r>
              <a:rPr lang="id-ID" dirty="0" err="1"/>
              <a:t>the</a:t>
            </a:r>
            <a:r>
              <a:rPr lang="id-ID" dirty="0"/>
              <a:t> </a:t>
            </a:r>
            <a:r>
              <a:rPr lang="id-ID" dirty="0" err="1"/>
              <a:t>multiplication</a:t>
            </a:r>
            <a:r>
              <a:rPr lang="id-ID" dirty="0"/>
              <a:t> </a:t>
            </a:r>
            <a:r>
              <a:rPr lang="id-ID" dirty="0" err="1"/>
              <a:t>of</a:t>
            </a:r>
            <a:r>
              <a:rPr lang="id-ID" dirty="0"/>
              <a:t> </a:t>
            </a:r>
            <a:r>
              <a:rPr lang="id-ID" dirty="0" err="1"/>
              <a:t>the</a:t>
            </a:r>
            <a:r>
              <a:rPr lang="id-ID" dirty="0"/>
              <a:t> PW </a:t>
            </a:r>
            <a:r>
              <a:rPr lang="id-ID" dirty="0" err="1"/>
              <a:t>criteria</a:t>
            </a:r>
            <a:r>
              <a:rPr lang="id-ID" dirty="0"/>
              <a:t> </a:t>
            </a:r>
            <a:r>
              <a:rPr lang="id-ID" dirty="0" err="1"/>
              <a:t>with</a:t>
            </a:r>
            <a:r>
              <a:rPr lang="id-ID" dirty="0"/>
              <a:t> </a:t>
            </a:r>
            <a:r>
              <a:rPr lang="id-ID" dirty="0" err="1"/>
              <a:t>the</a:t>
            </a:r>
            <a:r>
              <a:rPr lang="id-ID" dirty="0"/>
              <a:t> </a:t>
            </a:r>
            <a:r>
              <a:rPr lang="id-ID" dirty="0" err="1"/>
              <a:t>preferred</a:t>
            </a:r>
            <a:r>
              <a:rPr lang="id-ID" dirty="0"/>
              <a:t> </a:t>
            </a:r>
            <a:r>
              <a:rPr lang="id-ID" dirty="0" err="1"/>
              <a:t>alternative</a:t>
            </a:r>
            <a:r>
              <a:rPr lang="id-ID" dirty="0"/>
              <a:t> PW</a:t>
            </a:r>
            <a:endParaRPr lang="id-ID" altLang="en-US" b="1" u="sng" dirty="0"/>
          </a:p>
        </p:txBody>
      </p:sp>
      <p:sp>
        <p:nvSpPr>
          <p:cNvPr id="5" name="Rectangle 4"/>
          <p:cNvSpPr/>
          <p:nvPr/>
        </p:nvSpPr>
        <p:spPr>
          <a:xfrm>
            <a:off x="589280" y="4981258"/>
            <a:ext cx="10231120" cy="2028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 sz="2000" dirty="0">
              <a:solidFill>
                <a:schemeClr val="tx2"/>
              </a:solidFill>
              <a:latin typeface="+mn-lt"/>
              <a:ea typeface="Times New Roman" panose="02020603050405020304" pitchFamily="18" charset="0"/>
            </a:endParaRPr>
          </a:p>
          <a:p>
            <a:pPr marL="457200">
              <a:defRPr/>
            </a:pPr>
            <a:r>
              <a:rPr lang="en-US" sz="2000" dirty="0">
                <a:solidFill>
                  <a:schemeClr val="tx2"/>
                </a:solidFill>
                <a:ea typeface="Times New Roman" panose="02020603050405020304" pitchFamily="18" charset="0"/>
              </a:rPr>
              <a:t>Example calculation:</a:t>
            </a:r>
          </a:p>
          <a:p>
            <a:pPr marL="457200">
              <a:defRPr/>
            </a:pPr>
            <a:r>
              <a:rPr lang="id-ID" sz="2000" b="1" dirty="0">
                <a:solidFill>
                  <a:schemeClr val="tx2"/>
                </a:solidFill>
                <a:latin typeface="+mn-lt"/>
              </a:rPr>
              <a:t>Bobot Evaluasi </a:t>
            </a:r>
            <a:r>
              <a:rPr lang="en-US" sz="2000" dirty="0">
                <a:solidFill>
                  <a:schemeClr val="tx2"/>
                </a:solidFill>
                <a:latin typeface="+mn-lt"/>
                <a:ea typeface="Times New Roman" panose="02020603050405020304" pitchFamily="18" charset="0"/>
              </a:rPr>
              <a:t>= (0.292 x 0.724) + (0.627 x 0.</a:t>
            </a:r>
            <a:r>
              <a:rPr lang="id-ID" sz="2000" dirty="0">
                <a:solidFill>
                  <a:schemeClr val="tx2"/>
                </a:solidFill>
                <a:latin typeface="+mn-lt"/>
                <a:ea typeface="Times New Roman" panose="02020603050405020304" pitchFamily="18" charset="0"/>
              </a:rPr>
              <a:t>748</a:t>
            </a:r>
            <a:r>
              <a:rPr lang="en-US" sz="2000" dirty="0">
                <a:solidFill>
                  <a:schemeClr val="tx2"/>
                </a:solidFill>
                <a:latin typeface="+mn-lt"/>
                <a:ea typeface="Times New Roman" panose="02020603050405020304" pitchFamily="18" charset="0"/>
              </a:rPr>
              <a:t>) +(0.081 x 0.</a:t>
            </a:r>
            <a:r>
              <a:rPr lang="id-ID" sz="2000" dirty="0">
                <a:solidFill>
                  <a:schemeClr val="tx2"/>
                </a:solidFill>
                <a:latin typeface="+mn-lt"/>
                <a:ea typeface="Times New Roman" panose="02020603050405020304" pitchFamily="18" charset="0"/>
              </a:rPr>
              <a:t>724</a:t>
            </a:r>
            <a:r>
              <a:rPr lang="en-US" sz="2000" dirty="0">
                <a:solidFill>
                  <a:schemeClr val="tx2"/>
                </a:solidFill>
                <a:latin typeface="+mn-lt"/>
                <a:ea typeface="Times New Roman" panose="02020603050405020304" pitchFamily="18" charset="0"/>
              </a:rPr>
              <a:t>) </a:t>
            </a:r>
            <a:endParaRPr lang="id-ID" sz="2000" dirty="0">
              <a:solidFill>
                <a:schemeClr val="tx2"/>
              </a:solidFill>
              <a:latin typeface="+mn-lt"/>
              <a:ea typeface="Times New Roman" panose="02020603050405020304" pitchFamily="18" charset="0"/>
            </a:endParaRPr>
          </a:p>
          <a:p>
            <a:pPr marL="457200" eaLnBrk="1" fontAlgn="auto" hangingPunct="1">
              <a:spcBef>
                <a:spcPts val="685"/>
              </a:spcBef>
              <a:spcAft>
                <a:spcPts val="0"/>
              </a:spcAft>
              <a:defRPr/>
            </a:pPr>
            <a:r>
              <a:rPr lang="id-ID" sz="2000" dirty="0">
                <a:solidFill>
                  <a:schemeClr val="tx2"/>
                </a:solidFill>
                <a:latin typeface="+mn-lt"/>
                <a:ea typeface="Times New Roman" panose="02020603050405020304" pitchFamily="18" charset="0"/>
              </a:rPr>
              <a:t>                          </a:t>
            </a:r>
            <a:r>
              <a:rPr lang="en-US" sz="2000" dirty="0">
                <a:solidFill>
                  <a:schemeClr val="tx2"/>
                </a:solidFill>
                <a:latin typeface="+mn-lt"/>
                <a:ea typeface="Times New Roman" panose="02020603050405020304" pitchFamily="18" charset="0"/>
              </a:rPr>
              <a:t>= 0.7</a:t>
            </a:r>
            <a:r>
              <a:rPr lang="id-ID" sz="2000" dirty="0">
                <a:solidFill>
                  <a:schemeClr val="tx2"/>
                </a:solidFill>
                <a:latin typeface="+mn-lt"/>
                <a:ea typeface="Times New Roman" panose="02020603050405020304" pitchFamily="18" charset="0"/>
              </a:rPr>
              <a:t>39</a:t>
            </a:r>
            <a:r>
              <a:rPr lang="en-US" sz="2000" dirty="0">
                <a:solidFill>
                  <a:schemeClr val="tx2"/>
                </a:solidFill>
                <a:latin typeface="+mn-lt"/>
                <a:ea typeface="Times New Roman" panose="02020603050405020304" pitchFamily="18" charset="0"/>
              </a:rPr>
              <a:t> (Makmur Jaya)</a:t>
            </a:r>
            <a:endParaRPr lang="id-ID" sz="2000" dirty="0">
              <a:solidFill>
                <a:schemeClr val="tx2"/>
              </a:solidFill>
              <a:latin typeface="+mn-lt"/>
              <a:ea typeface="Times New Roman" panose="02020603050405020304" pitchFamily="18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chemeClr val="tx2"/>
                </a:solidFill>
                <a:latin typeface="+mn-lt"/>
                <a:ea typeface="Times New Roman" panose="02020603050405020304" pitchFamily="18" charset="0"/>
              </a:rPr>
              <a:t> </a:t>
            </a:r>
            <a:endParaRPr lang="id-ID" sz="2000" dirty="0">
              <a:solidFill>
                <a:schemeClr val="tx2"/>
              </a:solidFill>
              <a:latin typeface="+mn-lt"/>
              <a:ea typeface="Times New Roman" panose="02020603050405020304" pitchFamily="18" charset="0"/>
            </a:endParaRP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chemeClr val="tx2"/>
                </a:solidFill>
                <a:latin typeface="+mn-lt"/>
                <a:ea typeface="Times New Roman" panose="02020603050405020304" pitchFamily="18" charset="0"/>
              </a:rPr>
              <a:t> </a:t>
            </a:r>
            <a:endParaRPr lang="id-ID" sz="2000" dirty="0">
              <a:solidFill>
                <a:schemeClr val="tx2"/>
              </a:solidFill>
              <a:latin typeface="+mn-lt"/>
              <a:ea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434330"/>
              </p:ext>
            </p:extLst>
          </p:nvPr>
        </p:nvGraphicFramePr>
        <p:xfrm>
          <a:off x="1513385" y="3109278"/>
          <a:ext cx="8128000" cy="211789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3317402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0177271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66291027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96877216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00601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/>
                        <a:t>K. Jaringan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/>
                        <a:t>Kredibilitas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/>
                        <a:t>Pembayaran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/>
                        <a:t>Bobot</a:t>
                      </a:r>
                      <a:r>
                        <a:rPr lang="id-ID" baseline="0" dirty="0"/>
                        <a:t> </a:t>
                      </a:r>
                      <a:r>
                        <a:rPr lang="id-ID" dirty="0"/>
                        <a:t>Evaluasi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420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i="1" dirty="0">
                          <a:solidFill>
                            <a:schemeClr val="accent1"/>
                          </a:solidFill>
                        </a:rPr>
                        <a:t>Bobot Prioritas</a:t>
                      </a:r>
                      <a:endParaRPr lang="en-US" i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1" u="none" strike="noStrike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</a:rPr>
                        <a:t>0,292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1" u="none" strike="noStrike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</a:rPr>
                        <a:t>0,627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1" u="none" strike="noStrike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</a:rPr>
                        <a:t>0,081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4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78920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dirty="0"/>
                        <a:t>Makmur Jaya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0,724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0,748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2400" dirty="0"/>
                        <a:t>0,724</a:t>
                      </a:r>
                    </a:p>
                  </a:txBody>
                  <a:tcPr marL="91456" marR="91456" marT="45749" marB="45749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0,739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74119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dirty="0"/>
                        <a:t>Anugerah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0,193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0,18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2400" dirty="0"/>
                        <a:t>0,193</a:t>
                      </a:r>
                    </a:p>
                  </a:txBody>
                  <a:tcPr marL="91456" marR="91456" marT="45749" marB="45749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0,185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67318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dirty="0"/>
                        <a:t>Permata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0,083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0,071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2400" dirty="0"/>
                        <a:t>0,083</a:t>
                      </a:r>
                    </a:p>
                  </a:txBody>
                  <a:tcPr marL="91456" marR="91456" marT="45749" marB="45749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0,075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53144288"/>
                  </a:ext>
                </a:extLst>
              </a:tr>
            </a:tbl>
          </a:graphicData>
        </a:graphic>
      </p:graphicFrame>
      <p:sp>
        <p:nvSpPr>
          <p:cNvPr id="3" name="Left Arrow 2"/>
          <p:cNvSpPr/>
          <p:nvPr/>
        </p:nvSpPr>
        <p:spPr>
          <a:xfrm>
            <a:off x="9641385" y="3866357"/>
            <a:ext cx="785505" cy="432688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449317" y="3929713"/>
            <a:ext cx="1823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err="1"/>
              <a:t>Option</a:t>
            </a:r>
            <a:r>
              <a:rPr lang="id-ID" b="1" dirty="0"/>
              <a:t> </a:t>
            </a:r>
            <a:r>
              <a:rPr lang="id-ID" b="1" dirty="0" err="1"/>
              <a:t>number</a:t>
            </a:r>
            <a:r>
              <a:rPr lang="id-ID" b="1" dirty="0"/>
              <a:t> 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4363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d-ID" altLang="en-US" dirty="0"/>
              <a:t>SETTLEMENT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114300" indent="0" algn="just" fontAlgn="auto">
              <a:spcBef>
                <a:spcPts val="930"/>
              </a:spcBef>
              <a:spcAft>
                <a:spcPts val="0"/>
              </a:spcAft>
              <a:buFont typeface="Corbel" panose="020B0503020204020204" pitchFamily="34" charset="0"/>
              <a:buNone/>
              <a:defRPr/>
            </a:pPr>
            <a:r>
              <a:rPr lang="en-US" b="1" dirty="0"/>
              <a:t>Conclusion:</a:t>
            </a:r>
            <a:r>
              <a:rPr lang="en-US" dirty="0"/>
              <a:t>
From the results of the calculation above, it can be concluded that based on the criteria of network breadth, credibility, and payment, </a:t>
            </a:r>
            <a:r>
              <a:rPr lang="en-US" b="1" dirty="0"/>
              <a:t>Makmur Jaya </a:t>
            </a:r>
            <a:r>
              <a:rPr lang="en-US" dirty="0"/>
              <a:t>was selected as a distributor because it has the highest Evaluation Weight value of </a:t>
            </a:r>
            <a:r>
              <a:rPr lang="en-US" b="1" dirty="0"/>
              <a:t>0.739</a:t>
            </a:r>
            <a:r>
              <a:rPr lang="en-US" dirty="0"/>
              <a:t>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1679949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d-ID" altLang="en-US" dirty="0"/>
              <a:t>TUGAS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Kerjakan Jobsheet Pertemuan ke 3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532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3466</TotalTime>
  <Words>1349</Words>
  <Application>Microsoft Macintosh PowerPoint</Application>
  <PresentationFormat>Widescreen</PresentationFormat>
  <Paragraphs>471</Paragraphs>
  <Slides>22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Corbel</vt:lpstr>
      <vt:lpstr>Tahoma</vt:lpstr>
      <vt:lpstr>Times New Roman</vt:lpstr>
      <vt:lpstr>Office Theme</vt:lpstr>
      <vt:lpstr>Document</vt:lpstr>
      <vt:lpstr>  Analytic Hierarchy Process (AHP) </vt:lpstr>
      <vt:lpstr>What is AHP?</vt:lpstr>
      <vt:lpstr>STAGES</vt:lpstr>
      <vt:lpstr>PowerPoint Presentation</vt:lpstr>
      <vt:lpstr>STAGES</vt:lpstr>
      <vt:lpstr>PowerPoint Presentation</vt:lpstr>
      <vt:lpstr>PAIRWISE COMPARISON MATRIK  (MATRIK PERBANDINGAN BERPASANGAN)</vt:lpstr>
      <vt:lpstr>STAGES</vt:lpstr>
      <vt:lpstr>PowerPoint Presentation</vt:lpstr>
      <vt:lpstr>PowerPoint Presentation</vt:lpstr>
      <vt:lpstr># Example of AHP Case Study</vt:lpstr>
      <vt:lpstr>Settlement</vt:lpstr>
      <vt:lpstr>Settlement</vt:lpstr>
      <vt:lpstr>Settlement</vt:lpstr>
      <vt:lpstr>Settlement</vt:lpstr>
      <vt:lpstr>Settlement</vt:lpstr>
      <vt:lpstr>Settlement</vt:lpstr>
      <vt:lpstr>Settlement</vt:lpstr>
      <vt:lpstr>SETTLEMENT</vt:lpstr>
      <vt:lpstr>SETTLEMENT</vt:lpstr>
      <vt:lpstr>SETTLEMENT</vt:lpstr>
      <vt:lpstr>TUGAS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Afif Hendrawan</dc:creator>
  <cp:lastModifiedBy>Adevian Fairuz</cp:lastModifiedBy>
  <cp:revision>65</cp:revision>
  <dcterms:created xsi:type="dcterms:W3CDTF">2021-08-30T06:37:21Z</dcterms:created>
  <dcterms:modified xsi:type="dcterms:W3CDTF">2025-02-24T12:58:33Z</dcterms:modified>
</cp:coreProperties>
</file>