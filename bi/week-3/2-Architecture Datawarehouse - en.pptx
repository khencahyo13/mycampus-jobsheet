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1.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7" r:id="rId2"/>
    <p:sldId id="297" r:id="rId3"/>
    <p:sldId id="338" r:id="rId4"/>
    <p:sldId id="339" r:id="rId5"/>
    <p:sldId id="278" r:id="rId6"/>
    <p:sldId id="340" r:id="rId7"/>
    <p:sldId id="279" r:id="rId8"/>
    <p:sldId id="299" r:id="rId9"/>
    <p:sldId id="327" r:id="rId10"/>
    <p:sldId id="328" r:id="rId11"/>
    <p:sldId id="329" r:id="rId12"/>
    <p:sldId id="301" r:id="rId13"/>
    <p:sldId id="302" r:id="rId14"/>
    <p:sldId id="324" r:id="rId15"/>
    <p:sldId id="334" r:id="rId16"/>
    <p:sldId id="331" r:id="rId17"/>
    <p:sldId id="332" r:id="rId18"/>
    <p:sldId id="333" r:id="rId19"/>
    <p:sldId id="330" r:id="rId20"/>
    <p:sldId id="335" r:id="rId21"/>
    <p:sldId id="336" r:id="rId22"/>
    <p:sldId id="337" r:id="rId23"/>
    <p:sldId id="303" r:id="rId24"/>
    <p:sldId id="319" r:id="rId25"/>
    <p:sldId id="27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F45629"/>
    <a:srgbClr val="FFDB69"/>
    <a:srgbClr val="F15529"/>
    <a:srgbClr val="FEBF1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74444" autoAdjust="0"/>
  </p:normalViewPr>
  <p:slideViewPr>
    <p:cSldViewPr snapToGrid="0">
      <p:cViewPr>
        <p:scale>
          <a:sx n="64" d="100"/>
          <a:sy n="64" d="100"/>
        </p:scale>
        <p:origin x="2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1C1A5A5-7DC4-43D5-811F-C28DC76F57E1}" type="doc">
      <dgm:prSet loTypeId="urn:microsoft.com/office/officeart/2005/8/layout/hList1" loCatId="list" qsTypeId="urn:microsoft.com/office/officeart/2005/8/quickstyle/simple1" qsCatId="simple" csTypeId="urn:microsoft.com/office/officeart/2005/8/colors/colorful3" csCatId="colorful" phldr="1"/>
      <dgm:spPr/>
      <dgm:t>
        <a:bodyPr/>
        <a:lstStyle/>
        <a:p>
          <a:endParaRPr lang="en-US"/>
        </a:p>
      </dgm:t>
    </dgm:pt>
    <dgm:pt modelId="{2A978025-9D13-4DC5-BB00-C893118E0EE8}">
      <dgm:prSet phldrT="[Text]"/>
      <dgm:spPr/>
      <dgm:t>
        <a:bodyPr/>
        <a:lstStyle/>
        <a:p>
          <a:r>
            <a:rPr lang="en-US" dirty="0"/>
            <a:t>Table Facts</a:t>
          </a:r>
        </a:p>
      </dgm:t>
    </dgm:pt>
    <dgm:pt modelId="{DDF4348F-F673-4010-897D-E0A4BF7F284E}" type="parTrans" cxnId="{35BB15E7-8DDB-4F8B-8AF9-F47B043EBFB1}">
      <dgm:prSet/>
      <dgm:spPr/>
      <dgm:t>
        <a:bodyPr/>
        <a:lstStyle/>
        <a:p>
          <a:endParaRPr lang="en-US"/>
        </a:p>
      </dgm:t>
    </dgm:pt>
    <dgm:pt modelId="{4D397B7B-1063-4E5A-91DA-74B2946D638A}" type="sibTrans" cxnId="{35BB15E7-8DDB-4F8B-8AF9-F47B043EBFB1}">
      <dgm:prSet/>
      <dgm:spPr/>
      <dgm:t>
        <a:bodyPr/>
        <a:lstStyle/>
        <a:p>
          <a:endParaRPr lang="en-US"/>
        </a:p>
      </dgm:t>
    </dgm:pt>
    <dgm:pt modelId="{D184D05E-C3DD-43DF-AA7C-9D237D908400}">
      <dgm:prSet phldrT="[Text]"/>
      <dgm:spPr/>
      <dgm:t>
        <a:bodyPr/>
        <a:lstStyle/>
        <a:p>
          <a:r>
            <a:rPr lang="en-US" dirty="0"/>
            <a:t>Data Maintenance
Performance Query
Data Updates</a:t>
          </a:r>
        </a:p>
      </dgm:t>
    </dgm:pt>
    <dgm:pt modelId="{E8D108D9-7D82-40A2-A0F6-DA623E3C6927}" type="parTrans" cxnId="{F63D7920-5ADD-4D08-9B27-B920DF201B30}">
      <dgm:prSet/>
      <dgm:spPr/>
      <dgm:t>
        <a:bodyPr/>
        <a:lstStyle/>
        <a:p>
          <a:endParaRPr lang="en-US"/>
        </a:p>
      </dgm:t>
    </dgm:pt>
    <dgm:pt modelId="{924793AA-7F69-48E5-B915-4BDC61D74EF9}" type="sibTrans" cxnId="{F63D7920-5ADD-4D08-9B27-B920DF201B30}">
      <dgm:prSet/>
      <dgm:spPr/>
      <dgm:t>
        <a:bodyPr/>
        <a:lstStyle/>
        <a:p>
          <a:endParaRPr lang="en-US"/>
        </a:p>
      </dgm:t>
    </dgm:pt>
    <dgm:pt modelId="{361258F3-2492-43AC-8842-B660D8B45BB6}">
      <dgm:prSet phldrT="[Text]"/>
      <dgm:spPr/>
      <dgm:t>
        <a:bodyPr/>
        <a:lstStyle/>
        <a:p>
          <a:r>
            <a:rPr lang="en-US" dirty="0"/>
            <a:t>Table Dimensions</a:t>
          </a:r>
        </a:p>
      </dgm:t>
    </dgm:pt>
    <dgm:pt modelId="{F2AEA025-1AC2-4D66-A635-055F3E169D6A}" type="parTrans" cxnId="{EDEDD93E-6917-45EA-9E95-C523C5A47EB8}">
      <dgm:prSet/>
      <dgm:spPr/>
      <dgm:t>
        <a:bodyPr/>
        <a:lstStyle/>
        <a:p>
          <a:endParaRPr lang="en-US"/>
        </a:p>
      </dgm:t>
    </dgm:pt>
    <dgm:pt modelId="{BA2F1C11-5065-49D0-8D19-DC9EEA040F83}" type="sibTrans" cxnId="{EDEDD93E-6917-45EA-9E95-C523C5A47EB8}">
      <dgm:prSet/>
      <dgm:spPr/>
      <dgm:t>
        <a:bodyPr/>
        <a:lstStyle/>
        <a:p>
          <a:endParaRPr lang="en-US"/>
        </a:p>
      </dgm:t>
    </dgm:pt>
    <dgm:pt modelId="{228D559E-5711-409F-80BA-E5356E679B7E}">
      <dgm:prSet phldrT="[Text]"/>
      <dgm:spPr/>
      <dgm:t>
        <a:bodyPr/>
        <a:lstStyle/>
        <a:p>
          <a:r>
            <a:rPr lang="fr-FR" dirty="0"/>
            <a:t>Dimension Management Techniques
Time Dimension
</a:t>
          </a:r>
          <a:r>
            <a:rPr lang="fr-FR" dirty="0" err="1"/>
            <a:t>Hierarchical</a:t>
          </a:r>
          <a:r>
            <a:rPr lang="fr-FR" dirty="0"/>
            <a:t> Dimensions</a:t>
          </a:r>
          <a:endParaRPr lang="en-US" dirty="0"/>
        </a:p>
      </dgm:t>
    </dgm:pt>
    <dgm:pt modelId="{C8CDEC90-26E6-47A5-8A8A-AB92622A3A34}" type="parTrans" cxnId="{BF90753B-9534-45BA-9DAE-C4884E578772}">
      <dgm:prSet/>
      <dgm:spPr/>
      <dgm:t>
        <a:bodyPr/>
        <a:lstStyle/>
        <a:p>
          <a:endParaRPr lang="en-US"/>
        </a:p>
      </dgm:t>
    </dgm:pt>
    <dgm:pt modelId="{B1D1A470-5AC8-4DFC-9A56-2DCA2033FF83}" type="sibTrans" cxnId="{BF90753B-9534-45BA-9DAE-C4884E578772}">
      <dgm:prSet/>
      <dgm:spPr/>
      <dgm:t>
        <a:bodyPr/>
        <a:lstStyle/>
        <a:p>
          <a:endParaRPr lang="en-US"/>
        </a:p>
      </dgm:t>
    </dgm:pt>
    <dgm:pt modelId="{9FC98018-63A1-4F1F-8C8B-03AA5BFC64C8}">
      <dgm:prSet phldrT="[Text]"/>
      <dgm:spPr/>
      <dgm:t>
        <a:bodyPr/>
        <a:lstStyle/>
        <a:p>
          <a:r>
            <a:rPr lang="en-US" dirty="0"/>
            <a:t>Data Quality</a:t>
          </a:r>
        </a:p>
      </dgm:t>
    </dgm:pt>
    <dgm:pt modelId="{67A2CBD3-C5A8-41E4-9BD4-405689D4BC31}" type="parTrans" cxnId="{5AE944C3-3473-4654-B36D-79883DA7959B}">
      <dgm:prSet/>
      <dgm:spPr/>
      <dgm:t>
        <a:bodyPr/>
        <a:lstStyle/>
        <a:p>
          <a:endParaRPr lang="en-US"/>
        </a:p>
      </dgm:t>
    </dgm:pt>
    <dgm:pt modelId="{23141E34-DFB1-4338-B021-676CBAD5E8D7}" type="sibTrans" cxnId="{5AE944C3-3473-4654-B36D-79883DA7959B}">
      <dgm:prSet/>
      <dgm:spPr/>
      <dgm:t>
        <a:bodyPr/>
        <a:lstStyle/>
        <a:p>
          <a:endParaRPr lang="en-US"/>
        </a:p>
      </dgm:t>
    </dgm:pt>
    <dgm:pt modelId="{FD38E50A-2E51-47A5-B886-38A8780CBEF9}">
      <dgm:prSet phldrT="[Text]"/>
      <dgm:spPr/>
      <dgm:t>
        <a:bodyPr/>
        <a:lstStyle/>
        <a:p>
          <a:r>
            <a:rPr lang="en-US" dirty="0"/>
            <a:t>Data Cleansing Techniques
Quality Control</a:t>
          </a:r>
        </a:p>
      </dgm:t>
    </dgm:pt>
    <dgm:pt modelId="{CB359AF7-158C-461A-A5B6-DA04EC795E64}" type="parTrans" cxnId="{19B87E88-AA88-40AF-83E5-FF67CF01BC4B}">
      <dgm:prSet/>
      <dgm:spPr/>
      <dgm:t>
        <a:bodyPr/>
        <a:lstStyle/>
        <a:p>
          <a:endParaRPr lang="en-US"/>
        </a:p>
      </dgm:t>
    </dgm:pt>
    <dgm:pt modelId="{20C08C33-FB67-4C2E-AA7C-02DD2217D5BB}" type="sibTrans" cxnId="{19B87E88-AA88-40AF-83E5-FF67CF01BC4B}">
      <dgm:prSet/>
      <dgm:spPr/>
      <dgm:t>
        <a:bodyPr/>
        <a:lstStyle/>
        <a:p>
          <a:endParaRPr lang="en-US"/>
        </a:p>
      </dgm:t>
    </dgm:pt>
    <dgm:pt modelId="{61C07EFD-7226-4EBC-9739-7B91F8141E87}">
      <dgm:prSet phldrT="[Text]"/>
      <dgm:spPr/>
      <dgm:t>
        <a:bodyPr/>
        <a:lstStyle/>
        <a:p>
          <a:r>
            <a:rPr lang="en-US" dirty="0"/>
            <a:t>Data Security</a:t>
          </a:r>
        </a:p>
      </dgm:t>
    </dgm:pt>
    <dgm:pt modelId="{CD141CDB-BD44-4D91-97F5-C3A74D8EE644}" type="parTrans" cxnId="{3CB70574-3438-44A7-B5F2-C0CFCCB44824}">
      <dgm:prSet/>
      <dgm:spPr/>
      <dgm:t>
        <a:bodyPr/>
        <a:lstStyle/>
        <a:p>
          <a:endParaRPr lang="en-US"/>
        </a:p>
      </dgm:t>
    </dgm:pt>
    <dgm:pt modelId="{D241160C-732E-4685-AABA-5B9AEC8313CC}" type="sibTrans" cxnId="{3CB70574-3438-44A7-B5F2-C0CFCCB44824}">
      <dgm:prSet/>
      <dgm:spPr/>
      <dgm:t>
        <a:bodyPr/>
        <a:lstStyle/>
        <a:p>
          <a:endParaRPr lang="en-US"/>
        </a:p>
      </dgm:t>
    </dgm:pt>
    <dgm:pt modelId="{9BAB7413-665A-4C25-B40B-8131E8F7DA93}">
      <dgm:prSet phldrT="[Text]"/>
      <dgm:spPr/>
      <dgm:t>
        <a:bodyPr/>
        <a:lstStyle/>
        <a:p>
          <a:r>
            <a:rPr lang="en-US" dirty="0"/>
            <a:t>Data Security Risks
Data Protection Strategy
Regulation</a:t>
          </a:r>
        </a:p>
      </dgm:t>
    </dgm:pt>
    <dgm:pt modelId="{AA499EBA-59C7-4716-90FE-5BABC7F259E9}" type="parTrans" cxnId="{875E1156-4639-4DB7-8BBC-02D0B77CC6CF}">
      <dgm:prSet/>
      <dgm:spPr/>
      <dgm:t>
        <a:bodyPr/>
        <a:lstStyle/>
        <a:p>
          <a:endParaRPr lang="en-US"/>
        </a:p>
      </dgm:t>
    </dgm:pt>
    <dgm:pt modelId="{C75B556E-FA84-43F4-A2ED-E50C8750EB04}" type="sibTrans" cxnId="{875E1156-4639-4DB7-8BBC-02D0B77CC6CF}">
      <dgm:prSet/>
      <dgm:spPr/>
      <dgm:t>
        <a:bodyPr/>
        <a:lstStyle/>
        <a:p>
          <a:endParaRPr lang="en-US"/>
        </a:p>
      </dgm:t>
    </dgm:pt>
    <dgm:pt modelId="{2682E70C-043F-444F-9812-AC5B4ADFFFF2}" type="pres">
      <dgm:prSet presAssocID="{11C1A5A5-7DC4-43D5-811F-C28DC76F57E1}" presName="Name0" presStyleCnt="0">
        <dgm:presLayoutVars>
          <dgm:dir/>
          <dgm:animLvl val="lvl"/>
          <dgm:resizeHandles val="exact"/>
        </dgm:presLayoutVars>
      </dgm:prSet>
      <dgm:spPr/>
    </dgm:pt>
    <dgm:pt modelId="{61C25E37-5E78-4273-A7DA-B690446E02C3}" type="pres">
      <dgm:prSet presAssocID="{2A978025-9D13-4DC5-BB00-C893118E0EE8}" presName="composite" presStyleCnt="0"/>
      <dgm:spPr/>
    </dgm:pt>
    <dgm:pt modelId="{087CCF58-5980-4F4A-84F2-C1287DF64EC5}" type="pres">
      <dgm:prSet presAssocID="{2A978025-9D13-4DC5-BB00-C893118E0EE8}" presName="parTx" presStyleLbl="alignNode1" presStyleIdx="0" presStyleCnt="4">
        <dgm:presLayoutVars>
          <dgm:chMax val="0"/>
          <dgm:chPref val="0"/>
          <dgm:bulletEnabled val="1"/>
        </dgm:presLayoutVars>
      </dgm:prSet>
      <dgm:spPr/>
    </dgm:pt>
    <dgm:pt modelId="{2AC31B0C-7AEF-4CF4-A743-807A7F9F35A6}" type="pres">
      <dgm:prSet presAssocID="{2A978025-9D13-4DC5-BB00-C893118E0EE8}" presName="desTx" presStyleLbl="alignAccFollowNode1" presStyleIdx="0" presStyleCnt="4">
        <dgm:presLayoutVars>
          <dgm:bulletEnabled val="1"/>
        </dgm:presLayoutVars>
      </dgm:prSet>
      <dgm:spPr/>
    </dgm:pt>
    <dgm:pt modelId="{A4402945-2047-4390-9B4A-C786C781558F}" type="pres">
      <dgm:prSet presAssocID="{4D397B7B-1063-4E5A-91DA-74B2946D638A}" presName="space" presStyleCnt="0"/>
      <dgm:spPr/>
    </dgm:pt>
    <dgm:pt modelId="{4396F9E6-C6B6-4C29-8D97-57CE68731E87}" type="pres">
      <dgm:prSet presAssocID="{361258F3-2492-43AC-8842-B660D8B45BB6}" presName="composite" presStyleCnt="0"/>
      <dgm:spPr/>
    </dgm:pt>
    <dgm:pt modelId="{358BF0B8-501B-4227-A9A0-A0722C193B62}" type="pres">
      <dgm:prSet presAssocID="{361258F3-2492-43AC-8842-B660D8B45BB6}" presName="parTx" presStyleLbl="alignNode1" presStyleIdx="1" presStyleCnt="4">
        <dgm:presLayoutVars>
          <dgm:chMax val="0"/>
          <dgm:chPref val="0"/>
          <dgm:bulletEnabled val="1"/>
        </dgm:presLayoutVars>
      </dgm:prSet>
      <dgm:spPr/>
    </dgm:pt>
    <dgm:pt modelId="{5B5B9845-26EC-4209-BF48-85D72DBBB2C3}" type="pres">
      <dgm:prSet presAssocID="{361258F3-2492-43AC-8842-B660D8B45BB6}" presName="desTx" presStyleLbl="alignAccFollowNode1" presStyleIdx="1" presStyleCnt="4">
        <dgm:presLayoutVars>
          <dgm:bulletEnabled val="1"/>
        </dgm:presLayoutVars>
      </dgm:prSet>
      <dgm:spPr/>
    </dgm:pt>
    <dgm:pt modelId="{0B408101-838B-45D5-B201-78FC42C788B4}" type="pres">
      <dgm:prSet presAssocID="{BA2F1C11-5065-49D0-8D19-DC9EEA040F83}" presName="space" presStyleCnt="0"/>
      <dgm:spPr/>
    </dgm:pt>
    <dgm:pt modelId="{F4350685-D067-4A4E-8AA1-9DB0E320347B}" type="pres">
      <dgm:prSet presAssocID="{9FC98018-63A1-4F1F-8C8B-03AA5BFC64C8}" presName="composite" presStyleCnt="0"/>
      <dgm:spPr/>
    </dgm:pt>
    <dgm:pt modelId="{9FDAB7E8-43C2-4F72-A6BB-A84F217EEDCD}" type="pres">
      <dgm:prSet presAssocID="{9FC98018-63A1-4F1F-8C8B-03AA5BFC64C8}" presName="parTx" presStyleLbl="alignNode1" presStyleIdx="2" presStyleCnt="4">
        <dgm:presLayoutVars>
          <dgm:chMax val="0"/>
          <dgm:chPref val="0"/>
          <dgm:bulletEnabled val="1"/>
        </dgm:presLayoutVars>
      </dgm:prSet>
      <dgm:spPr/>
    </dgm:pt>
    <dgm:pt modelId="{B929AB6B-1EF2-47EC-9FC9-1584A4332A25}" type="pres">
      <dgm:prSet presAssocID="{9FC98018-63A1-4F1F-8C8B-03AA5BFC64C8}" presName="desTx" presStyleLbl="alignAccFollowNode1" presStyleIdx="2" presStyleCnt="4">
        <dgm:presLayoutVars>
          <dgm:bulletEnabled val="1"/>
        </dgm:presLayoutVars>
      </dgm:prSet>
      <dgm:spPr/>
    </dgm:pt>
    <dgm:pt modelId="{9321803C-D7D6-4675-91F7-E99BF8F02576}" type="pres">
      <dgm:prSet presAssocID="{23141E34-DFB1-4338-B021-676CBAD5E8D7}" presName="space" presStyleCnt="0"/>
      <dgm:spPr/>
    </dgm:pt>
    <dgm:pt modelId="{FF17ACAC-ECD0-4F83-B2DF-42666BDF5424}" type="pres">
      <dgm:prSet presAssocID="{61C07EFD-7226-4EBC-9739-7B91F8141E87}" presName="composite" presStyleCnt="0"/>
      <dgm:spPr/>
    </dgm:pt>
    <dgm:pt modelId="{DE95D66D-01D8-4FB2-AEF2-D690866C24F0}" type="pres">
      <dgm:prSet presAssocID="{61C07EFD-7226-4EBC-9739-7B91F8141E87}" presName="parTx" presStyleLbl="alignNode1" presStyleIdx="3" presStyleCnt="4">
        <dgm:presLayoutVars>
          <dgm:chMax val="0"/>
          <dgm:chPref val="0"/>
          <dgm:bulletEnabled val="1"/>
        </dgm:presLayoutVars>
      </dgm:prSet>
      <dgm:spPr/>
    </dgm:pt>
    <dgm:pt modelId="{F6735619-549D-431F-B639-D0C9CFAAD7FF}" type="pres">
      <dgm:prSet presAssocID="{61C07EFD-7226-4EBC-9739-7B91F8141E87}" presName="desTx" presStyleLbl="alignAccFollowNode1" presStyleIdx="3" presStyleCnt="4">
        <dgm:presLayoutVars>
          <dgm:bulletEnabled val="1"/>
        </dgm:presLayoutVars>
      </dgm:prSet>
      <dgm:spPr/>
    </dgm:pt>
  </dgm:ptLst>
  <dgm:cxnLst>
    <dgm:cxn modelId="{F63D7920-5ADD-4D08-9B27-B920DF201B30}" srcId="{2A978025-9D13-4DC5-BB00-C893118E0EE8}" destId="{D184D05E-C3DD-43DF-AA7C-9D237D908400}" srcOrd="0" destOrd="0" parTransId="{E8D108D9-7D82-40A2-A0F6-DA623E3C6927}" sibTransId="{924793AA-7F69-48E5-B915-4BDC61D74EF9}"/>
    <dgm:cxn modelId="{FBA3F431-C0EB-4B92-AFF9-07B7E7E0F48D}" type="presOf" srcId="{9FC98018-63A1-4F1F-8C8B-03AA5BFC64C8}" destId="{9FDAB7E8-43C2-4F72-A6BB-A84F217EEDCD}" srcOrd="0" destOrd="0" presId="urn:microsoft.com/office/officeart/2005/8/layout/hList1"/>
    <dgm:cxn modelId="{4AA4D035-185F-46F6-B214-24A5E2646BF9}" type="presOf" srcId="{9BAB7413-665A-4C25-B40B-8131E8F7DA93}" destId="{F6735619-549D-431F-B639-D0C9CFAAD7FF}" srcOrd="0" destOrd="0" presId="urn:microsoft.com/office/officeart/2005/8/layout/hList1"/>
    <dgm:cxn modelId="{BF90753B-9534-45BA-9DAE-C4884E578772}" srcId="{361258F3-2492-43AC-8842-B660D8B45BB6}" destId="{228D559E-5711-409F-80BA-E5356E679B7E}" srcOrd="0" destOrd="0" parTransId="{C8CDEC90-26E6-47A5-8A8A-AB92622A3A34}" sibTransId="{B1D1A470-5AC8-4DFC-9A56-2DCA2033FF83}"/>
    <dgm:cxn modelId="{EDEDD93E-6917-45EA-9E95-C523C5A47EB8}" srcId="{11C1A5A5-7DC4-43D5-811F-C28DC76F57E1}" destId="{361258F3-2492-43AC-8842-B660D8B45BB6}" srcOrd="1" destOrd="0" parTransId="{F2AEA025-1AC2-4D66-A635-055F3E169D6A}" sibTransId="{BA2F1C11-5065-49D0-8D19-DC9EEA040F83}"/>
    <dgm:cxn modelId="{A906CE41-615E-4C40-B67E-439AE23731B7}" type="presOf" srcId="{61C07EFD-7226-4EBC-9739-7B91F8141E87}" destId="{DE95D66D-01D8-4FB2-AEF2-D690866C24F0}" srcOrd="0" destOrd="0" presId="urn:microsoft.com/office/officeart/2005/8/layout/hList1"/>
    <dgm:cxn modelId="{3CB70574-3438-44A7-B5F2-C0CFCCB44824}" srcId="{11C1A5A5-7DC4-43D5-811F-C28DC76F57E1}" destId="{61C07EFD-7226-4EBC-9739-7B91F8141E87}" srcOrd="3" destOrd="0" parTransId="{CD141CDB-BD44-4D91-97F5-C3A74D8EE644}" sibTransId="{D241160C-732E-4685-AABA-5B9AEC8313CC}"/>
    <dgm:cxn modelId="{875E1156-4639-4DB7-8BBC-02D0B77CC6CF}" srcId="{61C07EFD-7226-4EBC-9739-7B91F8141E87}" destId="{9BAB7413-665A-4C25-B40B-8131E8F7DA93}" srcOrd="0" destOrd="0" parTransId="{AA499EBA-59C7-4716-90FE-5BABC7F259E9}" sibTransId="{C75B556E-FA84-43F4-A2ED-E50C8750EB04}"/>
    <dgm:cxn modelId="{C5BA8E7F-38BA-4CFD-B04B-2C174FB8A9B0}" type="presOf" srcId="{FD38E50A-2E51-47A5-B886-38A8780CBEF9}" destId="{B929AB6B-1EF2-47EC-9FC9-1584A4332A25}" srcOrd="0" destOrd="0" presId="urn:microsoft.com/office/officeart/2005/8/layout/hList1"/>
    <dgm:cxn modelId="{19B87E88-AA88-40AF-83E5-FF67CF01BC4B}" srcId="{9FC98018-63A1-4F1F-8C8B-03AA5BFC64C8}" destId="{FD38E50A-2E51-47A5-B886-38A8780CBEF9}" srcOrd="0" destOrd="0" parTransId="{CB359AF7-158C-461A-A5B6-DA04EC795E64}" sibTransId="{20C08C33-FB67-4C2E-AA7C-02DD2217D5BB}"/>
    <dgm:cxn modelId="{2660429E-9453-44EA-AC2E-CDD2AC966569}" type="presOf" srcId="{11C1A5A5-7DC4-43D5-811F-C28DC76F57E1}" destId="{2682E70C-043F-444F-9812-AC5B4ADFFFF2}" srcOrd="0" destOrd="0" presId="urn:microsoft.com/office/officeart/2005/8/layout/hList1"/>
    <dgm:cxn modelId="{E8F51EAD-47E7-4378-9D58-D4BD91E6DEB3}" type="presOf" srcId="{228D559E-5711-409F-80BA-E5356E679B7E}" destId="{5B5B9845-26EC-4209-BF48-85D72DBBB2C3}" srcOrd="0" destOrd="0" presId="urn:microsoft.com/office/officeart/2005/8/layout/hList1"/>
    <dgm:cxn modelId="{E30EC7C1-105E-4E19-A663-C80D7E11B790}" type="presOf" srcId="{D184D05E-C3DD-43DF-AA7C-9D237D908400}" destId="{2AC31B0C-7AEF-4CF4-A743-807A7F9F35A6}" srcOrd="0" destOrd="0" presId="urn:microsoft.com/office/officeart/2005/8/layout/hList1"/>
    <dgm:cxn modelId="{5AE944C3-3473-4654-B36D-79883DA7959B}" srcId="{11C1A5A5-7DC4-43D5-811F-C28DC76F57E1}" destId="{9FC98018-63A1-4F1F-8C8B-03AA5BFC64C8}" srcOrd="2" destOrd="0" parTransId="{67A2CBD3-C5A8-41E4-9BD4-405689D4BC31}" sibTransId="{23141E34-DFB1-4338-B021-676CBAD5E8D7}"/>
    <dgm:cxn modelId="{140B43D7-C4A0-4528-9D1B-A550FAC07C8C}" type="presOf" srcId="{2A978025-9D13-4DC5-BB00-C893118E0EE8}" destId="{087CCF58-5980-4F4A-84F2-C1287DF64EC5}" srcOrd="0" destOrd="0" presId="urn:microsoft.com/office/officeart/2005/8/layout/hList1"/>
    <dgm:cxn modelId="{35BB15E7-8DDB-4F8B-8AF9-F47B043EBFB1}" srcId="{11C1A5A5-7DC4-43D5-811F-C28DC76F57E1}" destId="{2A978025-9D13-4DC5-BB00-C893118E0EE8}" srcOrd="0" destOrd="0" parTransId="{DDF4348F-F673-4010-897D-E0A4BF7F284E}" sibTransId="{4D397B7B-1063-4E5A-91DA-74B2946D638A}"/>
    <dgm:cxn modelId="{D59CA5F7-BBF3-4DC7-94BC-D796C35F0A9C}" type="presOf" srcId="{361258F3-2492-43AC-8842-B660D8B45BB6}" destId="{358BF0B8-501B-4227-A9A0-A0722C193B62}" srcOrd="0" destOrd="0" presId="urn:microsoft.com/office/officeart/2005/8/layout/hList1"/>
    <dgm:cxn modelId="{51D3F448-6812-4FDC-AE8A-158E58C86CCD}" type="presParOf" srcId="{2682E70C-043F-444F-9812-AC5B4ADFFFF2}" destId="{61C25E37-5E78-4273-A7DA-B690446E02C3}" srcOrd="0" destOrd="0" presId="urn:microsoft.com/office/officeart/2005/8/layout/hList1"/>
    <dgm:cxn modelId="{6F20B277-9262-47A6-B5DD-D1EB6421BC7B}" type="presParOf" srcId="{61C25E37-5E78-4273-A7DA-B690446E02C3}" destId="{087CCF58-5980-4F4A-84F2-C1287DF64EC5}" srcOrd="0" destOrd="0" presId="urn:microsoft.com/office/officeart/2005/8/layout/hList1"/>
    <dgm:cxn modelId="{61D4F126-B9C7-485C-B825-B167A4C6F3D0}" type="presParOf" srcId="{61C25E37-5E78-4273-A7DA-B690446E02C3}" destId="{2AC31B0C-7AEF-4CF4-A743-807A7F9F35A6}" srcOrd="1" destOrd="0" presId="urn:microsoft.com/office/officeart/2005/8/layout/hList1"/>
    <dgm:cxn modelId="{71E83ADA-D19A-409D-A3F0-091DE728CA9C}" type="presParOf" srcId="{2682E70C-043F-444F-9812-AC5B4ADFFFF2}" destId="{A4402945-2047-4390-9B4A-C786C781558F}" srcOrd="1" destOrd="0" presId="urn:microsoft.com/office/officeart/2005/8/layout/hList1"/>
    <dgm:cxn modelId="{C3CA0791-EE30-4089-8234-AF6E195E3127}" type="presParOf" srcId="{2682E70C-043F-444F-9812-AC5B4ADFFFF2}" destId="{4396F9E6-C6B6-4C29-8D97-57CE68731E87}" srcOrd="2" destOrd="0" presId="urn:microsoft.com/office/officeart/2005/8/layout/hList1"/>
    <dgm:cxn modelId="{59BC129C-D8E0-4842-855F-7C74748E0C63}" type="presParOf" srcId="{4396F9E6-C6B6-4C29-8D97-57CE68731E87}" destId="{358BF0B8-501B-4227-A9A0-A0722C193B62}" srcOrd="0" destOrd="0" presId="urn:microsoft.com/office/officeart/2005/8/layout/hList1"/>
    <dgm:cxn modelId="{5D2C8E59-E0DD-4F33-BCED-2B0235D42090}" type="presParOf" srcId="{4396F9E6-C6B6-4C29-8D97-57CE68731E87}" destId="{5B5B9845-26EC-4209-BF48-85D72DBBB2C3}" srcOrd="1" destOrd="0" presId="urn:microsoft.com/office/officeart/2005/8/layout/hList1"/>
    <dgm:cxn modelId="{B716D1C7-7515-4E80-AB2F-0EB00FC6A8BA}" type="presParOf" srcId="{2682E70C-043F-444F-9812-AC5B4ADFFFF2}" destId="{0B408101-838B-45D5-B201-78FC42C788B4}" srcOrd="3" destOrd="0" presId="urn:microsoft.com/office/officeart/2005/8/layout/hList1"/>
    <dgm:cxn modelId="{912EB616-EC60-463F-B87E-3B977D1C61A9}" type="presParOf" srcId="{2682E70C-043F-444F-9812-AC5B4ADFFFF2}" destId="{F4350685-D067-4A4E-8AA1-9DB0E320347B}" srcOrd="4" destOrd="0" presId="urn:microsoft.com/office/officeart/2005/8/layout/hList1"/>
    <dgm:cxn modelId="{C6190042-F6AC-4416-967E-D636A782A927}" type="presParOf" srcId="{F4350685-D067-4A4E-8AA1-9DB0E320347B}" destId="{9FDAB7E8-43C2-4F72-A6BB-A84F217EEDCD}" srcOrd="0" destOrd="0" presId="urn:microsoft.com/office/officeart/2005/8/layout/hList1"/>
    <dgm:cxn modelId="{37A4714E-3513-450F-A8CA-0AE6678251EB}" type="presParOf" srcId="{F4350685-D067-4A4E-8AA1-9DB0E320347B}" destId="{B929AB6B-1EF2-47EC-9FC9-1584A4332A25}" srcOrd="1" destOrd="0" presId="urn:microsoft.com/office/officeart/2005/8/layout/hList1"/>
    <dgm:cxn modelId="{D8A7C714-12E1-4D77-AB96-2F8C1C098B23}" type="presParOf" srcId="{2682E70C-043F-444F-9812-AC5B4ADFFFF2}" destId="{9321803C-D7D6-4675-91F7-E99BF8F02576}" srcOrd="5" destOrd="0" presId="urn:microsoft.com/office/officeart/2005/8/layout/hList1"/>
    <dgm:cxn modelId="{31E7C379-0441-4F4D-BE36-67804053CC05}" type="presParOf" srcId="{2682E70C-043F-444F-9812-AC5B4ADFFFF2}" destId="{FF17ACAC-ECD0-4F83-B2DF-42666BDF5424}" srcOrd="6" destOrd="0" presId="urn:microsoft.com/office/officeart/2005/8/layout/hList1"/>
    <dgm:cxn modelId="{319D8EBA-29A9-4912-959E-C3F8B191712D}" type="presParOf" srcId="{FF17ACAC-ECD0-4F83-B2DF-42666BDF5424}" destId="{DE95D66D-01D8-4FB2-AEF2-D690866C24F0}" srcOrd="0" destOrd="0" presId="urn:microsoft.com/office/officeart/2005/8/layout/hList1"/>
    <dgm:cxn modelId="{A1B76ABD-EDCA-49EB-B490-A2DC315DA31A}" type="presParOf" srcId="{FF17ACAC-ECD0-4F83-B2DF-42666BDF5424}" destId="{F6735619-549D-431F-B639-D0C9CFAAD7FF}" srcOrd="1" destOrd="0" presId="urn:microsoft.com/office/officeart/2005/8/layout/h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7CCF58-5980-4F4A-84F2-C1287DF64EC5}">
      <dsp:nvSpPr>
        <dsp:cNvPr id="0" name=""/>
        <dsp:cNvSpPr/>
      </dsp:nvSpPr>
      <dsp:spPr>
        <a:xfrm>
          <a:off x="3870" y="1141493"/>
          <a:ext cx="2327061" cy="904471"/>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kern="1200" dirty="0"/>
            <a:t>Table Facts</a:t>
          </a:r>
        </a:p>
      </dsp:txBody>
      <dsp:txXfrm>
        <a:off x="3870" y="1141493"/>
        <a:ext cx="2327061" cy="904471"/>
      </dsp:txXfrm>
    </dsp:sp>
    <dsp:sp modelId="{2AC31B0C-7AEF-4CF4-A743-807A7F9F35A6}">
      <dsp:nvSpPr>
        <dsp:cNvPr id="0" name=""/>
        <dsp:cNvSpPr/>
      </dsp:nvSpPr>
      <dsp:spPr>
        <a:xfrm>
          <a:off x="3870" y="2045964"/>
          <a:ext cx="2327061" cy="2950875"/>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kern="1200" dirty="0"/>
            <a:t>Data Maintenance
Performance Query
Data Updates</a:t>
          </a:r>
        </a:p>
      </dsp:txBody>
      <dsp:txXfrm>
        <a:off x="3870" y="2045964"/>
        <a:ext cx="2327061" cy="2950875"/>
      </dsp:txXfrm>
    </dsp:sp>
    <dsp:sp modelId="{358BF0B8-501B-4227-A9A0-A0722C193B62}">
      <dsp:nvSpPr>
        <dsp:cNvPr id="0" name=""/>
        <dsp:cNvSpPr/>
      </dsp:nvSpPr>
      <dsp:spPr>
        <a:xfrm>
          <a:off x="2656719" y="1141493"/>
          <a:ext cx="2327061" cy="904471"/>
        </a:xfrm>
        <a:prstGeom prst="rect">
          <a:avLst/>
        </a:prstGeom>
        <a:solidFill>
          <a:schemeClr val="accent3">
            <a:hueOff val="903533"/>
            <a:satOff val="33333"/>
            <a:lumOff val="-4902"/>
            <a:alphaOff val="0"/>
          </a:schemeClr>
        </a:solidFill>
        <a:ln w="12700" cap="flat" cmpd="sng" algn="ctr">
          <a:solidFill>
            <a:schemeClr val="accent3">
              <a:hueOff val="903533"/>
              <a:satOff val="33333"/>
              <a:lumOff val="-490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kern="1200" dirty="0"/>
            <a:t>Table Dimensions</a:t>
          </a:r>
        </a:p>
      </dsp:txBody>
      <dsp:txXfrm>
        <a:off x="2656719" y="1141493"/>
        <a:ext cx="2327061" cy="904471"/>
      </dsp:txXfrm>
    </dsp:sp>
    <dsp:sp modelId="{5B5B9845-26EC-4209-BF48-85D72DBBB2C3}">
      <dsp:nvSpPr>
        <dsp:cNvPr id="0" name=""/>
        <dsp:cNvSpPr/>
      </dsp:nvSpPr>
      <dsp:spPr>
        <a:xfrm>
          <a:off x="2656719" y="2045964"/>
          <a:ext cx="2327061" cy="2950875"/>
        </a:xfrm>
        <a:prstGeom prst="rect">
          <a:avLst/>
        </a:prstGeom>
        <a:solidFill>
          <a:schemeClr val="accent3">
            <a:tint val="40000"/>
            <a:alpha val="90000"/>
            <a:hueOff val="676380"/>
            <a:satOff val="33333"/>
            <a:lumOff val="593"/>
            <a:alphaOff val="0"/>
          </a:schemeClr>
        </a:solidFill>
        <a:ln w="12700" cap="flat" cmpd="sng" algn="ctr">
          <a:solidFill>
            <a:schemeClr val="accent3">
              <a:tint val="40000"/>
              <a:alpha val="90000"/>
              <a:hueOff val="676380"/>
              <a:satOff val="33333"/>
              <a:lumOff val="59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fr-FR" sz="2500" kern="1200" dirty="0"/>
            <a:t>Dimension Management Techniques
Time Dimension
</a:t>
          </a:r>
          <a:r>
            <a:rPr lang="fr-FR" sz="2500" kern="1200" dirty="0" err="1"/>
            <a:t>Hierarchical</a:t>
          </a:r>
          <a:r>
            <a:rPr lang="fr-FR" sz="2500" kern="1200" dirty="0"/>
            <a:t> Dimensions</a:t>
          </a:r>
          <a:endParaRPr lang="en-US" sz="2500" kern="1200" dirty="0"/>
        </a:p>
      </dsp:txBody>
      <dsp:txXfrm>
        <a:off x="2656719" y="2045964"/>
        <a:ext cx="2327061" cy="2950875"/>
      </dsp:txXfrm>
    </dsp:sp>
    <dsp:sp modelId="{9FDAB7E8-43C2-4F72-A6BB-A84F217EEDCD}">
      <dsp:nvSpPr>
        <dsp:cNvPr id="0" name=""/>
        <dsp:cNvSpPr/>
      </dsp:nvSpPr>
      <dsp:spPr>
        <a:xfrm>
          <a:off x="5309569" y="1141493"/>
          <a:ext cx="2327061" cy="904471"/>
        </a:xfrm>
        <a:prstGeom prst="rect">
          <a:avLst/>
        </a:prstGeom>
        <a:solidFill>
          <a:schemeClr val="accent3">
            <a:hueOff val="1807066"/>
            <a:satOff val="66667"/>
            <a:lumOff val="-9804"/>
            <a:alphaOff val="0"/>
          </a:schemeClr>
        </a:solidFill>
        <a:ln w="12700" cap="flat" cmpd="sng" algn="ctr">
          <a:solidFill>
            <a:schemeClr val="accent3">
              <a:hueOff val="1807066"/>
              <a:satOff val="66667"/>
              <a:lumOff val="-980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kern="1200" dirty="0"/>
            <a:t>Data Quality</a:t>
          </a:r>
        </a:p>
      </dsp:txBody>
      <dsp:txXfrm>
        <a:off x="5309569" y="1141493"/>
        <a:ext cx="2327061" cy="904471"/>
      </dsp:txXfrm>
    </dsp:sp>
    <dsp:sp modelId="{B929AB6B-1EF2-47EC-9FC9-1584A4332A25}">
      <dsp:nvSpPr>
        <dsp:cNvPr id="0" name=""/>
        <dsp:cNvSpPr/>
      </dsp:nvSpPr>
      <dsp:spPr>
        <a:xfrm>
          <a:off x="5309569" y="2045964"/>
          <a:ext cx="2327061" cy="2950875"/>
        </a:xfrm>
        <a:prstGeom prst="rect">
          <a:avLst/>
        </a:prstGeom>
        <a:solidFill>
          <a:schemeClr val="accent3">
            <a:tint val="40000"/>
            <a:alpha val="90000"/>
            <a:hueOff val="1352761"/>
            <a:satOff val="66667"/>
            <a:lumOff val="1186"/>
            <a:alphaOff val="0"/>
          </a:schemeClr>
        </a:solidFill>
        <a:ln w="12700" cap="flat" cmpd="sng" algn="ctr">
          <a:solidFill>
            <a:schemeClr val="accent3">
              <a:tint val="40000"/>
              <a:alpha val="90000"/>
              <a:hueOff val="1352761"/>
              <a:satOff val="66667"/>
              <a:lumOff val="118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kern="1200" dirty="0"/>
            <a:t>Data Cleansing Techniques
Quality Control</a:t>
          </a:r>
        </a:p>
      </dsp:txBody>
      <dsp:txXfrm>
        <a:off x="5309569" y="2045964"/>
        <a:ext cx="2327061" cy="2950875"/>
      </dsp:txXfrm>
    </dsp:sp>
    <dsp:sp modelId="{DE95D66D-01D8-4FB2-AEF2-D690866C24F0}">
      <dsp:nvSpPr>
        <dsp:cNvPr id="0" name=""/>
        <dsp:cNvSpPr/>
      </dsp:nvSpPr>
      <dsp:spPr>
        <a:xfrm>
          <a:off x="7962418" y="1141493"/>
          <a:ext cx="2327061" cy="904471"/>
        </a:xfrm>
        <a:prstGeom prst="rect">
          <a:avLst/>
        </a:prstGeom>
        <a:solidFill>
          <a:schemeClr val="accent3">
            <a:hueOff val="2710599"/>
            <a:satOff val="100000"/>
            <a:lumOff val="-14706"/>
            <a:alphaOff val="0"/>
          </a:schemeClr>
        </a:solidFill>
        <a:ln w="12700" cap="flat" cmpd="sng" algn="ctr">
          <a:solidFill>
            <a:schemeClr val="accent3">
              <a:hueOff val="2710599"/>
              <a:satOff val="100000"/>
              <a:lumOff val="-1470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kern="1200" dirty="0"/>
            <a:t>Data Security</a:t>
          </a:r>
        </a:p>
      </dsp:txBody>
      <dsp:txXfrm>
        <a:off x="7962418" y="1141493"/>
        <a:ext cx="2327061" cy="904471"/>
      </dsp:txXfrm>
    </dsp:sp>
    <dsp:sp modelId="{F6735619-549D-431F-B639-D0C9CFAAD7FF}">
      <dsp:nvSpPr>
        <dsp:cNvPr id="0" name=""/>
        <dsp:cNvSpPr/>
      </dsp:nvSpPr>
      <dsp:spPr>
        <a:xfrm>
          <a:off x="7962418" y="2045964"/>
          <a:ext cx="2327061" cy="2950875"/>
        </a:xfrm>
        <a:prstGeom prst="rect">
          <a:avLst/>
        </a:prstGeom>
        <a:solidFill>
          <a:schemeClr val="accent3">
            <a:tint val="40000"/>
            <a:alpha val="90000"/>
            <a:hueOff val="2029141"/>
            <a:satOff val="100000"/>
            <a:lumOff val="1779"/>
            <a:alphaOff val="0"/>
          </a:schemeClr>
        </a:solidFill>
        <a:ln w="12700" cap="flat" cmpd="sng" algn="ctr">
          <a:solidFill>
            <a:schemeClr val="accent3">
              <a:tint val="40000"/>
              <a:alpha val="90000"/>
              <a:hueOff val="2029141"/>
              <a:satOff val="100000"/>
              <a:lumOff val="177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kern="1200" dirty="0"/>
            <a:t>Data Security Risks
Data Protection Strategy
Regulation</a:t>
          </a:r>
        </a:p>
      </dsp:txBody>
      <dsp:txXfrm>
        <a:off x="7962418" y="2045964"/>
        <a:ext cx="2327061" cy="2950875"/>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ax="3600" units="cm"/>
          <inkml:channel name="Y" type="integer" max="2208" units="cm"/>
          <inkml:channel name="T" type="integer" max="2.14748E9" units="dev"/>
        </inkml:traceFormat>
        <inkml:channelProperties>
          <inkml:channelProperty channel="X" name="resolution" value="119.2053" units="1/cm"/>
          <inkml:channelProperty channel="Y" name="resolution" value="116.82539" units="1/cm"/>
          <inkml:channelProperty channel="T" name="resolution" value="1" units="1/dev"/>
        </inkml:channelProperties>
      </inkml:inkSource>
      <inkml:timestamp xml:id="ts0" timeString="2025-09-08T04:02:09.176"/>
    </inkml:context>
    <inkml:brush xml:id="br0">
      <inkml:brushProperty name="width" value="0.05292" units="cm"/>
      <inkml:brushProperty name="height" value="0.05292" units="cm"/>
      <inkml:brushProperty name="color" value="#C00000"/>
    </inkml:brush>
  </inkml:definitions>
  <inkml:trace contextRef="#ctx0" brushRef="#br0">11675 7790 0,'0'0'0,"0"0"15,0-10-15,0 1 0,-10-10 16,10 9 0,-9 0-16,9 1 0,-10 9 0,1-10 15,0 1-15,-1-1 16,1 1-16,-1-1 16,-8 0-16,-1 1 15,-10-10-15,1-1 16,-9 1-16,-1 0 15,0 9-15,1 1 16,-1 9-16,0 0 16,1 0-16,-20 0 0,-8 0 15,-48 9-15,-47 1 0,-47 9 16,-57 10-16,76-10 16,38 0-16,56 1 15,47-11-15,-47 20 16,-10 19-16,10-10 15,-10-9-15,10 0 16,0-1-16,0 1 16,0 0-16,19 0 15,0-10-15,-10 10 16,0-10-16,1 10 16,-1-1-16,-9 11 15,-10-1-15,-8 10 0,-20 9 16,-9 11-16,-10 18 0,1 0 15,-10 0-15,28-9 16,10 0-16,-10 19 16,-9 9-16,19-9 15,9-10-15,19 10 16,9 0-16,0-10 16,-9 1-16,28-11 15,10-18-15,0 9 16,9 0-16,-1 0 0,11 0 15,-1-9-15,10-1 0,0 1 16,9-10-16,-9 9 16,0 10-16,-1 0 15,10 10-15,1-19 16,8-1-16,1-9 16,-1 0-16,1 9 15,9 11-15,0-11 16,9-9-16,1 10 15,-1-1-15,10 10 16,9 10-16,1 0 16,-11-10-16,11 0 0,-11-10 15,11-9-15,-11-9 0,20 18 16,9 1-16,10 9 16,-1 9-16,0-18 15,1-1-15,-10-9 16,0-9-16,19 9 15,0-10-15,-1 10 16,1-10-16,0 1 16,0-1-16,0 0 15,9 1-15,0-11 0,1 1 0,-1 0 16,10-10-16,-1 0 16,1 0-16,0 1 15,-10-1-15,10 0 16,-1 0-16,1-9 15,9-1-15,-9 1 16,-10-1-16,0 1 16,0-10-16,10 10 15,0-10-15,-1 9 16,-8 1-16,8-1 16,1 1-16,0 0 15,-1 9-15,1-10 16,-10-9-1,19 10-15,0-10 0,-9 10 16,0-1-16,-1 1 0,10-1 0,1-9 16,-11 0-16,1 10 15,0-1-15,9 1 16,0-10-16,0 0 16,0 0-1,0 0-15,0 0 0,0 0 16,0 0-16,0 10 15,10-1-15,-1 1 16,1-10-16,9 9 16,9-9-16,0 10 15,0-10-15,10-10 16,0 1-16,0-1 0,-10 1 16,10-11-1,-1-8-15,1-1 0,9 0 0,-9 0 16,-10 10-16,10 0 15,-10-10-15,-9 1 16,0-11-16,0-9 31,9-9-31,-9-1 0,-10 1 0,-9-1 16,1 10-16,-1-19 16,0 0-16,-10 0 15,-8 9-15,-11 1 0,-18 9 0,1-10 31,-11 1-31,1-10 16,-1-10-16,-8 20 16,-1-1-16,-9 10 0,-1 10 0,1-10 15,0 0-15,-9-10 16,-1 1-16,-9-1 16,0 1-16,0-1 15,0-9-15,-9 0 16,-1 0-16,-9 0 15,0-10 1,1 10-16,-1-10 0,0 1 16,-9-1-16,0 0 15,-1-9-15,-8 9 16,-10-9-16,0 0 16,-10 0-16,1-1 15,-1-9-15,1 1 16,-1-1-16,1 9 15,0 1-15,-10-10 16,0-9-16,9 9 0,1 10 16,0 9-16,-1 20 0,-9-20 15,-9-9-15,9 9 16,0 0-16,0 20 16,10-1-16,-19 1 15,-1-1-15,1 1 16,9 9-16,0 9 15,10 1-15,-19 0 16,0-10-16,-1 0 0,1 0 16,9 19-16,0 0 0,-9 1 15,0-1-15,0 0 16,9 10-16,0 0 16,9 9-16,-8 0 15,-1 1-15,0-1 16,0 10-16,10 0 15,-1 0-15,1 0 16,9 0-16,-19 0 16,0 0-16,0 10 15,10-1-15,-1 1 0,10 0 0,0-1 16,9 10-16,10 1 31,0-1-31,9 0 0,0 0 0,10-9 16,0-1-16</inkml:trace>
  <inkml:trace contextRef="#ctx0" brushRef="#br0" timeOffset="8822.65">10038 9688 0,'0'0'0,"0"0"0,0 0 0,0 0 0,0 0 15,0 0 1,9 0-16,10 0 0,0-10 16,28 1-1,9-1-15,19 1 0,10-10 16,0 9-16,9-9 15,9 9 1,1-9-16,9 9 0,0 1 16,0-1-1,-10-9-15,-9 10 0,0-11 16,0 11 0,0-10-16,0 9 15,-9 0-15,0 1 16,-1 9-16,10-10 15,10-9-15,-1 9 16,-9 1-16,10 9 16,9 0-16,-19 0 15,0 9-15,0-9 16,-9 0-16,-10 0 16,0 0-16,-9 0 15,-19 0-15,0 0 16,0 0-16,0 0 15,0 0-15,0 0 16,0 10-16,-9-10 16,0 0-16,-10 0 15,0 10-15,-9-1 16,0-9-16,0 10 16,-1-10-16,1 9 15,-9-9-15,8 10 16,-8-10-16,9 10 15,-10-10-15,10 9 16,-10 1-16,10-1 16,-10 1-16,10 0 15,0 9-15,0 0 16,9-10 0,0 11-16,10-1 0,0 0 15,-10 0-15,0 0 16,0 10-1,0 0-15,10 9 16,-10 10-16,1 0 16,-1 0-16,0 0 15,0 0-15,-9 9 16,9 1-16,0-10 16,1 9-1,-10-9-15,9 10 0,0-1 16,-9-9-16,0-9 15,-1-1 1,-8-9-16,-1 9 16,1-9-16,-1 9 15,10 10-15,-10 0 16,1 0-16,-1 0 0,0 0 16,-9 0-1,0 9-15,0 1 16,-9 9-16,-10 10 15,-9-1-15,0 1 16,0 9-16,-10 10 16,-9 0-16,9 0 15,1-10-15,-1 0 16,-9 1-16,0-1 16,0 10-16,0-10 15,0 0-15,0 1 16,9-1-16,1 0 15,-1-9-15,0 9 16,1-9-16,-1 0 16,0-1-16,1-9 15,9-9-15,-1-1 16,11 1-16,-1-10 16,-10-10-16,11 0 15,-1 1-15,0-1 16,10-9-16,-1 9 15,-9-9-15,10 9 16,-10-9-16,10 0 16,9-10-16,0 10 15,-10-10-15,10 10 16,-9-10-16,9 0 31,-9 0-31,9 0 0,-10 10 0,10 0 16,-9-10-16,9 10 15,-10 0-15,10-10 16,0 0-16,0 0 16,0 10-16,0-10 15,10 0-15,-1 0 16,-9 1-16,10-11 16,-10 1-16,9-1 15,0 11-15,1-11 16,9 1-16,-1-1 15,-8 1-15,9-1 32,-10 1-32,10 0 15,-10-10-15,10 9 0,-10-9 16,10 10-16,-9-10 16,-1 9-1,1-9-15,-1 0 16,0 0-16,1 0 15,-1 0 1,1 0-16,-1 0 0,0 0 16,1 0-16,-1 0 15,-9 0-15,10 0 16,-10 0-16,9 0 16,0 0-16,1 0 15,-1 0-15,1 0 16,-1 0-16,0 0 15,-9 0-15,10 0 16,-10 0-16,9 0 16,-9 0-16,10 0 15,-10 0-15,9 0 16,-9 0 0,9 0-1,-9 0-15,0 0 16,0 0-16,0 0 15,0 0-15,0 0 16,0 0-16,0 0 16,0 0-16,0 0 15,0 0-15</inkml:trace>
  <inkml:trace contextRef="#ctx0" brushRef="#br0" timeOffset="13269.87">17357 12468 0,'0'0'0,"0"0"0,0 0 0,0 0 16,0 0-16,0 0 15,-10 0-15,1 0 16,-1-9-16,-8-1 16,-1 0-16,-9 1 15,-1-1-15,-8 1 16,-1-1-16,0 0 15,10-9-15,-9 10 32,-1 9-32,-9 0 0,-19-10 0,10 10 15,-10 10-15,-9-1 16,-1-9 0,-18 0-1,-9-9-15,9 9 0,-10 9 16,-9 10-1,0 1-15,-18 8 0,-20 1 16,10 9-16,9 1 16,-18 18-16,-19 1 15,9 9 1,-10 0-16,20 0 16,18 10-16,0 0 15,1-1 1,18-9-16,0-9 0,9 9 31,10-10-31,-9 11 0,-10-1 0,9 0 31,10 0-31,0 10 16,-9-1-16,18 1 0,19-10 16,10 0-16,9 0 0,0 0 15,9-9-15,1 19 16,-11 9-16,11 0 15,-1-9-15,10 0 16,9-10-16,10 0 16,-1 0-16,1-10 31,9-9-31,0 0 16,9 0-16,10 0 15,0-10-15,9 10 16,0-9-16,10 9 15,9 9-15,19 1 16,19 9-16,9-10 16,0 1-16,19-1 15,0-9-15,9 0 16,10 0-16,-10-10 16,0-9-16,19 10 15,0-1-15,0 0 16,-9 1-16,9-11 15,0 1-15,19 0 16,0 0-16,-9-10 16,-1 0-16,1 0 15,9 0-15,18 1 16,11-1-16,8-10 16,20-9-16,-20 0 15,-9 0-15,0 0 16,-9-9-16,9-1 15,-9 1-15,0-11 16,0-18-16,18 0 16,1-10-16,-1-10 15,1 1-15,-20-10 16,-8-10-16,-29 0 16,-19-9-16,1 0 15,-11-1-15,-8 1 16,-1-10-16,-18 10 15,-19 0-15,-10-10 16,-9-10-16,-9 1 16,0-1-16,-10-9 15,-19-9-15,1-20 16,-10-9-16,-10 9 16,-9-10-16,-9 11 15,-9-1-15,-20 0 16,-9 0-16,-9 10 15,-10 0-15,-9 19 16,-9 0 0,-10 9-16,0 1 0,-9 19 15,-1-1 1,-8 11-16,-1-1 16,-9 19-16,0 1 0,-19-1 15,-19 10-15,10 10 16,-10 0-16,19 19 15,0-1-15,19 20 16,19 0-16,0 0 16,-1 10-16,20 0 15,9 9-15,18 0 16,20-9-16,9 9 16,0-10-16,-10 30 15,1 18-15,-47 49 31,-29 47-31</inkml:trace>
  <inkml:trace contextRef="#ctx0" brushRef="#br0" timeOffset="19035.16">10574 8250 0,'0'0'0,"0"0"0,0 0 0,-9 0 15,-10-9-15,-10-1 16,-18-9-16,0 9 15,-9-9-15,-19 9 16,-29 1-16,1 9 16,-20 0-16,11 9 15,-1 11 1,19-1-16,9-10 0,10 11 16,18-11-16,-9 20 15,1 0 1,-1 9-16,0 0 15,9 10 1,1 10-16,18-10 16,1 0-16,8-10 15,11-9-15,-1 9 0,9-9 16,1 19-16,-10 19 16,10-10-16,9 11 15,9-11-15,1 1 16,18 18-16,0 11 15,10-20-15,9 0 16,9-10-16,1-9 16,-1 0-16,10-10 15,9 1 1,0-10-16,10-10 0,0 0 16,9-10-16,9-9 15,1 0 1,-1 0-16,10 20 15,9-1-15,1-10 16,-10-9-16,0-9 16,-1-1-16,1 1 15,0-1-15,-9 0 16,-10-9-16,9 0 16,-9-10-16,-9-9 15,0 0-15,-1-1 16,1-9-16,-10 10 15,0 0-15,-9 9 16,0 0-16,0-9 16,9-20-16,-18 10 15,-1-9-15,-18 19 16,-10-1-16,0 1 16,0-10-16,-9 10 15,-9-10-15,-1 9 16,1 11-16,-10-11 15,0 1-15,0 0 16,-10 9-16,1-10 16,-10 1-16,0 0 15,-9-1-15,0 1 16,-1 0 0,-8-1-16,-1 11 0,-9-11 15,-9-9-15,-20 0 16,-8 0-16,8 10 15,-8 0-15,-10 9 16,-10 0-16,1 10 16,-10 0-16,0 0 15,-9-10-15,9 19 16,-9 1-16,9 9 16,0 0-16,9 0 15,10 9-15,10 1 16,8 9-16,-65 10 15,-38 0-15</inkml:trace>
  <inkml:trace contextRef="#ctx0" brushRef="#br0" timeOffset="25865.98">7592 10119 0,'0'0'0,"0"0"0,0 0 0,0 0 16,-10 0-16,1 0 15,-10 0-15,0 0 16,-9 10-16,0 0 15,-10 9-15,-9 0 16,-9-9-16,-1 18 16,1 11-16,-1 9 15,10 0-15,0-1 16,10 1-16,9-9 16,-1-1-16,10 0 15,1-9-15,-1 19 16,9 10-16,1-1 15,0 10-15,-1-9 16,10-10-16,0 9 16,10 1-16,-1 18 15,10 1-15,0 0 16,-1-10-16,1 0 16,0 0-16,0 19 15,9 1-15,0-11 16,-9-9-16,9-9 15,-9-20-15,9 10 16,10 10-16,0-1 16,-1 10-16,-8-9 15,-1-10-15,0 0 16,0 0-16,0 0 16,-9 0-16,9 9 31,-9 1-31,0 9 0,0 0 0,0 0 15,0-10-15,-10 11 16,0-11-16,1 10 16,-10 0-16,0-9 31,0-1-31,0-9 0,0-19 16,0 0-1,0 0-15,0-1 16,0-9-16,0 1 15,-10-1-15,1 0 0,0 0 16,-1 0 0,1-9-16,-1 9 0,1 0 15,0-9-15,-1-1 16,1 1 0,-1 0-16,1-1 15,-1 1-15,1-1 16,-10 1-16,10 0 15,-10-10-15,10 9 16,-10 1 0,9-1-16,-8 1 0,8-10 15,10 0-15,0 0 16,-9 0-16,9 0 16,-10 0-16,10 0 0,0 0 15</inkml:trace>
  <inkml:trace contextRef="#ctx0" brushRef="#br0" timeOffset="26290.1">7150 13666 0,'0'0'0,"0"0"0,0 0 0,0 0 0,0 0 16,0 0 0,9 10-16,0 0 15,-9-1-15,10 10 16,9 10-16,-1 0 16,-8 9-16,9-9 15,0-10-15,-10 0 16,0 0-16,1-9 15,-1 0-15,1-1 16,-1 1-16,0-10 16,-9 0-16,10 0 15,-10 0-15,19 0 16,-1-10-16,20-9 16,0 0-16,-1 0 15,1 0-15,-10-1 16,-9 11-16,-10-1 31,1 10-31,-1 0 0,-9-9 0</inkml:trace>
  <inkml:trace contextRef="#ctx0" brushRef="#br0" timeOffset="29517.4">7827 10666 0,'0'0'0,"0"0"0,0 0 0,0 0 16,0 0-16,0 0 15,0 0-15,0 0 16,0 0-16,0 0 16,0 0-16,-9 0 15,-1 0-15,1 0 16,-1 0-16,-8 0 15,-1 0-15,0 0 16,0 0-16,0 0 16,0-10-16,1 10 15,8-9 1,1 9 0,-10-10-16,10 10 0,-10-9 15,0-1 1,0 0-16,0 1 15,1-1-15,-1 1 16,0-1-16,0-9 16,0 0-16,0 0 15,-9-10-15,9 10 16,1-1-16,-1 1 16,-9-10-16,9 10 15,0-9-15,0-1 0,0 0 16,0 0-1,10 1-15,-10-11 16,0-9-16,1 0 16,8-9-16,1 9 15,-10-10-15,10-9 16,9 0-16,-10 0 16,1-10-16,-1-9 15,10 0-15,0-1 16,-9 11-1,9-1-15,0-9 0,0 9 16,-9-9-16,9 9 16,0-9-16,0 9 31,0-9-31,0 19 0,0 0 0,0 9 16,0 10-16,0 10 15,0 0-15,0-1 16,0 10-16,0 1 31,-10-11-31,10 11 0,0 8 0,0 1 31,0 10-31,0-1 0,0-9 0,0 9 32,0-9-32,0 10 0,0-11 0,0 11 15,0-1 1,0 1-16,0-1 15,0 0-15,0-9 0,0 10 16,0-10 0,0 9-1,0-9-15,0 0 0,10-1 0,-1 1 16,-9 0-16,9 0 16,-9-10-16,0 10 15,0-10-15,0 10 16,0 0-16,0 0 15,0 9 1,0 1 0,0-11-16,0 11 0,0-10 0,0-1 15,10 1-15,-10 0 16,0 9 0,0 1-16,0-10 0,0 9 15,0-9-15,0 9 31,0-9-31,0 10 16,0-1-16,0 0 16,0-9-16,0 10 0,0-10 15,0 9 1,9-9-16,-9 9 16,0 1-16,0-1 15,0 0 1,0 1-16,0-10 15,0 9 1,0-9-16,0 9 0,0 1 16,0-1-1,0-9-15,0 9 0,0-9 16,0 10-16,0-11 16,0 11-1,0-1-15,0 1 16,0-1-16,0 1 15,0-11-15,0 11 16,-9-10-16,9 9 16,-10-9-16,10 9 15,-9 1-15,9-11 16,-9 1-16,9 0 16,-10 10-16,1-11 15,-1 1-15,1 0 16,0 0-16,-1 0 15,1 9-15,-1-9 16,-9 0-16,1 0 16,-1-1-16,0 1 15,0 0-15,0 0 16,-9-10-16,0 10 16,0 9-16,0 1 15,9-10-15,-10-1 16,1 1-16,0 0 15,0 10-15,0-1 16,-10-9-16,0 9 16,1-9-16,-1 9 15,10-9-15,0 10 16,9 9-16,0 0 16,10-10-16,-1 10 15,-9-10-15,10 10 16,9 0-16,0 0 15,0-9-15</inkml:trace>
  <inkml:trace contextRef="#ctx0" brushRef="#br0" timeOffset="30396.49">6228 5854 0,'0'0'0,"0"9"0,-10 1 0,-27 9 16,-1 0-16,-18 19 16,-20 1-16,20-1 15,-1-9-15,20-10 16,18-9-16,-9 9 16,9-10-16,0 11 15,0 8-15,1 11 16,-1 9-16,0 0 15,9-10-15,1 0 16,0 1-16,9-1 16,0 0-16,9 1 15,0 9-15,20-1 32,-1-8-32,10-1 0,9 0 0,9 1 15,0-1-15,10-9 16,10-19-16,-1-1 15,10-18-15,-10-1 16,0-9-16,0-10 31,-9 0-31,9-9 0,-9 0 0,-9-1 16,-1 1-16,-9 0 16,-19 9-16,1 0 15,-11-9-15,1 9 16,-9 0-16,-1 0 15,0 10-15,-9 10 16,0-1-16,0 0 16,-9-9-16,-10 0 15,-9 0-15,0 0 16,-10-10-16,10 10 16,-10 0-1,10-1-15,-10 11 16,-9-1-1,-18 10-15,27 0 0,0-9 0</inkml:trace>
  <inkml:trace contextRef="#ctx0" brushRef="#br0" timeOffset="34309.78">10085 10781 0,'0'0'0,"0"0"0,0 0 16,0 0-16,0 0 15,0 0-15,0 0 16,0 0 0,0 0-16,0 0 0,0 0 15,0 0 1,9 0-16,10 0 16,0 0-16,28 0 15,19 10-15,9-1 16,10-9-16,18 0 15,10-9-15,0 9 16,0-10-16,9 0 16,0 1-16,1-1 15,-10-9-15,-1 9 16,-8-9-16,9-10 16,9-9-16,-9 0 15,0-10-15,0 0 16,9-10-16,-9 10 15,0-9-15,-10 9 16,1 0-16,-1 0 16,-9 0-16,10 0 15,-10-9-15,-19 9 16,-18 0 0,8 0-16,11 0 0,-1-9 15,-9-1-15,-10 0 16,1 1-16,-10 9 15,-19 0-15,0 10 16,0-1-16,1 1 16,-11-10-16,1 0 15,0 0-15,-10 0 16,1 10-16,-1 0 16,1-10-16,-1 0 15,-9-10-15,10 10 16,-10-9-16,9-1 31,0-9-31,1 10 16,9-10-16,-1 9 0,-8-9 0,9 0 15,9-10 1,0 0-16,10-9 0,-10 10 31,0-1-31,0 0 0,10 10 0,0 0 16,-1-10-1,10 1-15,10-1 16,-1 0 0,-9 0-16,0 20 0,0-1 15,-9 10-15,0 10 16,-10 0-16,0 9 16,0 0-1,0 10-15,1 0 16,-1 0-16,0 0 15,0 9-15,1 0 0,-1 10 16,-9 0-16,-1-9 31,1 9-31,0-10 0,0 10 32,0-9-32,-1 9 0,1-10 15,0 10 1,-10-10-16,10 10 15,-9-9-15,9 9 16,-10-10-16,10 10 16,-10-9-16,1 9 15,-1-10-15,0 10 16,1 0-16,-1 0 16,1-9-16,-1 9 15,0-10-15,1 10 16,-10-10-16,9 10 15,-9 0-15,10 0 16,-10-9-16,9 9 16,-9 0-16,9 0 15,-9 0-15</inkml:trace>
  <inkml:trace contextRef="#ctx0" brushRef="#br0" timeOffset="38547.86">11486 11289 0,'0'0'0,"0"0"0,0 0 0,0 0 16,0 0-16,0 0 15,0 0-15,0 0 16,0 0-16,0 0 16,10 0-16,-1 0 15,-9-10-15,19 10 16,0-9-16,19 9 15,18-10 1,10 10-16,0-9 16,28 9-1,9 0-15,1 0 0,9-10 16,-1 10-16,-8 10 16,-1-10-1,1 0-15,-1-10 0,-9 0 16,10 1-16,-1-10 15,1 9-15,-10 1 16,9-1-16,-8-9 16,-11 9-16,1-9 15,-10 9-15,-9-9 0,9 10 16,-9-10 0,0-1-16,-10 1 15,1 0-15,-1-10 16,-9 10-1,0-10-15,0 10 0,0 0 16,0-10-16,1 0 0,-11 1 31,1-1-31,-10 0 0,0-9 16,0 9-16,1-9 16,-11-1-1,1-9-15,0 10 0,-9-10 16,-1 10-16,0 9 15,1-9 1,-10-1-16,0-18 16,0-10-16,0-10 15,0 0-15,-10 1 0,-8-11 16,-11 1 0,-8 0-16,-10 0 15,-10-10-15,10 0 16,-9-10-16,-1 11 15,1-11-15,-10 1 16,-9-1-16,-1 10 16,1 0-16,-9-9 15,-11 0-15,1-1 16,0-9-16,19 19 16,0 10-16,-10-20 15,-9-9-15,9 10 16,1 9-16,-1-9 15,0-1-15,1-9 16,-1 0-16,19 10 16,0-1-16,10-18 15,-1-11-15,20 11 16,-1 9-16,10 0 16,9 0-16,0 0 15,10 9-15,9 1 16,0-10-16,9 0 15,1 0-15,-1 9 16,10 1-16,0-1 31,9 1-31,0-1 0,10 11 0,-1 8 16,-8 11-16,8 8 16,-8 11-16,-11-1 15,1 10-15,0 10 16,-10 0-16,1 19 15,-1-1 1,-9 11 0,0-1-16,0 1 15,0-10-15,0 9 16,0-9-16,0 9 16,-9 1-16,-1-1 15,1 0-15,0 1 16,-10 9-16,0 0 15,0-10-15,0 10 16,1-9-16,-1 9 16,0 0-16,0 0 15,10 0-15,-10 0 16,0 0-16,0 0 16,0 0-16,1 0 15,-1 9-15,0 1 16,0-10-16,0 0 15,10 0-15,0 0 16,-1 0 0,1 0-16,-1 0 0,1 0 15,9 0-15,0 0 16,-10 0-16,10 0 16,-9 0-16,9 0 15,-9 0-15,9 0 16,-10 0-1,10 0-15,0 0 16,0 0 0,-9 0-16,9 0 15,-10 0-15,10 0 16,-9 0-16,0 0 16,-1 0-16,1 0 15,-1 0-15,1 0 16,0 0-16,-1 0 15,-9 0-15,10 0 16,-10 9-16,10-9 16,-1 0-16,1 0 15,0 10-15,-1 0 16,10-10-16,0 0 16,-9 0-16,-1 0 15,1 9-15,-1 1 16,1-10-16,0 9 15,9-9-15,0 0 16,-10 0-16,10 0 16,0 0-16</inkml:trace>
  <inkml:trace contextRef="#ctx0" brushRef="#br0" timeOffset="39256.82">11675 4301 0,'0'0'0,"0"0"0,0 0 0,0 0 31,0 0-31,0 0 16,0 0-16,0 0 0,0 0 0,0 0 16,0 0-1,0 0-15,-10 9 0,1 1 16,-1 9 0,1 0-16,-10 0 15,10 0-15,-10 1 16,10-1-16,9-10 15,0 11-15,-10-11 16,10 1-16,-9-1 16,9 1-16,0-1 15,9 1-15,1 0 16,27-10-16,29-10 16,19-9-1,9-10-15,0 0 0,0 1 16,-28 8-16,-10 1 15,-18 10 1,-19-1-16,9 0 16,-9 10-16,-10 0 15,0-9-15,1 9 16,-1-10-16,1 10 16,-10 0-16,0 0 15,0 0-15,0 0 16,0 0-16</inkml:trace>
  <inkml:trace contextRef="#ctx0" brushRef="#br0" timeOffset="39415.51">12361 3994 0,'0'0'0,"0"0"0,0 0 0,0 0 0,0 9 15,0-9-15,0 20 16,0 8-16,0 1 31,-9-10-31</inkml:trace>
  <inkml:trace contextRef="#ctx0" brushRef="#br0" timeOffset="49889.4">12832 11586 0,'0'0'0,"0"0"0,0 0 0,0 0 16,0 0-16,0 0 15,0 0-15,0 0 16,0 0-16,0 0 15,0 0-15,0 0 16,0 0-16,0 0 16,0 0-16,0 0 15,0 0-15,0 0 16,0 0-16,0 0 16,0 0-1,0 0-15,9 0 0,1 0 16,-10 10-1,9-1-15,10-9 16,0 10 0,9-10-16,0 10 15,0-10-15,10 9 16,-1 1-16,1-1 16,9 1-16,10-10 15,-1 0-15,19 0 16,1 9-16,-1 1 15,0-10-15,0 0 16,10 0-16,9 0 16,10 0-16,-10 0 15,0 0-15,0 0 16,0-10-16,-9 1 16,-10-1-16,-9 1 15,-19 9-15,0 0 16,0-10-16,-10 10 15,1-9-15,-10 9 16,0-10-16,-9 10 16,0-10-16,-10 10 15,1 0-15,-1 0 16,1 0-16,-10 0 16,0 0-16,0 0 15,0 0-15,0 0 16,0 0-16,0 0 15,0 0-15</inkml:trace>
  <inkml:trace contextRef="#ctx0" brushRef="#br0" timeOffset="51119.92">12907 12018 0,'0'0'0,"0"0"0,0 0 0,0 0 0,0 0 15,0 0-15,0 0 16,0 0-16,9 0 16,1 0-1,18 0-15,10 0 0,18 0 16,10-10-16,28 10 16,19-10-16,0 10 15,9 0-15,-9 0 16,0 10-16,-10-10 15,1 0-15,-20 0 16,-8 0-16,8 0 31,1 0-31,-19 0 16,-10 0-16,-9 0 0,-18 0 0,-11 0 16,-8-10-16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DF5E33-972C-4343-9224-08F2E9057A49}" type="datetimeFigureOut">
              <a:rPr lang="en-US" smtClean="0"/>
              <a:t>9/9/2025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72E39C-EDF3-4CF3-8665-DA7606AB9101}" type="slidenum">
              <a:rPr lang="en-US" smtClean="0"/>
              <a:t>‹#›</a:t>
            </a:fld>
            <a:endParaRPr lang="en-US"/>
          </a:p>
        </p:txBody>
      </p:sp>
    </p:spTree>
    <p:extLst>
      <p:ext uri="{BB962C8B-B14F-4D97-AF65-F5344CB8AC3E}">
        <p14:creationId xmlns:p14="http://schemas.microsoft.com/office/powerpoint/2010/main" val="37163856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2D72E39C-EDF3-4CF3-8665-DA7606AB9101}" type="slidenum">
              <a:rPr lang="en-US" smtClean="0"/>
              <a:t>1</a:t>
            </a:fld>
            <a:endParaRPr lang="en-US"/>
          </a:p>
        </p:txBody>
      </p:sp>
    </p:spTree>
    <p:extLst>
      <p:ext uri="{BB962C8B-B14F-4D97-AF65-F5344CB8AC3E}">
        <p14:creationId xmlns:p14="http://schemas.microsoft.com/office/powerpoint/2010/main" val="38339385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2D72E39C-EDF3-4CF3-8665-DA7606AB9101}" type="slidenum">
              <a:rPr lang="en-US" smtClean="0"/>
              <a:t>2</a:t>
            </a:fld>
            <a:endParaRPr lang="en-US"/>
          </a:p>
        </p:txBody>
      </p:sp>
    </p:spTree>
    <p:extLst>
      <p:ext uri="{BB962C8B-B14F-4D97-AF65-F5344CB8AC3E}">
        <p14:creationId xmlns:p14="http://schemas.microsoft.com/office/powerpoint/2010/main" val="9980328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2D72E39C-EDF3-4CF3-8665-DA7606AB9101}" type="slidenum">
              <a:rPr lang="en-US" smtClean="0"/>
              <a:t>3</a:t>
            </a:fld>
            <a:endParaRPr lang="en-US"/>
          </a:p>
        </p:txBody>
      </p:sp>
    </p:spTree>
    <p:extLst>
      <p:ext uri="{BB962C8B-B14F-4D97-AF65-F5344CB8AC3E}">
        <p14:creationId xmlns:p14="http://schemas.microsoft.com/office/powerpoint/2010/main" val="30881095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2D72E39C-EDF3-4CF3-8665-DA7606AB9101}" type="slidenum">
              <a:rPr lang="en-US" smtClean="0"/>
              <a:t>4</a:t>
            </a:fld>
            <a:endParaRPr lang="en-US"/>
          </a:p>
        </p:txBody>
      </p:sp>
    </p:spTree>
    <p:extLst>
      <p:ext uri="{BB962C8B-B14F-4D97-AF65-F5344CB8AC3E}">
        <p14:creationId xmlns:p14="http://schemas.microsoft.com/office/powerpoint/2010/main" val="3922335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2D72E39C-EDF3-4CF3-8665-DA7606AB9101}" type="slidenum">
              <a:rPr lang="en-US" smtClean="0"/>
              <a:t>6</a:t>
            </a:fld>
            <a:endParaRPr lang="en-US"/>
          </a:p>
        </p:txBody>
      </p:sp>
    </p:spTree>
    <p:extLst>
      <p:ext uri="{BB962C8B-B14F-4D97-AF65-F5344CB8AC3E}">
        <p14:creationId xmlns:p14="http://schemas.microsoft.com/office/powerpoint/2010/main" val="33838419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2D72E39C-EDF3-4CF3-8665-DA7606AB9101}" type="slidenum">
              <a:rPr lang="en-US" smtClean="0"/>
              <a:t>7</a:t>
            </a:fld>
            <a:endParaRPr lang="en-US"/>
          </a:p>
        </p:txBody>
      </p:sp>
    </p:spTree>
    <p:extLst>
      <p:ext uri="{BB962C8B-B14F-4D97-AF65-F5344CB8AC3E}">
        <p14:creationId xmlns:p14="http://schemas.microsoft.com/office/powerpoint/2010/main" val="35214092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2D72E39C-EDF3-4CF3-8665-DA7606AB9101}" type="slidenum">
              <a:rPr lang="en-US" smtClean="0"/>
              <a:t>8</a:t>
            </a:fld>
            <a:endParaRPr lang="en-US"/>
          </a:p>
        </p:txBody>
      </p:sp>
    </p:spTree>
    <p:extLst>
      <p:ext uri="{BB962C8B-B14F-4D97-AF65-F5344CB8AC3E}">
        <p14:creationId xmlns:p14="http://schemas.microsoft.com/office/powerpoint/2010/main" val="6757652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2D72E39C-EDF3-4CF3-8665-DA7606AB9101}" type="slidenum">
              <a:rPr lang="en-US" smtClean="0"/>
              <a:t>9</a:t>
            </a:fld>
            <a:endParaRPr lang="en-US"/>
          </a:p>
        </p:txBody>
      </p:sp>
    </p:spTree>
    <p:extLst>
      <p:ext uri="{BB962C8B-B14F-4D97-AF65-F5344CB8AC3E}">
        <p14:creationId xmlns:p14="http://schemas.microsoft.com/office/powerpoint/2010/main" val="16659590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2D72E39C-EDF3-4CF3-8665-DA7606AB9101}" type="slidenum">
              <a:rPr lang="en-US" smtClean="0"/>
              <a:t>11</a:t>
            </a:fld>
            <a:endParaRPr lang="en-US"/>
          </a:p>
        </p:txBody>
      </p:sp>
    </p:spTree>
    <p:extLst>
      <p:ext uri="{BB962C8B-B14F-4D97-AF65-F5344CB8AC3E}">
        <p14:creationId xmlns:p14="http://schemas.microsoft.com/office/powerpoint/2010/main" val="25486975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2D72E39C-EDF3-4CF3-8665-DA7606AB9101}" type="slidenum">
              <a:rPr lang="en-US" smtClean="0"/>
              <a:t>13</a:t>
            </a:fld>
            <a:endParaRPr lang="en-US"/>
          </a:p>
        </p:txBody>
      </p:sp>
    </p:spTree>
    <p:extLst>
      <p:ext uri="{BB962C8B-B14F-4D97-AF65-F5344CB8AC3E}">
        <p14:creationId xmlns:p14="http://schemas.microsoft.com/office/powerpoint/2010/main" val="2416438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2D72E39C-EDF3-4CF3-8665-DA7606AB9101}" type="slidenum">
              <a:rPr lang="en-US" smtClean="0"/>
              <a:t>15</a:t>
            </a:fld>
            <a:endParaRPr lang="en-US"/>
          </a:p>
        </p:txBody>
      </p:sp>
    </p:spTree>
    <p:extLst>
      <p:ext uri="{BB962C8B-B14F-4D97-AF65-F5344CB8AC3E}">
        <p14:creationId xmlns:p14="http://schemas.microsoft.com/office/powerpoint/2010/main" val="6939778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2D72E39C-EDF3-4CF3-8665-DA7606AB9101}" type="slidenum">
              <a:rPr lang="en-US" smtClean="0"/>
              <a:t>16</a:t>
            </a:fld>
            <a:endParaRPr lang="en-US"/>
          </a:p>
        </p:txBody>
      </p:sp>
    </p:spTree>
    <p:extLst>
      <p:ext uri="{BB962C8B-B14F-4D97-AF65-F5344CB8AC3E}">
        <p14:creationId xmlns:p14="http://schemas.microsoft.com/office/powerpoint/2010/main" val="40148708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2D72E39C-EDF3-4CF3-8665-DA7606AB9101}" type="slidenum">
              <a:rPr lang="en-US" smtClean="0"/>
              <a:t>17</a:t>
            </a:fld>
            <a:endParaRPr lang="en-US"/>
          </a:p>
        </p:txBody>
      </p:sp>
    </p:spTree>
    <p:extLst>
      <p:ext uri="{BB962C8B-B14F-4D97-AF65-F5344CB8AC3E}">
        <p14:creationId xmlns:p14="http://schemas.microsoft.com/office/powerpoint/2010/main" val="4908563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2D72E39C-EDF3-4CF3-8665-DA7606AB9101}" type="slidenum">
              <a:rPr lang="en-US" smtClean="0"/>
              <a:t>18</a:t>
            </a:fld>
            <a:endParaRPr lang="en-US"/>
          </a:p>
        </p:txBody>
      </p:sp>
    </p:spTree>
    <p:extLst>
      <p:ext uri="{BB962C8B-B14F-4D97-AF65-F5344CB8AC3E}">
        <p14:creationId xmlns:p14="http://schemas.microsoft.com/office/powerpoint/2010/main" val="40943496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2D72E39C-EDF3-4CF3-8665-DA7606AB9101}" type="slidenum">
              <a:rPr lang="en-US" smtClean="0"/>
              <a:t>24</a:t>
            </a:fld>
            <a:endParaRPr lang="en-US"/>
          </a:p>
        </p:txBody>
      </p:sp>
    </p:spTree>
    <p:extLst>
      <p:ext uri="{BB962C8B-B14F-4D97-AF65-F5344CB8AC3E}">
        <p14:creationId xmlns:p14="http://schemas.microsoft.com/office/powerpoint/2010/main" val="7590663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D72E39C-EDF3-4CF3-8665-DA7606AB9101}" type="slidenum">
              <a:rPr lang="en-US" smtClean="0"/>
              <a:t>25</a:t>
            </a:fld>
            <a:endParaRPr lang="en-US"/>
          </a:p>
        </p:txBody>
      </p:sp>
    </p:spTree>
    <p:extLst>
      <p:ext uri="{BB962C8B-B14F-4D97-AF65-F5344CB8AC3E}">
        <p14:creationId xmlns:p14="http://schemas.microsoft.com/office/powerpoint/2010/main" val="17599069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3" name="Rectangle 12"/>
          <p:cNvSpPr/>
          <p:nvPr userDrawn="1"/>
        </p:nvSpPr>
        <p:spPr>
          <a:xfrm>
            <a:off x="0" y="6070311"/>
            <a:ext cx="12192000" cy="651164"/>
          </a:xfrm>
          <a:prstGeom prst="rect">
            <a:avLst/>
          </a:prstGeom>
          <a:solidFill>
            <a:srgbClr val="FEBF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0" y="6206836"/>
            <a:ext cx="12192000" cy="65116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F913249-B7A5-486A-8B9B-11E66892DE54}" type="datetimeFigureOut">
              <a:rPr lang="en-US" smtClean="0"/>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1EEFE6-5D45-4084-AF23-4A4B86DFED90}" type="slidenum">
              <a:rPr lang="en-US" smtClean="0"/>
              <a:t>‹#›</a:t>
            </a:fld>
            <a:endParaRPr lang="en-US"/>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93928" y="120796"/>
            <a:ext cx="1704109" cy="687280"/>
          </a:xfrm>
          <a:prstGeom prst="rect">
            <a:avLst/>
          </a:prstGeom>
        </p:spPr>
      </p:pic>
      <p:pic>
        <p:nvPicPr>
          <p:cNvPr id="10" name="Picture 9"/>
          <p:cNvPicPr>
            <a:picLocks noChangeAspect="1"/>
          </p:cNvPicPr>
          <p:nvPr userDrawn="1"/>
        </p:nvPicPr>
        <p:blipFill>
          <a:blip r:embed="rId3" cstate="print">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208179" y="122949"/>
            <a:ext cx="782113" cy="778637"/>
          </a:xfrm>
          <a:prstGeom prst="rect">
            <a:avLst/>
          </a:prstGeom>
        </p:spPr>
      </p:pic>
      <p:pic>
        <p:nvPicPr>
          <p:cNvPr id="11" name="Picture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90292" y="247560"/>
            <a:ext cx="533708" cy="560516"/>
          </a:xfrm>
          <a:prstGeom prst="rect">
            <a:avLst/>
          </a:prstGeom>
        </p:spPr>
      </p:pic>
    </p:spTree>
    <p:extLst>
      <p:ext uri="{BB962C8B-B14F-4D97-AF65-F5344CB8AC3E}">
        <p14:creationId xmlns:p14="http://schemas.microsoft.com/office/powerpoint/2010/main" val="2138508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F913249-B7A5-486A-8B9B-11E66892DE54}" type="datetimeFigureOut">
              <a:rPr lang="en-US" smtClean="0"/>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1EEFE6-5D45-4084-AF23-4A4B86DFED90}" type="slidenum">
              <a:rPr lang="en-US" smtClean="0"/>
              <a:t>‹#›</a:t>
            </a:fld>
            <a:endParaRPr lang="en-US"/>
          </a:p>
        </p:txBody>
      </p:sp>
    </p:spTree>
    <p:extLst>
      <p:ext uri="{BB962C8B-B14F-4D97-AF65-F5344CB8AC3E}">
        <p14:creationId xmlns:p14="http://schemas.microsoft.com/office/powerpoint/2010/main" val="3472823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F913249-B7A5-486A-8B9B-11E66892DE54}" type="datetimeFigureOut">
              <a:rPr lang="en-US" smtClean="0"/>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1EEFE6-5D45-4084-AF23-4A4B86DFED90}" type="slidenum">
              <a:rPr lang="en-US" smtClean="0"/>
              <a:t>‹#›</a:t>
            </a:fld>
            <a:endParaRPr lang="en-US"/>
          </a:p>
        </p:txBody>
      </p:sp>
    </p:spTree>
    <p:extLst>
      <p:ext uri="{BB962C8B-B14F-4D97-AF65-F5344CB8AC3E}">
        <p14:creationId xmlns:p14="http://schemas.microsoft.com/office/powerpoint/2010/main" val="1401404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F913249-B7A5-486A-8B9B-11E66892DE54}" type="datetimeFigureOut">
              <a:rPr lang="en-US" smtClean="0"/>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1EEFE6-5D45-4084-AF23-4A4B86DFED90}" type="slidenum">
              <a:rPr lang="en-US" smtClean="0"/>
              <a:t>‹#›</a:t>
            </a:fld>
            <a:endParaRPr lang="en-US"/>
          </a:p>
        </p:txBody>
      </p:sp>
    </p:spTree>
    <p:extLst>
      <p:ext uri="{BB962C8B-B14F-4D97-AF65-F5344CB8AC3E}">
        <p14:creationId xmlns:p14="http://schemas.microsoft.com/office/powerpoint/2010/main" val="30588758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F913249-B7A5-486A-8B9B-11E66892DE54}" type="datetimeFigureOut">
              <a:rPr lang="en-US" smtClean="0"/>
              <a:t>9/9/2025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21EEFE6-5D45-4084-AF23-4A4B86DFED90}" type="slidenum">
              <a:rPr lang="en-US" smtClean="0"/>
              <a:t>‹#›</a:t>
            </a:fld>
            <a:endParaRPr lang="en-US"/>
          </a:p>
        </p:txBody>
      </p:sp>
    </p:spTree>
    <p:extLst>
      <p:ext uri="{BB962C8B-B14F-4D97-AF65-F5344CB8AC3E}">
        <p14:creationId xmlns:p14="http://schemas.microsoft.com/office/powerpoint/2010/main" val="672588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F913249-B7A5-486A-8B9B-11E66892DE54}" type="datetimeFigureOut">
              <a:rPr lang="en-US" smtClean="0"/>
              <a:t>9/9/2025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21EEFE6-5D45-4084-AF23-4A4B86DFED90}" type="slidenum">
              <a:rPr lang="en-US" smtClean="0"/>
              <a:t>‹#›</a:t>
            </a:fld>
            <a:endParaRPr lang="en-US"/>
          </a:p>
        </p:txBody>
      </p:sp>
    </p:spTree>
    <p:extLst>
      <p:ext uri="{BB962C8B-B14F-4D97-AF65-F5344CB8AC3E}">
        <p14:creationId xmlns:p14="http://schemas.microsoft.com/office/powerpoint/2010/main" val="2115057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913249-B7A5-486A-8B9B-11E66892DE54}" type="datetimeFigureOut">
              <a:rPr lang="en-US" smtClean="0"/>
              <a:t>9/9/2025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21EEFE6-5D45-4084-AF23-4A4B86DFED90}" type="slidenum">
              <a:rPr lang="en-US" smtClean="0"/>
              <a:t>‹#›</a:t>
            </a:fld>
            <a:endParaRPr lang="en-US"/>
          </a:p>
        </p:txBody>
      </p:sp>
    </p:spTree>
    <p:extLst>
      <p:ext uri="{BB962C8B-B14F-4D97-AF65-F5344CB8AC3E}">
        <p14:creationId xmlns:p14="http://schemas.microsoft.com/office/powerpoint/2010/main" val="22199302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F913249-B7A5-486A-8B9B-11E66892DE54}" type="datetimeFigureOut">
              <a:rPr lang="en-US" smtClean="0"/>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1EEFE6-5D45-4084-AF23-4A4B86DFED90}" type="slidenum">
              <a:rPr lang="en-US" smtClean="0"/>
              <a:t>‹#›</a:t>
            </a:fld>
            <a:endParaRPr lang="en-US"/>
          </a:p>
        </p:txBody>
      </p:sp>
    </p:spTree>
    <p:extLst>
      <p:ext uri="{BB962C8B-B14F-4D97-AF65-F5344CB8AC3E}">
        <p14:creationId xmlns:p14="http://schemas.microsoft.com/office/powerpoint/2010/main" val="2654204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F913249-B7A5-486A-8B9B-11E66892DE54}" type="datetimeFigureOut">
              <a:rPr lang="en-US" smtClean="0"/>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1EEFE6-5D45-4084-AF23-4A4B86DFED90}" type="slidenum">
              <a:rPr lang="en-US" smtClean="0"/>
              <a:t>‹#›</a:t>
            </a:fld>
            <a:endParaRPr lang="en-US"/>
          </a:p>
        </p:txBody>
      </p:sp>
    </p:spTree>
    <p:extLst>
      <p:ext uri="{BB962C8B-B14F-4D97-AF65-F5344CB8AC3E}">
        <p14:creationId xmlns:p14="http://schemas.microsoft.com/office/powerpoint/2010/main" val="2354618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F913249-B7A5-486A-8B9B-11E66892DE54}" type="datetimeFigureOut">
              <a:rPr lang="en-US" smtClean="0"/>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1EEFE6-5D45-4084-AF23-4A4B86DFED90}" type="slidenum">
              <a:rPr lang="en-US" smtClean="0"/>
              <a:t>‹#›</a:t>
            </a:fld>
            <a:endParaRPr lang="en-US"/>
          </a:p>
        </p:txBody>
      </p:sp>
    </p:spTree>
    <p:extLst>
      <p:ext uri="{BB962C8B-B14F-4D97-AF65-F5344CB8AC3E}">
        <p14:creationId xmlns:p14="http://schemas.microsoft.com/office/powerpoint/2010/main" val="1233391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F913249-B7A5-486A-8B9B-11E66892DE54}" type="datetimeFigureOut">
              <a:rPr lang="en-US" smtClean="0"/>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1EEFE6-5D45-4084-AF23-4A4B86DFED90}" type="slidenum">
              <a:rPr lang="en-US" smtClean="0"/>
              <a:t>‹#›</a:t>
            </a:fld>
            <a:endParaRPr lang="en-US"/>
          </a:p>
        </p:txBody>
      </p:sp>
    </p:spTree>
    <p:extLst>
      <p:ext uri="{BB962C8B-B14F-4D97-AF65-F5344CB8AC3E}">
        <p14:creationId xmlns:p14="http://schemas.microsoft.com/office/powerpoint/2010/main" val="6378227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5955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913249-B7A5-486A-8B9B-11E66892DE54}" type="datetimeFigureOut">
              <a:rPr lang="en-US" smtClean="0"/>
              <a:t>9/9/2025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1EEFE6-5D45-4084-AF23-4A4B86DFED90}" type="slidenum">
              <a:rPr lang="en-US" smtClean="0"/>
              <a:t>‹#›</a:t>
            </a:fld>
            <a:endParaRPr lang="en-US"/>
          </a:p>
        </p:txBody>
      </p:sp>
    </p:spTree>
    <p:extLst>
      <p:ext uri="{BB962C8B-B14F-4D97-AF65-F5344CB8AC3E}">
        <p14:creationId xmlns:p14="http://schemas.microsoft.com/office/powerpoint/2010/main" val="37791413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2.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2.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6.png"/><Relationship Id="rId5" Type="http://schemas.microsoft.com/office/2007/relationships/hdphoto" Target="../media/hdphoto1.wdp"/><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9.png"/><Relationship Id="rId5" Type="http://schemas.microsoft.com/office/2007/relationships/hdphoto" Target="../media/hdphoto1.wdp"/><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12.xml"/><Relationship Id="rId5" Type="http://schemas.openxmlformats.org/officeDocument/2006/relationships/image" Target="../media/image6.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9.png"/><Relationship Id="rId5" Type="http://schemas.microsoft.com/office/2007/relationships/hdphoto" Target="../media/hdphoto1.wdp"/><Relationship Id="rId10" Type="http://schemas.openxmlformats.org/officeDocument/2006/relationships/image" Target="../media/image14.png"/><Relationship Id="rId4" Type="http://schemas.openxmlformats.org/officeDocument/2006/relationships/image" Target="../media/image2.png"/><Relationship Id="rId9"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9.png"/><Relationship Id="rId5" Type="http://schemas.microsoft.com/office/2007/relationships/hdphoto" Target="../media/hdphoto1.wdp"/><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9.png"/><Relationship Id="rId5" Type="http://schemas.microsoft.com/office/2007/relationships/hdphoto" Target="../media/hdphoto1.wdp"/><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12.xml"/><Relationship Id="rId6" Type="http://schemas.openxmlformats.org/officeDocument/2006/relationships/image" Target="../media/image17.png"/><Relationship Id="rId5" Type="http://schemas.openxmlformats.org/officeDocument/2006/relationships/image" Target="../media/image9.png"/><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9.png"/><Relationship Id="rId5" Type="http://schemas.microsoft.com/office/2007/relationships/hdphoto" Target="../media/hdphoto1.wdp"/><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12.xml"/><Relationship Id="rId5" Type="http://schemas.openxmlformats.org/officeDocument/2006/relationships/image" Target="../media/image6.png"/><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9.png"/><Relationship Id="rId5" Type="http://schemas.microsoft.com/office/2007/relationships/hdphoto" Target="../media/hdphoto1.wdp"/><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12.xml"/><Relationship Id="rId5" Type="http://schemas.openxmlformats.org/officeDocument/2006/relationships/image" Target="../media/image9.png"/><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8" Type="http://schemas.openxmlformats.org/officeDocument/2006/relationships/customXml" Target="../ink/ink1.xml"/><Relationship Id="rId3" Type="http://schemas.openxmlformats.org/officeDocument/2006/relationships/image" Target="../media/image8.png"/><Relationship Id="rId7"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9.png"/><Relationship Id="rId5" Type="http://schemas.microsoft.com/office/2007/relationships/hdphoto" Target="../media/hdphoto1.wdp"/><Relationship Id="rId4" Type="http://schemas.openxmlformats.org/officeDocument/2006/relationships/image" Target="../media/image2.png"/><Relationship Id="rId9" Type="http://schemas.openxmlformats.org/officeDocument/2006/relationships/image" Target="../media/image150.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9.png"/><Relationship Id="rId5" Type="http://schemas.microsoft.com/office/2007/relationships/hdphoto" Target="../media/hdphoto1.wdp"/><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9.png"/><Relationship Id="rId5" Type="http://schemas.microsoft.com/office/2007/relationships/hdphoto" Target="../media/hdphoto1.wdp"/><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9.png"/><Relationship Id="rId5" Type="http://schemas.microsoft.com/office/2007/relationships/hdphoto" Target="../media/hdphoto1.wdp"/><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image" Target="../media/image9.png"/><Relationship Id="rId4" Type="http://schemas.microsoft.com/office/2007/relationships/hdphoto" Target="../media/hdphoto1.wdp"/></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image" Target="../media/image9.png"/><Relationship Id="rId4" Type="http://schemas.microsoft.com/office/2007/relationships/hdphoto" Target="../media/hdphoto1.wdp"/></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image" Target="../media/image9.png"/><Relationship Id="rId4" Type="http://schemas.microsoft.com/office/2007/relationships/hdphoto" Target="../media/hdphoto1.wdp"/></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image" Target="../media/image9.png"/><Relationship Id="rId4" Type="http://schemas.microsoft.com/office/2007/relationships/hdphoto" Target="../media/hdphoto1.wdp"/></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12.xml"/><Relationship Id="rId5" Type="http://schemas.openxmlformats.org/officeDocument/2006/relationships/image" Target="../media/image6.png"/><Relationship Id="rId4" Type="http://schemas.microsoft.com/office/2007/relationships/hdphoto" Target="../media/hdphoto1.wdp"/></Relationships>
</file>

<file path=ppt/slides/_rels/slide24.xml.rels><?xml version="1.0" encoding="UTF-8" standalone="yes"?>
<Relationships xmlns="http://schemas.openxmlformats.org/package/2006/relationships"><Relationship Id="rId8" Type="http://schemas.openxmlformats.org/officeDocument/2006/relationships/diagramLayout" Target="../diagrams/layout1.xml"/><Relationship Id="rId3" Type="http://schemas.openxmlformats.org/officeDocument/2006/relationships/image" Target="../media/image8.png"/><Relationship Id="rId7" Type="http://schemas.openxmlformats.org/officeDocument/2006/relationships/diagramData" Target="../diagrams/data1.xml"/><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9.png"/><Relationship Id="rId11" Type="http://schemas.microsoft.com/office/2007/relationships/diagramDrawing" Target="../diagrams/drawing1.xml"/><Relationship Id="rId5" Type="http://schemas.microsoft.com/office/2007/relationships/hdphoto" Target="../media/hdphoto1.wdp"/><Relationship Id="rId10" Type="http://schemas.openxmlformats.org/officeDocument/2006/relationships/diagramColors" Target="../diagrams/colors1.xml"/><Relationship Id="rId4" Type="http://schemas.openxmlformats.org/officeDocument/2006/relationships/image" Target="../media/image2.png"/><Relationship Id="rId9" Type="http://schemas.openxmlformats.org/officeDocument/2006/relationships/diagramQuickStyle" Target="../diagrams/quickStyle1.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9.png"/><Relationship Id="rId5" Type="http://schemas.microsoft.com/office/2007/relationships/hdphoto" Target="../media/hdphoto1.wdp"/><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cstate="print">
            <a:extLst>
              <a:ext uri="{28A0092B-C50C-407E-A947-70E740481C1C}">
                <a14:useLocalDpi xmlns:a14="http://schemas.microsoft.com/office/drawing/2010/main" val="0"/>
              </a:ext>
            </a:extLst>
          </a:blip>
          <a:srcRect l="24286"/>
          <a:stretch/>
        </p:blipFill>
        <p:spPr>
          <a:xfrm>
            <a:off x="-38099" y="0"/>
            <a:ext cx="12230100" cy="6945994"/>
          </a:xfrm>
          <a:prstGeom prst="rect">
            <a:avLst/>
          </a:prstGeom>
        </p:spPr>
      </p:pic>
      <p:sp>
        <p:nvSpPr>
          <p:cNvPr id="5" name="Rectangle 4"/>
          <p:cNvSpPr/>
          <p:nvPr/>
        </p:nvSpPr>
        <p:spPr>
          <a:xfrm>
            <a:off x="-38099" y="0"/>
            <a:ext cx="12230100" cy="6945994"/>
          </a:xfrm>
          <a:prstGeom prst="rect">
            <a:avLst/>
          </a:prstGeom>
          <a:gradFill flip="none" rotWithShape="1">
            <a:gsLst>
              <a:gs pos="0">
                <a:srgbClr val="002060">
                  <a:alpha val="6000"/>
                </a:srgbClr>
              </a:gs>
              <a:gs pos="30000">
                <a:srgbClr val="002060">
                  <a:alpha val="34000"/>
                </a:srgbClr>
              </a:gs>
              <a:gs pos="67000">
                <a:srgbClr val="002060">
                  <a:alpha val="88000"/>
                </a:srgbClr>
              </a:gs>
              <a:gs pos="100000">
                <a:srgbClr val="002060"/>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tabLst>
                <a:tab pos="9420225" algn="l"/>
              </a:tabLst>
            </a:pPr>
            <a:endParaRPr lang="en-US" sz="6600" b="1" dirty="0"/>
          </a:p>
        </p:txBody>
      </p:sp>
      <p:sp>
        <p:nvSpPr>
          <p:cNvPr id="11" name="Rounded Rectangle 10"/>
          <p:cNvSpPr/>
          <p:nvPr/>
        </p:nvSpPr>
        <p:spPr>
          <a:xfrm>
            <a:off x="9726938" y="268034"/>
            <a:ext cx="2917371" cy="111263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194553" y="3472997"/>
            <a:ext cx="8940800" cy="1754326"/>
          </a:xfrm>
          <a:prstGeom prst="rect">
            <a:avLst/>
          </a:prstGeom>
          <a:noFill/>
        </p:spPr>
        <p:txBody>
          <a:bodyPr wrap="square" rtlCol="0">
            <a:spAutoFit/>
          </a:bodyPr>
          <a:lstStyle/>
          <a:p>
            <a:r>
              <a:rPr lang="en-US" sz="8000" b="1" dirty="0">
                <a:solidFill>
                  <a:schemeClr val="bg1"/>
                </a:solidFill>
              </a:rPr>
              <a:t>business intelligence</a:t>
            </a:r>
          </a:p>
          <a:p>
            <a:r>
              <a:rPr lang="en-US" sz="2800" dirty="0">
                <a:solidFill>
                  <a:schemeClr val="bg1"/>
                </a:solidFill>
              </a:rPr>
              <a:t>DATA WAREHOUSE ARCHITECTURE</a:t>
            </a:r>
            <a:endParaRPr lang="en-US" sz="2800" b="1" dirty="0">
              <a:solidFill>
                <a:schemeClr val="bg1"/>
              </a:solidFill>
            </a:endParaRPr>
          </a:p>
        </p:txBody>
      </p:sp>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000342" y="449944"/>
            <a:ext cx="1886078" cy="760670"/>
          </a:xfrm>
          <a:prstGeom prst="rect">
            <a:avLst/>
          </a:prstGeom>
        </p:spPr>
      </p:pic>
      <p:sp>
        <p:nvSpPr>
          <p:cNvPr id="10" name="Rounded Rectangle 9"/>
          <p:cNvSpPr/>
          <p:nvPr/>
        </p:nvSpPr>
        <p:spPr>
          <a:xfrm>
            <a:off x="-449943" y="268034"/>
            <a:ext cx="2917371" cy="111263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94553" y="268034"/>
            <a:ext cx="1117600" cy="1112633"/>
          </a:xfrm>
          <a:prstGeom prst="rect">
            <a:avLst/>
          </a:prstGeom>
        </p:spPr>
      </p:pic>
      <p:pic>
        <p:nvPicPr>
          <p:cNvPr id="9" name="Picture 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312153" y="449944"/>
            <a:ext cx="718646" cy="754742"/>
          </a:xfrm>
          <a:prstGeom prst="rect">
            <a:avLst/>
          </a:prstGeom>
        </p:spPr>
      </p:pic>
      <p:sp>
        <p:nvSpPr>
          <p:cNvPr id="3" name="Rectangle 2"/>
          <p:cNvSpPr/>
          <p:nvPr/>
        </p:nvSpPr>
        <p:spPr>
          <a:xfrm>
            <a:off x="8845379" y="6299663"/>
            <a:ext cx="3346622" cy="646331"/>
          </a:xfrm>
          <a:prstGeom prst="rect">
            <a:avLst/>
          </a:prstGeom>
        </p:spPr>
        <p:txBody>
          <a:bodyPr wrap="none">
            <a:spAutoFit/>
          </a:bodyPr>
          <a:lstStyle/>
          <a:p>
            <a:r>
              <a:rPr lang="en-US" dirty="0">
                <a:solidFill>
                  <a:schemeClr val="bg1"/>
                </a:solidFill>
              </a:rPr>
              <a:t>JURUSAN TEKNOLOGI INFORMASI</a:t>
            </a:r>
          </a:p>
          <a:p>
            <a:pPr algn="r"/>
            <a:r>
              <a:rPr lang="en-US" b="1" dirty="0">
                <a:solidFill>
                  <a:schemeClr val="bg1"/>
                </a:solidFill>
              </a:rPr>
              <a:t>POLITEKNIK NEGERI MALANG</a:t>
            </a:r>
          </a:p>
        </p:txBody>
      </p:sp>
      <p:sp>
        <p:nvSpPr>
          <p:cNvPr id="12" name="Rectangle 11"/>
          <p:cNvSpPr/>
          <p:nvPr/>
        </p:nvSpPr>
        <p:spPr>
          <a:xfrm>
            <a:off x="194553" y="6443996"/>
            <a:ext cx="4971233" cy="369332"/>
          </a:xfrm>
          <a:prstGeom prst="rect">
            <a:avLst/>
          </a:prstGeom>
        </p:spPr>
        <p:txBody>
          <a:bodyPr wrap="none">
            <a:spAutoFit/>
          </a:bodyPr>
          <a:lstStyle/>
          <a:p>
            <a:r>
              <a:rPr lang="en-US" b="1" dirty="0">
                <a:solidFill>
                  <a:schemeClr val="bg1"/>
                </a:solidFill>
              </a:rPr>
              <a:t>FAST: FOCUS, ADAPTIVE, SINCERE, TRUSTWORTHY</a:t>
            </a:r>
          </a:p>
        </p:txBody>
      </p:sp>
    </p:spTree>
    <p:extLst>
      <p:ext uri="{BB962C8B-B14F-4D97-AF65-F5344CB8AC3E}">
        <p14:creationId xmlns:p14="http://schemas.microsoft.com/office/powerpoint/2010/main" val="37625736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4553" y="0"/>
            <a:ext cx="11997447" cy="6858000"/>
          </a:xfrm>
          <a:prstGeom prst="rect">
            <a:avLst/>
          </a:prstGeom>
        </p:spPr>
      </p:pic>
      <p:sp>
        <p:nvSpPr>
          <p:cNvPr id="5" name="Rectangle 4"/>
          <p:cNvSpPr/>
          <p:nvPr/>
        </p:nvSpPr>
        <p:spPr>
          <a:xfrm>
            <a:off x="0" y="0"/>
            <a:ext cx="12192000" cy="6858000"/>
          </a:xfrm>
          <a:prstGeom prst="rect">
            <a:avLst/>
          </a:prstGeom>
          <a:gradFill flip="none" rotWithShape="1">
            <a:gsLst>
              <a:gs pos="0">
                <a:srgbClr val="002060">
                  <a:alpha val="6000"/>
                </a:srgbClr>
              </a:gs>
              <a:gs pos="30000">
                <a:srgbClr val="002060">
                  <a:alpha val="34000"/>
                </a:srgbClr>
              </a:gs>
              <a:gs pos="67000">
                <a:srgbClr val="002060">
                  <a:alpha val="88000"/>
                </a:srgbClr>
              </a:gs>
              <a:gs pos="100000">
                <a:srgbClr val="002060"/>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tabLst>
                <a:tab pos="9420225" algn="l"/>
              </a:tabLst>
            </a:pPr>
            <a:endParaRPr lang="en-US" sz="6600" b="1" dirty="0"/>
          </a:p>
        </p:txBody>
      </p:sp>
      <p:sp>
        <p:nvSpPr>
          <p:cNvPr id="11" name="Rounded Rectangle 10"/>
          <p:cNvSpPr/>
          <p:nvPr/>
        </p:nvSpPr>
        <p:spPr>
          <a:xfrm>
            <a:off x="9726938" y="268034"/>
            <a:ext cx="2917371" cy="111263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000342" y="449944"/>
            <a:ext cx="1886078" cy="760670"/>
          </a:xfrm>
          <a:prstGeom prst="rect">
            <a:avLst/>
          </a:prstGeom>
        </p:spPr>
      </p:pic>
      <p:sp>
        <p:nvSpPr>
          <p:cNvPr id="10" name="Rounded Rectangle 9"/>
          <p:cNvSpPr/>
          <p:nvPr/>
        </p:nvSpPr>
        <p:spPr>
          <a:xfrm>
            <a:off x="-449943" y="268034"/>
            <a:ext cx="2917371" cy="111263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94553" y="268034"/>
            <a:ext cx="1117600" cy="1112633"/>
          </a:xfrm>
          <a:prstGeom prst="rect">
            <a:avLst/>
          </a:prstGeom>
        </p:spPr>
      </p:pic>
      <p:pic>
        <p:nvPicPr>
          <p:cNvPr id="9" name="Picture 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312153" y="449944"/>
            <a:ext cx="718646" cy="754742"/>
          </a:xfrm>
          <a:prstGeom prst="rect">
            <a:avLst/>
          </a:prstGeom>
        </p:spPr>
      </p:pic>
      <p:sp>
        <p:nvSpPr>
          <p:cNvPr id="12" name="body1"/>
          <p:cNvSpPr>
            <a:spLocks noGrp="1"/>
          </p:cNvSpPr>
          <p:nvPr>
            <p:ph sz="quarter" idx="4294967295"/>
          </p:nvPr>
        </p:nvSpPr>
        <p:spPr>
          <a:xfrm>
            <a:off x="753353" y="903329"/>
            <a:ext cx="9414742" cy="5051342"/>
          </a:xfrm>
          <a:prstGeom prst="rect">
            <a:avLst/>
          </a:prstGeom>
        </p:spPr>
        <p:txBody>
          <a:bodyPr lIns="0" tIns="0">
            <a:normAutofit fontScale="92500" lnSpcReduction="10000"/>
          </a:bodyPr>
          <a:lstStyle>
            <a:lvl1pPr marL="127000" indent="0" eaLnBrk="1" fontAlgn="auto" latinLnBrk="0" hangingPunct="1">
              <a:lnSpc>
                <a:spcPct val="250000"/>
              </a:lnSpc>
              <a:spcBef>
                <a:spcPct val="0"/>
              </a:spcBef>
              <a:spcAft>
                <a:spcPts val="0"/>
              </a:spcAft>
              <a:buFont typeface="+mj-lt"/>
              <a:buNone/>
              <a:defRPr sz="1600" b="0">
                <a:latin typeface="Poppins Medium" panose="02000000000000000000" charset="0"/>
                <a:cs typeface="Poppins Medium" panose="02000000000000000000" charset="0"/>
              </a:defRPr>
            </a:lvl1pPr>
            <a:lvl2pPr marL="584200" indent="0" eaLnBrk="1" fontAlgn="auto" latinLnBrk="0" hangingPunct="1">
              <a:lnSpc>
                <a:spcPct val="250000"/>
              </a:lnSpc>
              <a:spcBef>
                <a:spcPct val="0"/>
              </a:spcBef>
              <a:spcAft>
                <a:spcPts val="0"/>
              </a:spcAft>
              <a:buFont typeface="+mj-lt"/>
              <a:buNone/>
              <a:defRPr sz="1600" b="0">
                <a:latin typeface="Poppins Medium" panose="02000000000000000000" charset="0"/>
                <a:cs typeface="Poppins Medium" panose="02000000000000000000" charset="0"/>
              </a:defRPr>
            </a:lvl2pPr>
            <a:lvl3pPr marL="1041400" indent="0" eaLnBrk="1" fontAlgn="auto" latinLnBrk="0" hangingPunct="1">
              <a:lnSpc>
                <a:spcPct val="250000"/>
              </a:lnSpc>
              <a:spcBef>
                <a:spcPct val="0"/>
              </a:spcBef>
              <a:spcAft>
                <a:spcPts val="0"/>
              </a:spcAft>
              <a:buFont typeface="+mj-lt"/>
              <a:buNone/>
              <a:defRPr sz="1600" b="0">
                <a:latin typeface="Poppins Medium" panose="02000000000000000000" charset="0"/>
                <a:cs typeface="Poppins Medium" panose="02000000000000000000" charset="0"/>
              </a:defRPr>
            </a:lvl3pPr>
            <a:lvl4pPr marL="1498600" indent="0" eaLnBrk="1" fontAlgn="auto" latinLnBrk="0" hangingPunct="1">
              <a:lnSpc>
                <a:spcPct val="250000"/>
              </a:lnSpc>
              <a:spcBef>
                <a:spcPct val="0"/>
              </a:spcBef>
              <a:spcAft>
                <a:spcPts val="0"/>
              </a:spcAft>
              <a:buFont typeface="+mj-lt"/>
              <a:buNone/>
              <a:defRPr sz="1600" b="0">
                <a:latin typeface="Poppins Medium" panose="02000000000000000000" charset="0"/>
                <a:cs typeface="Poppins Medium" panose="02000000000000000000" charset="0"/>
              </a:defRPr>
            </a:lvl4pPr>
            <a:lvl5pPr marL="1955800" indent="0" eaLnBrk="1" fontAlgn="auto" latinLnBrk="0" hangingPunct="1">
              <a:lnSpc>
                <a:spcPct val="250000"/>
              </a:lnSpc>
              <a:spcBef>
                <a:spcPct val="0"/>
              </a:spcBef>
              <a:spcAft>
                <a:spcPts val="0"/>
              </a:spcAft>
              <a:buFont typeface="+mj-lt"/>
              <a:buNone/>
              <a:defRPr sz="1600" b="0">
                <a:latin typeface="Poppins Medium" panose="02000000000000000000" charset="0"/>
                <a:cs typeface="Poppins Medium" panose="02000000000000000000" charset="0"/>
              </a:defRPr>
            </a:lvl5pPr>
          </a:lstStyle>
          <a:p>
            <a:pPr lvl="0"/>
            <a:r>
              <a:rPr lang="en-US" sz="6400" b="1" dirty="0">
                <a:solidFill>
                  <a:schemeClr val="bg1"/>
                </a:solidFill>
                <a:latin typeface="+mn-lt"/>
              </a:rPr>
              <a:t>OUTLINE</a:t>
            </a:r>
          </a:p>
          <a:p>
            <a:pPr marL="584200" lvl="0" indent="-457200">
              <a:buAutoNum type="arabicPeriod"/>
            </a:pPr>
            <a:r>
              <a:rPr lang="en-US" sz="2100" dirty="0">
                <a:solidFill>
                  <a:schemeClr val="bg1"/>
                </a:solidFill>
                <a:latin typeface="+mn-lt"/>
              </a:rPr>
              <a:t>Review of Data Warehouse Basic Concepts
Architectural Models
Warehouse Data Structure
Data Management in Data Warehouse</a:t>
            </a:r>
            <a:endParaRPr lang="en-US" sz="2400" dirty="0">
              <a:solidFill>
                <a:schemeClr val="bg1"/>
              </a:solidFill>
              <a:latin typeface="+mn-lt"/>
            </a:endParaRPr>
          </a:p>
          <a:p>
            <a:pPr lvl="1"/>
            <a:endParaRPr lang="en-US" sz="2400" dirty="0">
              <a:solidFill>
                <a:schemeClr val="bg1"/>
              </a:solidFill>
              <a:latin typeface="+mn-lt"/>
            </a:endParaRPr>
          </a:p>
          <a:p>
            <a:pPr lvl="2"/>
            <a:endParaRPr lang="en-US" sz="2400" dirty="0">
              <a:solidFill>
                <a:schemeClr val="bg1"/>
              </a:solidFill>
              <a:latin typeface="+mn-lt"/>
            </a:endParaRPr>
          </a:p>
          <a:p>
            <a:pPr lvl="3"/>
            <a:endParaRPr lang="en-US" sz="2400" dirty="0">
              <a:solidFill>
                <a:schemeClr val="bg1"/>
              </a:solidFill>
              <a:latin typeface="+mn-lt"/>
            </a:endParaRPr>
          </a:p>
          <a:p>
            <a:pPr lvl="4"/>
            <a:endParaRPr lang="en-US" sz="2400" dirty="0">
              <a:solidFill>
                <a:schemeClr val="bg1"/>
              </a:solidFill>
              <a:latin typeface="+mn-lt"/>
            </a:endParaRPr>
          </a:p>
        </p:txBody>
      </p:sp>
      <p:sp>
        <p:nvSpPr>
          <p:cNvPr id="17" name="Rectangle 16"/>
          <p:cNvSpPr/>
          <p:nvPr/>
        </p:nvSpPr>
        <p:spPr>
          <a:xfrm>
            <a:off x="194553" y="6443996"/>
            <a:ext cx="4971233" cy="369332"/>
          </a:xfrm>
          <a:prstGeom prst="rect">
            <a:avLst/>
          </a:prstGeom>
        </p:spPr>
        <p:txBody>
          <a:bodyPr wrap="none">
            <a:spAutoFit/>
          </a:bodyPr>
          <a:lstStyle/>
          <a:p>
            <a:r>
              <a:rPr lang="en-US" b="1" dirty="0">
                <a:solidFill>
                  <a:schemeClr val="bg1"/>
                </a:solidFill>
              </a:rPr>
              <a:t>FAST: FOCUS, ADAPTIVE, SINCERE, TRUSTWORTHY</a:t>
            </a:r>
          </a:p>
        </p:txBody>
      </p:sp>
      <p:sp>
        <p:nvSpPr>
          <p:cNvPr id="18" name="Rectangle 17"/>
          <p:cNvSpPr/>
          <p:nvPr/>
        </p:nvSpPr>
        <p:spPr>
          <a:xfrm>
            <a:off x="8845379" y="6299663"/>
            <a:ext cx="3346622" cy="646331"/>
          </a:xfrm>
          <a:prstGeom prst="rect">
            <a:avLst/>
          </a:prstGeom>
        </p:spPr>
        <p:txBody>
          <a:bodyPr wrap="none">
            <a:spAutoFit/>
          </a:bodyPr>
          <a:lstStyle/>
          <a:p>
            <a:r>
              <a:rPr lang="en-US" dirty="0">
                <a:solidFill>
                  <a:schemeClr val="bg1"/>
                </a:solidFill>
              </a:rPr>
              <a:t>JURUSAN TEKNOLOGI INFORMASI</a:t>
            </a:r>
          </a:p>
          <a:p>
            <a:pPr algn="r"/>
            <a:r>
              <a:rPr lang="en-US" b="1" dirty="0">
                <a:solidFill>
                  <a:schemeClr val="bg1"/>
                </a:solidFill>
              </a:rPr>
              <a:t>POLITEKNIK NEGERI MALANG</a:t>
            </a:r>
          </a:p>
        </p:txBody>
      </p:sp>
    </p:spTree>
    <p:extLst>
      <p:ext uri="{BB962C8B-B14F-4D97-AF65-F5344CB8AC3E}">
        <p14:creationId xmlns:p14="http://schemas.microsoft.com/office/powerpoint/2010/main" val="1007293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2000" cy="68580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body1"/>
          <p:cNvSpPr>
            <a:spLocks noGrp="1"/>
          </p:cNvSpPr>
          <p:nvPr>
            <p:ph sz="quarter" idx="4294967295"/>
          </p:nvPr>
        </p:nvSpPr>
        <p:spPr>
          <a:xfrm>
            <a:off x="335915" y="505460"/>
            <a:ext cx="11520170" cy="1350010"/>
          </a:xfrm>
          <a:prstGeom prst="rect">
            <a:avLst/>
          </a:prstGeom>
        </p:spPr>
        <p:txBody>
          <a:bodyPr lIns="0" tIns="0" anchor="b" anchorCtr="0"/>
          <a:lstStyle>
            <a:lvl1pPr marL="127000" indent="0" algn="ctr" eaLnBrk="1" fontAlgn="auto" latinLnBrk="0" hangingPunct="1">
              <a:lnSpc>
                <a:spcPct val="100000"/>
              </a:lnSpc>
              <a:spcBef>
                <a:spcPct val="0"/>
              </a:spcBef>
              <a:spcAft>
                <a:spcPts val="0"/>
              </a:spcAft>
              <a:buFont typeface="+mj-lt"/>
              <a:buNone/>
              <a:defRPr sz="2200" b="0">
                <a:solidFill>
                  <a:schemeClr val="bg1"/>
                </a:solidFill>
                <a:latin typeface="Poppins Regular" panose="02000000000000000000" charset="0"/>
                <a:cs typeface="Poppins Regular" panose="02000000000000000000" charset="0"/>
              </a:defRPr>
            </a:lvl1pPr>
            <a:lvl2pPr marL="584200" indent="0" algn="ctr" eaLnBrk="1" fontAlgn="auto" latinLnBrk="0" hangingPunct="1">
              <a:lnSpc>
                <a:spcPct val="100000"/>
              </a:lnSpc>
              <a:spcBef>
                <a:spcPct val="0"/>
              </a:spcBef>
              <a:spcAft>
                <a:spcPts val="0"/>
              </a:spcAft>
              <a:buFont typeface="+mj-lt"/>
              <a:buNone/>
              <a:defRPr sz="2200" b="0">
                <a:solidFill>
                  <a:schemeClr val="bg1"/>
                </a:solidFill>
                <a:latin typeface="Poppins Regular" panose="02000000000000000000" charset="0"/>
                <a:cs typeface="Poppins Regular" panose="02000000000000000000" charset="0"/>
              </a:defRPr>
            </a:lvl2pPr>
            <a:lvl3pPr marL="1041400" indent="0" algn="ctr" eaLnBrk="1" fontAlgn="auto" latinLnBrk="0" hangingPunct="1">
              <a:lnSpc>
                <a:spcPct val="100000"/>
              </a:lnSpc>
              <a:spcBef>
                <a:spcPct val="0"/>
              </a:spcBef>
              <a:spcAft>
                <a:spcPts val="0"/>
              </a:spcAft>
              <a:buFont typeface="+mj-lt"/>
              <a:buNone/>
              <a:defRPr sz="2200" b="0">
                <a:solidFill>
                  <a:schemeClr val="bg1"/>
                </a:solidFill>
                <a:latin typeface="Poppins Regular" panose="02000000000000000000" charset="0"/>
                <a:cs typeface="Poppins Regular" panose="02000000000000000000" charset="0"/>
              </a:defRPr>
            </a:lvl3pPr>
            <a:lvl4pPr marL="1498600" indent="0" algn="ctr" eaLnBrk="1" fontAlgn="auto" latinLnBrk="0" hangingPunct="1">
              <a:lnSpc>
                <a:spcPct val="100000"/>
              </a:lnSpc>
              <a:spcBef>
                <a:spcPct val="0"/>
              </a:spcBef>
              <a:spcAft>
                <a:spcPts val="0"/>
              </a:spcAft>
              <a:buFont typeface="+mj-lt"/>
              <a:buNone/>
              <a:defRPr sz="2200" b="0">
                <a:solidFill>
                  <a:schemeClr val="bg1"/>
                </a:solidFill>
                <a:latin typeface="Poppins Regular" panose="02000000000000000000" charset="0"/>
                <a:cs typeface="Poppins Regular" panose="02000000000000000000" charset="0"/>
              </a:defRPr>
            </a:lvl4pPr>
            <a:lvl5pPr marL="1955800" indent="0" algn="ctr" eaLnBrk="1" fontAlgn="auto" latinLnBrk="0" hangingPunct="1">
              <a:lnSpc>
                <a:spcPct val="100000"/>
              </a:lnSpc>
              <a:spcBef>
                <a:spcPct val="0"/>
              </a:spcBef>
              <a:spcAft>
                <a:spcPts val="0"/>
              </a:spcAft>
              <a:buFont typeface="+mj-lt"/>
              <a:buNone/>
              <a:defRPr sz="2200" b="0">
                <a:solidFill>
                  <a:schemeClr val="bg1"/>
                </a:solidFill>
                <a:latin typeface="Poppins Regular" panose="02000000000000000000" charset="0"/>
                <a:cs typeface="Poppins Regular" panose="02000000000000000000" charset="0"/>
              </a:defRPr>
            </a:lvl5pPr>
          </a:lstStyle>
          <a:p>
            <a:pPr lvl="0"/>
            <a:r>
              <a:rPr lang="en-US" dirty="0"/>
              <a:t>Bagian 1</a:t>
            </a:r>
          </a:p>
          <a:p>
            <a:pPr lvl="1"/>
            <a:endParaRPr lang="en-US" dirty="0"/>
          </a:p>
        </p:txBody>
      </p:sp>
      <p:sp>
        <p:nvSpPr>
          <p:cNvPr id="6" name="header"/>
          <p:cNvSpPr>
            <a:spLocks noGrp="1"/>
          </p:cNvSpPr>
          <p:nvPr>
            <p:ph type="title" idx="4294967295"/>
          </p:nvPr>
        </p:nvSpPr>
        <p:spPr>
          <a:xfrm>
            <a:off x="335915" y="3058795"/>
            <a:ext cx="11520170" cy="3479165"/>
          </a:xfrm>
          <a:prstGeom prst="rect">
            <a:avLst/>
          </a:prstGeom>
        </p:spPr>
        <p:txBody>
          <a:bodyPr anchor="t" anchorCtr="0"/>
          <a:lstStyle>
            <a:lvl1pPr marL="0" indent="0" algn="ctr" eaLnBrk="1" fontAlgn="auto" latinLnBrk="0" hangingPunct="1">
              <a:lnSpc>
                <a:spcPct val="100000"/>
              </a:lnSpc>
              <a:defRPr sz="3200" b="0">
                <a:solidFill>
                  <a:schemeClr val="bg1"/>
                </a:solidFill>
                <a:latin typeface="Poppins Regular" panose="02000000000000000000" charset="0"/>
                <a:cs typeface="Poppins Regular" panose="02000000000000000000" charset="0"/>
              </a:defRPr>
            </a:lvl1pPr>
          </a:lstStyle>
          <a:p>
            <a:r>
              <a:rPr lang="en-US" dirty="0"/>
              <a:t>Review of Data Warehouse Basic Concepts</a:t>
            </a:r>
          </a:p>
        </p:txBody>
      </p:sp>
      <p:sp>
        <p:nvSpPr>
          <p:cNvPr id="7" name="Rounded Rectangle 6"/>
          <p:cNvSpPr/>
          <p:nvPr/>
        </p:nvSpPr>
        <p:spPr>
          <a:xfrm>
            <a:off x="9726938" y="268034"/>
            <a:ext cx="2917371" cy="111263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00342" y="449944"/>
            <a:ext cx="1886078" cy="760670"/>
          </a:xfrm>
          <a:prstGeom prst="rect">
            <a:avLst/>
          </a:prstGeom>
        </p:spPr>
      </p:pic>
      <p:sp>
        <p:nvSpPr>
          <p:cNvPr id="9" name="Rounded Rectangle 8"/>
          <p:cNvSpPr/>
          <p:nvPr/>
        </p:nvSpPr>
        <p:spPr>
          <a:xfrm>
            <a:off x="-449943" y="268034"/>
            <a:ext cx="2917371" cy="111263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94553" y="268034"/>
            <a:ext cx="1117600" cy="1112633"/>
          </a:xfrm>
          <a:prstGeom prst="rect">
            <a:avLst/>
          </a:prstGeom>
        </p:spPr>
      </p:pic>
      <p:pic>
        <p:nvPicPr>
          <p:cNvPr id="11" name="Picture 1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312153" y="449944"/>
            <a:ext cx="718646" cy="754742"/>
          </a:xfrm>
          <a:prstGeom prst="rect">
            <a:avLst/>
          </a:prstGeom>
        </p:spPr>
      </p:pic>
      <p:sp>
        <p:nvSpPr>
          <p:cNvPr id="12" name="Rectangle 11"/>
          <p:cNvSpPr/>
          <p:nvPr/>
        </p:nvSpPr>
        <p:spPr>
          <a:xfrm>
            <a:off x="194553" y="6443996"/>
            <a:ext cx="4971233" cy="369332"/>
          </a:xfrm>
          <a:prstGeom prst="rect">
            <a:avLst/>
          </a:prstGeom>
        </p:spPr>
        <p:txBody>
          <a:bodyPr wrap="none">
            <a:spAutoFit/>
          </a:bodyPr>
          <a:lstStyle/>
          <a:p>
            <a:r>
              <a:rPr lang="en-US" b="1" dirty="0">
                <a:solidFill>
                  <a:schemeClr val="bg1"/>
                </a:solidFill>
              </a:rPr>
              <a:t>FAST: FOCUS, ADAPTIVE, SINCERE, TRUSTWORTHY</a:t>
            </a:r>
          </a:p>
        </p:txBody>
      </p:sp>
      <p:sp>
        <p:nvSpPr>
          <p:cNvPr id="13" name="Rectangle 12"/>
          <p:cNvSpPr/>
          <p:nvPr/>
        </p:nvSpPr>
        <p:spPr>
          <a:xfrm>
            <a:off x="8845379" y="6299663"/>
            <a:ext cx="3346622" cy="646331"/>
          </a:xfrm>
          <a:prstGeom prst="rect">
            <a:avLst/>
          </a:prstGeom>
        </p:spPr>
        <p:txBody>
          <a:bodyPr wrap="none">
            <a:spAutoFit/>
          </a:bodyPr>
          <a:lstStyle/>
          <a:p>
            <a:r>
              <a:rPr lang="en-US" dirty="0">
                <a:solidFill>
                  <a:schemeClr val="bg1"/>
                </a:solidFill>
              </a:rPr>
              <a:t>JURUSAN TEKNOLOGI INFORMASI</a:t>
            </a:r>
          </a:p>
          <a:p>
            <a:pPr algn="r"/>
            <a:r>
              <a:rPr lang="en-US" b="1" dirty="0">
                <a:solidFill>
                  <a:schemeClr val="bg1"/>
                </a:solidFill>
              </a:rPr>
              <a:t>POLITEKNIK NEGERI MALANG</a:t>
            </a:r>
          </a:p>
        </p:txBody>
      </p:sp>
    </p:spTree>
    <p:extLst>
      <p:ext uri="{BB962C8B-B14F-4D97-AF65-F5344CB8AC3E}">
        <p14:creationId xmlns:p14="http://schemas.microsoft.com/office/powerpoint/2010/main" val="22240084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67188" y="227366"/>
            <a:ext cx="1373223" cy="553831"/>
          </a:xfrm>
          <a:prstGeom prst="rect">
            <a:avLst/>
          </a:prstGeom>
        </p:spPr>
      </p:pic>
      <p:pic>
        <p:nvPicPr>
          <p:cNvPr id="16" name="Picture 15"/>
          <p:cNvPicPr>
            <a:picLocks noChangeAspect="1"/>
          </p:cNvPicPr>
          <p:nvPr/>
        </p:nvPicPr>
        <p:blipFill>
          <a:blip r:embed="rId4" cstate="print">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78656" y="230188"/>
            <a:ext cx="659544" cy="656613"/>
          </a:xfrm>
          <a:prstGeom prst="rect">
            <a:avLst/>
          </a:prstGeom>
        </p:spPr>
      </p:pic>
      <p:pic>
        <p:nvPicPr>
          <p:cNvPr id="17" name="Picture 1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38200" y="335791"/>
            <a:ext cx="424104" cy="445406"/>
          </a:xfrm>
          <a:prstGeom prst="rect">
            <a:avLst/>
          </a:prstGeom>
        </p:spPr>
      </p:pic>
      <p:sp>
        <p:nvSpPr>
          <p:cNvPr id="18" name="Rectangle 17"/>
          <p:cNvSpPr/>
          <p:nvPr/>
        </p:nvSpPr>
        <p:spPr>
          <a:xfrm>
            <a:off x="0" y="6267450"/>
            <a:ext cx="12192000" cy="59055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0" y="6161846"/>
            <a:ext cx="12192000" cy="59055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number1"/>
          <p:cNvSpPr txBox="1">
            <a:spLocks/>
          </p:cNvSpPr>
          <p:nvPr/>
        </p:nvSpPr>
        <p:spPr>
          <a:xfrm>
            <a:off x="568081" y="1410098"/>
            <a:ext cx="974970" cy="615315"/>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4400" b="1" kern="1200">
                <a:solidFill>
                  <a:srgbClr val="FF5B83"/>
                </a:solidFill>
                <a:latin typeface="Poppins Light" panose="02000000000000000000" charset="0"/>
                <a:ea typeface="+mn-ea"/>
                <a:cs typeface="Poppins Light" panose="02000000000000000000" charset="0"/>
              </a:defRPr>
            </a:lvl1pPr>
            <a:lvl2pPr marL="457200" indent="0" algn="ctr" defTabSz="914400" rtl="0" eaLnBrk="1" latinLnBrk="0" hangingPunct="1">
              <a:lnSpc>
                <a:spcPct val="100000"/>
              </a:lnSpc>
              <a:spcBef>
                <a:spcPts val="500"/>
              </a:spcBef>
              <a:buFont typeface="Arial" panose="020B0604020202020204" pitchFamily="34" charset="0"/>
              <a:buNone/>
              <a:defRPr sz="2200" kern="1200">
                <a:solidFill>
                  <a:schemeClr val="tx1"/>
                </a:solidFill>
                <a:latin typeface="Poppins Light" panose="02000000000000000000" charset="0"/>
                <a:ea typeface="+mn-ea"/>
                <a:cs typeface="Poppins Light" panose="02000000000000000000" charset="0"/>
              </a:defRPr>
            </a:lvl2pPr>
            <a:lvl3pPr marL="914400" indent="0" algn="l" defTabSz="914400" rtl="0" eaLnBrk="1" latinLnBrk="0" hangingPunct="1">
              <a:lnSpc>
                <a:spcPct val="100000"/>
              </a:lnSpc>
              <a:spcBef>
                <a:spcPts val="500"/>
              </a:spcBef>
              <a:buFont typeface="Arial" panose="020B0604020202020204" pitchFamily="34" charset="0"/>
              <a:buNone/>
              <a:defRPr sz="2200" kern="1200">
                <a:solidFill>
                  <a:schemeClr val="tx1"/>
                </a:solidFill>
                <a:latin typeface="Poppins Light" panose="02000000000000000000" charset="0"/>
                <a:ea typeface="+mn-ea"/>
                <a:cs typeface="Poppins Light" panose="02000000000000000000"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Poppins Light" panose="02000000000000000000" charset="0"/>
                <a:ea typeface="+mn-ea"/>
                <a:cs typeface="Poppins Light" panose="02000000000000000000"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Poppins Light" panose="02000000000000000000" charset="0"/>
                <a:ea typeface="+mn-ea"/>
                <a:cs typeface="Poppins Light"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F45629"/>
                </a:solidFill>
              </a:rPr>
              <a:t>01</a:t>
            </a:r>
          </a:p>
        </p:txBody>
      </p:sp>
      <p:sp>
        <p:nvSpPr>
          <p:cNvPr id="28" name="number3"/>
          <p:cNvSpPr txBox="1">
            <a:spLocks/>
          </p:cNvSpPr>
          <p:nvPr/>
        </p:nvSpPr>
        <p:spPr>
          <a:xfrm>
            <a:off x="4810150" y="1349914"/>
            <a:ext cx="2762568" cy="615315"/>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4400" b="1" kern="1200">
                <a:solidFill>
                  <a:srgbClr val="FF5B83"/>
                </a:solidFill>
                <a:latin typeface="Poppins Light" panose="02000000000000000000" charset="0"/>
                <a:ea typeface="+mn-ea"/>
                <a:cs typeface="Poppins Light" panose="02000000000000000000" charset="0"/>
              </a:defRPr>
            </a:lvl1pPr>
            <a:lvl2pPr marL="457200" indent="0" algn="ctr" defTabSz="914400" rtl="0" eaLnBrk="1" latinLnBrk="0" hangingPunct="1">
              <a:lnSpc>
                <a:spcPct val="100000"/>
              </a:lnSpc>
              <a:spcBef>
                <a:spcPts val="500"/>
              </a:spcBef>
              <a:buFont typeface="Arial" panose="020B0604020202020204" pitchFamily="34" charset="0"/>
              <a:buNone/>
              <a:defRPr sz="2200" kern="1200">
                <a:solidFill>
                  <a:schemeClr val="tx1"/>
                </a:solidFill>
                <a:latin typeface="Poppins Light" panose="02000000000000000000" charset="0"/>
                <a:ea typeface="+mn-ea"/>
                <a:cs typeface="Poppins Light" panose="02000000000000000000" charset="0"/>
              </a:defRPr>
            </a:lvl2pPr>
            <a:lvl3pPr marL="914400" indent="0" algn="l" defTabSz="914400" rtl="0" eaLnBrk="1" latinLnBrk="0" hangingPunct="1">
              <a:lnSpc>
                <a:spcPct val="100000"/>
              </a:lnSpc>
              <a:spcBef>
                <a:spcPts val="500"/>
              </a:spcBef>
              <a:buFont typeface="Arial" panose="020B0604020202020204" pitchFamily="34" charset="0"/>
              <a:buNone/>
              <a:defRPr sz="2200" kern="1200">
                <a:solidFill>
                  <a:schemeClr val="tx1"/>
                </a:solidFill>
                <a:latin typeface="Poppins Light" panose="02000000000000000000" charset="0"/>
                <a:ea typeface="+mn-ea"/>
                <a:cs typeface="Poppins Light" panose="02000000000000000000"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Poppins Light" panose="02000000000000000000" charset="0"/>
                <a:ea typeface="+mn-ea"/>
                <a:cs typeface="Poppins Light" panose="02000000000000000000"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Poppins Light" panose="02000000000000000000" charset="0"/>
                <a:ea typeface="+mn-ea"/>
                <a:cs typeface="Poppins Light"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002060"/>
                </a:solidFill>
              </a:rPr>
              <a:t>03</a:t>
            </a:r>
          </a:p>
        </p:txBody>
      </p:sp>
      <p:sp>
        <p:nvSpPr>
          <p:cNvPr id="30" name="number2"/>
          <p:cNvSpPr txBox="1">
            <a:spLocks/>
          </p:cNvSpPr>
          <p:nvPr/>
        </p:nvSpPr>
        <p:spPr>
          <a:xfrm>
            <a:off x="508428" y="3478314"/>
            <a:ext cx="2714092" cy="615315"/>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4400" b="1" kern="1200">
                <a:solidFill>
                  <a:schemeClr val="bg1"/>
                </a:solidFill>
                <a:latin typeface="Poppins Light" panose="02000000000000000000" charset="0"/>
                <a:ea typeface="+mn-ea"/>
                <a:cs typeface="Poppins Light" panose="02000000000000000000" charset="0"/>
              </a:defRPr>
            </a:lvl1pPr>
            <a:lvl2pPr marL="457200" indent="0" algn="ctr" defTabSz="914400" rtl="0" eaLnBrk="1" latinLnBrk="0" hangingPunct="1">
              <a:lnSpc>
                <a:spcPct val="100000"/>
              </a:lnSpc>
              <a:spcBef>
                <a:spcPts val="500"/>
              </a:spcBef>
              <a:buFont typeface="Arial" panose="020B0604020202020204" pitchFamily="34" charset="0"/>
              <a:buNone/>
              <a:defRPr sz="2200" kern="1200">
                <a:solidFill>
                  <a:schemeClr val="tx1"/>
                </a:solidFill>
                <a:latin typeface="Poppins Light" panose="02000000000000000000" charset="0"/>
                <a:ea typeface="+mn-ea"/>
                <a:cs typeface="Poppins Light" panose="02000000000000000000" charset="0"/>
              </a:defRPr>
            </a:lvl2pPr>
            <a:lvl3pPr marL="914400" indent="0" algn="l" defTabSz="914400" rtl="0" eaLnBrk="1" latinLnBrk="0" hangingPunct="1">
              <a:lnSpc>
                <a:spcPct val="100000"/>
              </a:lnSpc>
              <a:spcBef>
                <a:spcPts val="500"/>
              </a:spcBef>
              <a:buFont typeface="Arial" panose="020B0604020202020204" pitchFamily="34" charset="0"/>
              <a:buNone/>
              <a:defRPr sz="2200" kern="1200">
                <a:solidFill>
                  <a:schemeClr val="tx1"/>
                </a:solidFill>
                <a:latin typeface="Poppins Light" panose="02000000000000000000" charset="0"/>
                <a:ea typeface="+mn-ea"/>
                <a:cs typeface="Poppins Light" panose="02000000000000000000"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Poppins Light" panose="02000000000000000000" charset="0"/>
                <a:ea typeface="+mn-ea"/>
                <a:cs typeface="Poppins Light" panose="02000000000000000000"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Poppins Light" panose="02000000000000000000" charset="0"/>
                <a:ea typeface="+mn-ea"/>
                <a:cs typeface="Poppins Light"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002060"/>
                </a:solidFill>
              </a:rPr>
              <a:t>02</a:t>
            </a:r>
          </a:p>
        </p:txBody>
      </p:sp>
      <p:sp>
        <p:nvSpPr>
          <p:cNvPr id="5" name="TextBox 4"/>
          <p:cNvSpPr txBox="1"/>
          <p:nvPr/>
        </p:nvSpPr>
        <p:spPr>
          <a:xfrm>
            <a:off x="1302508" y="1492998"/>
            <a:ext cx="2713562" cy="1477328"/>
          </a:xfrm>
          <a:prstGeom prst="rect">
            <a:avLst/>
          </a:prstGeom>
          <a:noFill/>
        </p:spPr>
        <p:txBody>
          <a:bodyPr wrap="square" rtlCol="0">
            <a:spAutoFit/>
          </a:bodyPr>
          <a:lstStyle/>
          <a:p>
            <a:r>
              <a:rPr lang="en-US" b="1" dirty="0">
                <a:solidFill>
                  <a:srgbClr val="FF0000"/>
                </a:solidFill>
              </a:rPr>
              <a:t>General Understanding
A data warehouse is a system that archives and analyzes historical data for decision-making.</a:t>
            </a:r>
            <a:endParaRPr lang="en-US" dirty="0">
              <a:solidFill>
                <a:srgbClr val="002060"/>
              </a:solidFill>
            </a:endParaRPr>
          </a:p>
        </p:txBody>
      </p:sp>
      <p:sp>
        <p:nvSpPr>
          <p:cNvPr id="31" name="TextBox 30"/>
          <p:cNvSpPr txBox="1"/>
          <p:nvPr/>
        </p:nvSpPr>
        <p:spPr>
          <a:xfrm>
            <a:off x="1302508" y="3607223"/>
            <a:ext cx="2713562" cy="1200329"/>
          </a:xfrm>
          <a:prstGeom prst="rect">
            <a:avLst/>
          </a:prstGeom>
          <a:noFill/>
        </p:spPr>
        <p:txBody>
          <a:bodyPr wrap="square" rtlCol="0">
            <a:spAutoFit/>
          </a:bodyPr>
          <a:lstStyle/>
          <a:p>
            <a:r>
              <a:rPr lang="en-US" b="1" dirty="0">
                <a:solidFill>
                  <a:srgbClr val="002060"/>
                </a:solidFill>
              </a:rPr>
              <a:t>Main Functions
As the main reference in proper and efficient business decision-making.</a:t>
            </a:r>
            <a:endParaRPr lang="en-US" dirty="0">
              <a:solidFill>
                <a:srgbClr val="002060"/>
              </a:solidFill>
            </a:endParaRPr>
          </a:p>
        </p:txBody>
      </p:sp>
      <p:sp>
        <p:nvSpPr>
          <p:cNvPr id="32" name="TextBox 31"/>
          <p:cNvSpPr txBox="1"/>
          <p:nvPr/>
        </p:nvSpPr>
        <p:spPr>
          <a:xfrm>
            <a:off x="5642092" y="1417196"/>
            <a:ext cx="2713562" cy="1200329"/>
          </a:xfrm>
          <a:prstGeom prst="rect">
            <a:avLst/>
          </a:prstGeom>
          <a:noFill/>
        </p:spPr>
        <p:txBody>
          <a:bodyPr wrap="square" rtlCol="0">
            <a:spAutoFit/>
          </a:bodyPr>
          <a:lstStyle/>
          <a:p>
            <a:r>
              <a:rPr lang="en-US" b="1" dirty="0">
                <a:solidFill>
                  <a:srgbClr val="002060"/>
                </a:solidFill>
              </a:rPr>
              <a:t>Roles in Business
As the main reference in proper and efficient business decision-making.</a:t>
            </a:r>
            <a:endParaRPr lang="en-US" dirty="0">
              <a:solidFill>
                <a:srgbClr val="002060"/>
              </a:solidFill>
            </a:endParaRPr>
          </a:p>
        </p:txBody>
      </p:sp>
      <p:sp>
        <p:nvSpPr>
          <p:cNvPr id="33" name="number3"/>
          <p:cNvSpPr txBox="1">
            <a:spLocks/>
          </p:cNvSpPr>
          <p:nvPr/>
        </p:nvSpPr>
        <p:spPr>
          <a:xfrm>
            <a:off x="4810150" y="3478314"/>
            <a:ext cx="2762568" cy="615315"/>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4400" b="1" kern="1200">
                <a:solidFill>
                  <a:srgbClr val="FF5B83"/>
                </a:solidFill>
                <a:latin typeface="Poppins Light" panose="02000000000000000000" charset="0"/>
                <a:ea typeface="+mn-ea"/>
                <a:cs typeface="Poppins Light" panose="02000000000000000000" charset="0"/>
              </a:defRPr>
            </a:lvl1pPr>
            <a:lvl2pPr marL="457200" indent="0" algn="ctr" defTabSz="914400" rtl="0" eaLnBrk="1" latinLnBrk="0" hangingPunct="1">
              <a:lnSpc>
                <a:spcPct val="100000"/>
              </a:lnSpc>
              <a:spcBef>
                <a:spcPts val="500"/>
              </a:spcBef>
              <a:buFont typeface="Arial" panose="020B0604020202020204" pitchFamily="34" charset="0"/>
              <a:buNone/>
              <a:defRPr sz="2200" kern="1200">
                <a:solidFill>
                  <a:schemeClr val="tx1"/>
                </a:solidFill>
                <a:latin typeface="Poppins Light" panose="02000000000000000000" charset="0"/>
                <a:ea typeface="+mn-ea"/>
                <a:cs typeface="Poppins Light" panose="02000000000000000000" charset="0"/>
              </a:defRPr>
            </a:lvl2pPr>
            <a:lvl3pPr marL="914400" indent="0" algn="l" defTabSz="914400" rtl="0" eaLnBrk="1" latinLnBrk="0" hangingPunct="1">
              <a:lnSpc>
                <a:spcPct val="100000"/>
              </a:lnSpc>
              <a:spcBef>
                <a:spcPts val="500"/>
              </a:spcBef>
              <a:buFont typeface="Arial" panose="020B0604020202020204" pitchFamily="34" charset="0"/>
              <a:buNone/>
              <a:defRPr sz="2200" kern="1200">
                <a:solidFill>
                  <a:schemeClr val="tx1"/>
                </a:solidFill>
                <a:latin typeface="Poppins Light" panose="02000000000000000000" charset="0"/>
                <a:ea typeface="+mn-ea"/>
                <a:cs typeface="Poppins Light" panose="02000000000000000000"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Poppins Light" panose="02000000000000000000" charset="0"/>
                <a:ea typeface="+mn-ea"/>
                <a:cs typeface="Poppins Light" panose="02000000000000000000"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Poppins Light" panose="02000000000000000000" charset="0"/>
                <a:ea typeface="+mn-ea"/>
                <a:cs typeface="Poppins Light"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F45629"/>
                </a:solidFill>
              </a:rPr>
              <a:t>04</a:t>
            </a:r>
          </a:p>
        </p:txBody>
      </p:sp>
      <p:sp>
        <p:nvSpPr>
          <p:cNvPr id="34" name="TextBox 33"/>
          <p:cNvSpPr txBox="1"/>
          <p:nvPr/>
        </p:nvSpPr>
        <p:spPr>
          <a:xfrm>
            <a:off x="5688390" y="3607223"/>
            <a:ext cx="3188910" cy="2308324"/>
          </a:xfrm>
          <a:prstGeom prst="rect">
            <a:avLst/>
          </a:prstGeom>
          <a:noFill/>
        </p:spPr>
        <p:txBody>
          <a:bodyPr wrap="square" rtlCol="0">
            <a:spAutoFit/>
          </a:bodyPr>
          <a:lstStyle/>
          <a:p>
            <a:r>
              <a:rPr lang="en-US" b="1" dirty="0">
                <a:solidFill>
                  <a:srgbClr val="F45629"/>
                </a:solidFill>
              </a:rPr>
              <a:t>The Importance of Data Warehouses
as the core of a business information infrastructure, which enables organizations to efficiently collect, integrate, and analyze data from multiple sources.</a:t>
            </a:r>
            <a:endParaRPr lang="en-US" dirty="0">
              <a:solidFill>
                <a:srgbClr val="F45629"/>
              </a:solidFill>
            </a:endParaRPr>
          </a:p>
        </p:txBody>
      </p:sp>
      <p:sp>
        <p:nvSpPr>
          <p:cNvPr id="35" name="number3"/>
          <p:cNvSpPr txBox="1">
            <a:spLocks/>
          </p:cNvSpPr>
          <p:nvPr/>
        </p:nvSpPr>
        <p:spPr>
          <a:xfrm>
            <a:off x="8320499" y="2309256"/>
            <a:ext cx="2488083" cy="615315"/>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4400" b="1" kern="1200">
                <a:solidFill>
                  <a:srgbClr val="FF5B83"/>
                </a:solidFill>
                <a:latin typeface="Poppins Light" panose="02000000000000000000" charset="0"/>
                <a:ea typeface="+mn-ea"/>
                <a:cs typeface="Poppins Light" panose="02000000000000000000" charset="0"/>
              </a:defRPr>
            </a:lvl1pPr>
            <a:lvl2pPr marL="457200" indent="0" algn="ctr" defTabSz="914400" rtl="0" eaLnBrk="1" latinLnBrk="0" hangingPunct="1">
              <a:lnSpc>
                <a:spcPct val="100000"/>
              </a:lnSpc>
              <a:spcBef>
                <a:spcPts val="500"/>
              </a:spcBef>
              <a:buFont typeface="Arial" panose="020B0604020202020204" pitchFamily="34" charset="0"/>
              <a:buNone/>
              <a:defRPr sz="2200" kern="1200">
                <a:solidFill>
                  <a:schemeClr val="tx1"/>
                </a:solidFill>
                <a:latin typeface="Poppins Light" panose="02000000000000000000" charset="0"/>
                <a:ea typeface="+mn-ea"/>
                <a:cs typeface="Poppins Light" panose="02000000000000000000" charset="0"/>
              </a:defRPr>
            </a:lvl2pPr>
            <a:lvl3pPr marL="914400" indent="0" algn="l" defTabSz="914400" rtl="0" eaLnBrk="1" latinLnBrk="0" hangingPunct="1">
              <a:lnSpc>
                <a:spcPct val="100000"/>
              </a:lnSpc>
              <a:spcBef>
                <a:spcPts val="500"/>
              </a:spcBef>
              <a:buFont typeface="Arial" panose="020B0604020202020204" pitchFamily="34" charset="0"/>
              <a:buNone/>
              <a:defRPr sz="2200" kern="1200">
                <a:solidFill>
                  <a:schemeClr val="tx1"/>
                </a:solidFill>
                <a:latin typeface="Poppins Light" panose="02000000000000000000" charset="0"/>
                <a:ea typeface="+mn-ea"/>
                <a:cs typeface="Poppins Light" panose="02000000000000000000"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Poppins Light" panose="02000000000000000000" charset="0"/>
                <a:ea typeface="+mn-ea"/>
                <a:cs typeface="Poppins Light" panose="02000000000000000000"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Poppins Light" panose="02000000000000000000" charset="0"/>
                <a:ea typeface="+mn-ea"/>
                <a:cs typeface="Poppins Light"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7030A0"/>
                </a:solidFill>
              </a:rPr>
              <a:t>05</a:t>
            </a:r>
          </a:p>
        </p:txBody>
      </p:sp>
      <p:sp>
        <p:nvSpPr>
          <p:cNvPr id="36" name="TextBox 35"/>
          <p:cNvSpPr txBox="1"/>
          <p:nvPr/>
        </p:nvSpPr>
        <p:spPr>
          <a:xfrm>
            <a:off x="9198740" y="2438165"/>
            <a:ext cx="2597548" cy="2308324"/>
          </a:xfrm>
          <a:prstGeom prst="rect">
            <a:avLst/>
          </a:prstGeom>
          <a:noFill/>
        </p:spPr>
        <p:txBody>
          <a:bodyPr wrap="square" rtlCol="0">
            <a:spAutoFit/>
          </a:bodyPr>
          <a:lstStyle/>
          <a:p>
            <a:r>
              <a:rPr lang="en-US" b="1" dirty="0">
                <a:solidFill>
                  <a:srgbClr val="7030A0"/>
                </a:solidFill>
              </a:rPr>
              <a:t>Differences with Databases
Databases are used for the day-to-day operations of data warehouses are used for in-depth business analysis.</a:t>
            </a:r>
            <a:endParaRPr lang="en-US" dirty="0">
              <a:solidFill>
                <a:srgbClr val="7030A0"/>
              </a:solidFill>
            </a:endParaRPr>
          </a:p>
        </p:txBody>
      </p:sp>
      <p:sp>
        <p:nvSpPr>
          <p:cNvPr id="37" name="Rectangle 36"/>
          <p:cNvSpPr/>
          <p:nvPr/>
        </p:nvSpPr>
        <p:spPr>
          <a:xfrm>
            <a:off x="4695576" y="534799"/>
            <a:ext cx="2991716" cy="523220"/>
          </a:xfrm>
          <a:prstGeom prst="rect">
            <a:avLst/>
          </a:prstGeom>
        </p:spPr>
        <p:txBody>
          <a:bodyPr wrap="none">
            <a:spAutoFit/>
          </a:bodyPr>
          <a:lstStyle/>
          <a:p>
            <a:r>
              <a:rPr lang="en-US" sz="2800" b="1" dirty="0">
                <a:solidFill>
                  <a:srgbClr val="002060"/>
                </a:solidFill>
              </a:rPr>
              <a:t>DATA WAREHOUSE</a:t>
            </a:r>
          </a:p>
        </p:txBody>
      </p:sp>
      <p:sp>
        <p:nvSpPr>
          <p:cNvPr id="38" name="Rectangle 37"/>
          <p:cNvSpPr/>
          <p:nvPr/>
        </p:nvSpPr>
        <p:spPr>
          <a:xfrm>
            <a:off x="0" y="6315810"/>
            <a:ext cx="4971233" cy="369332"/>
          </a:xfrm>
          <a:prstGeom prst="rect">
            <a:avLst/>
          </a:prstGeom>
        </p:spPr>
        <p:txBody>
          <a:bodyPr wrap="none">
            <a:spAutoFit/>
          </a:bodyPr>
          <a:lstStyle/>
          <a:p>
            <a:r>
              <a:rPr lang="en-US" b="1" dirty="0">
                <a:solidFill>
                  <a:schemeClr val="bg1"/>
                </a:solidFill>
              </a:rPr>
              <a:t>FAST: FOCUS, ADAPTIVE, SINCERE, TRUSTWORTHY</a:t>
            </a:r>
          </a:p>
        </p:txBody>
      </p:sp>
      <p:sp>
        <p:nvSpPr>
          <p:cNvPr id="39" name="Rectangle 38"/>
          <p:cNvSpPr/>
          <p:nvPr/>
        </p:nvSpPr>
        <p:spPr>
          <a:xfrm>
            <a:off x="10092442" y="6300421"/>
            <a:ext cx="1947969" cy="400110"/>
          </a:xfrm>
          <a:prstGeom prst="rect">
            <a:avLst/>
          </a:prstGeom>
        </p:spPr>
        <p:txBody>
          <a:bodyPr wrap="none">
            <a:spAutoFit/>
          </a:bodyPr>
          <a:lstStyle/>
          <a:p>
            <a:pPr algn="r"/>
            <a:r>
              <a:rPr lang="en-US" sz="1000" dirty="0">
                <a:solidFill>
                  <a:schemeClr val="bg1"/>
                </a:solidFill>
              </a:rPr>
              <a:t>JURUSAN TEKNOLOGI INFORMASI</a:t>
            </a:r>
          </a:p>
          <a:p>
            <a:pPr algn="r"/>
            <a:r>
              <a:rPr lang="en-US" sz="1000" b="1" dirty="0">
                <a:solidFill>
                  <a:schemeClr val="bg1"/>
                </a:solidFill>
              </a:rPr>
              <a:t>POLITEKNIK NEGERI MALANG</a:t>
            </a:r>
          </a:p>
        </p:txBody>
      </p:sp>
    </p:spTree>
    <p:extLst>
      <p:ext uri="{BB962C8B-B14F-4D97-AF65-F5344CB8AC3E}">
        <p14:creationId xmlns:p14="http://schemas.microsoft.com/office/powerpoint/2010/main" val="27604754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2000" cy="68580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body1"/>
          <p:cNvSpPr>
            <a:spLocks noGrp="1"/>
          </p:cNvSpPr>
          <p:nvPr>
            <p:ph sz="quarter" idx="4294967295"/>
          </p:nvPr>
        </p:nvSpPr>
        <p:spPr>
          <a:xfrm>
            <a:off x="335915" y="505460"/>
            <a:ext cx="11520170" cy="1350010"/>
          </a:xfrm>
          <a:prstGeom prst="rect">
            <a:avLst/>
          </a:prstGeom>
        </p:spPr>
        <p:txBody>
          <a:bodyPr lIns="0" tIns="0" anchor="b" anchorCtr="0"/>
          <a:lstStyle>
            <a:lvl1pPr marL="127000" indent="0" algn="ctr" eaLnBrk="1" fontAlgn="auto" latinLnBrk="0" hangingPunct="1">
              <a:lnSpc>
                <a:spcPct val="100000"/>
              </a:lnSpc>
              <a:spcBef>
                <a:spcPct val="0"/>
              </a:spcBef>
              <a:spcAft>
                <a:spcPts val="0"/>
              </a:spcAft>
              <a:buFont typeface="+mj-lt"/>
              <a:buNone/>
              <a:defRPr sz="2200" b="0">
                <a:solidFill>
                  <a:schemeClr val="bg1"/>
                </a:solidFill>
                <a:latin typeface="Poppins Regular" panose="02000000000000000000" charset="0"/>
                <a:cs typeface="Poppins Regular" panose="02000000000000000000" charset="0"/>
              </a:defRPr>
            </a:lvl1pPr>
            <a:lvl2pPr marL="584200" indent="0" algn="ctr" eaLnBrk="1" fontAlgn="auto" latinLnBrk="0" hangingPunct="1">
              <a:lnSpc>
                <a:spcPct val="100000"/>
              </a:lnSpc>
              <a:spcBef>
                <a:spcPct val="0"/>
              </a:spcBef>
              <a:spcAft>
                <a:spcPts val="0"/>
              </a:spcAft>
              <a:buFont typeface="+mj-lt"/>
              <a:buNone/>
              <a:defRPr sz="2200" b="0">
                <a:solidFill>
                  <a:schemeClr val="bg1"/>
                </a:solidFill>
                <a:latin typeface="Poppins Regular" panose="02000000000000000000" charset="0"/>
                <a:cs typeface="Poppins Regular" panose="02000000000000000000" charset="0"/>
              </a:defRPr>
            </a:lvl2pPr>
            <a:lvl3pPr marL="1041400" indent="0" algn="ctr" eaLnBrk="1" fontAlgn="auto" latinLnBrk="0" hangingPunct="1">
              <a:lnSpc>
                <a:spcPct val="100000"/>
              </a:lnSpc>
              <a:spcBef>
                <a:spcPct val="0"/>
              </a:spcBef>
              <a:spcAft>
                <a:spcPts val="0"/>
              </a:spcAft>
              <a:buFont typeface="+mj-lt"/>
              <a:buNone/>
              <a:defRPr sz="2200" b="0">
                <a:solidFill>
                  <a:schemeClr val="bg1"/>
                </a:solidFill>
                <a:latin typeface="Poppins Regular" panose="02000000000000000000" charset="0"/>
                <a:cs typeface="Poppins Regular" panose="02000000000000000000" charset="0"/>
              </a:defRPr>
            </a:lvl3pPr>
            <a:lvl4pPr marL="1498600" indent="0" algn="ctr" eaLnBrk="1" fontAlgn="auto" latinLnBrk="0" hangingPunct="1">
              <a:lnSpc>
                <a:spcPct val="100000"/>
              </a:lnSpc>
              <a:spcBef>
                <a:spcPct val="0"/>
              </a:spcBef>
              <a:spcAft>
                <a:spcPts val="0"/>
              </a:spcAft>
              <a:buFont typeface="+mj-lt"/>
              <a:buNone/>
              <a:defRPr sz="2200" b="0">
                <a:solidFill>
                  <a:schemeClr val="bg1"/>
                </a:solidFill>
                <a:latin typeface="Poppins Regular" panose="02000000000000000000" charset="0"/>
                <a:cs typeface="Poppins Regular" panose="02000000000000000000" charset="0"/>
              </a:defRPr>
            </a:lvl4pPr>
            <a:lvl5pPr marL="1955800" indent="0" algn="ctr" eaLnBrk="1" fontAlgn="auto" latinLnBrk="0" hangingPunct="1">
              <a:lnSpc>
                <a:spcPct val="100000"/>
              </a:lnSpc>
              <a:spcBef>
                <a:spcPct val="0"/>
              </a:spcBef>
              <a:spcAft>
                <a:spcPts val="0"/>
              </a:spcAft>
              <a:buFont typeface="+mj-lt"/>
              <a:buNone/>
              <a:defRPr sz="2200" b="0">
                <a:solidFill>
                  <a:schemeClr val="bg1"/>
                </a:solidFill>
                <a:latin typeface="Poppins Regular" panose="02000000000000000000" charset="0"/>
                <a:cs typeface="Poppins Regular" panose="02000000000000000000" charset="0"/>
              </a:defRPr>
            </a:lvl5pPr>
          </a:lstStyle>
          <a:p>
            <a:pPr lvl="0"/>
            <a:r>
              <a:rPr lang="en-US" dirty="0" err="1"/>
              <a:t>Bagian</a:t>
            </a:r>
            <a:r>
              <a:rPr lang="en-US" dirty="0"/>
              <a:t> 2</a:t>
            </a:r>
          </a:p>
          <a:p>
            <a:pPr lvl="1"/>
            <a:endParaRPr lang="en-US" dirty="0"/>
          </a:p>
        </p:txBody>
      </p:sp>
      <p:sp>
        <p:nvSpPr>
          <p:cNvPr id="6" name="header"/>
          <p:cNvSpPr>
            <a:spLocks noGrp="1"/>
          </p:cNvSpPr>
          <p:nvPr>
            <p:ph type="title" idx="4294967295"/>
          </p:nvPr>
        </p:nvSpPr>
        <p:spPr>
          <a:xfrm>
            <a:off x="335915" y="3058795"/>
            <a:ext cx="11520170" cy="3479165"/>
          </a:xfrm>
          <a:prstGeom prst="rect">
            <a:avLst/>
          </a:prstGeom>
        </p:spPr>
        <p:txBody>
          <a:bodyPr anchor="t" anchorCtr="0"/>
          <a:lstStyle>
            <a:lvl1pPr marL="0" indent="0" algn="ctr" eaLnBrk="1" fontAlgn="auto" latinLnBrk="0" hangingPunct="1">
              <a:lnSpc>
                <a:spcPct val="100000"/>
              </a:lnSpc>
              <a:defRPr sz="3200" b="0">
                <a:solidFill>
                  <a:schemeClr val="bg1"/>
                </a:solidFill>
                <a:latin typeface="Poppins Regular" panose="02000000000000000000" charset="0"/>
                <a:cs typeface="Poppins Regular" panose="02000000000000000000" charset="0"/>
              </a:defRPr>
            </a:lvl1pPr>
          </a:lstStyle>
          <a:p>
            <a:r>
              <a:rPr lang="en-US" dirty="0"/>
              <a:t>Architecture Models</a:t>
            </a:r>
          </a:p>
        </p:txBody>
      </p:sp>
      <p:sp>
        <p:nvSpPr>
          <p:cNvPr id="7" name="Rounded Rectangle 6"/>
          <p:cNvSpPr/>
          <p:nvPr/>
        </p:nvSpPr>
        <p:spPr>
          <a:xfrm>
            <a:off x="9726938" y="268034"/>
            <a:ext cx="2917371" cy="111263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00342" y="449944"/>
            <a:ext cx="1886078" cy="760670"/>
          </a:xfrm>
          <a:prstGeom prst="rect">
            <a:avLst/>
          </a:prstGeom>
        </p:spPr>
      </p:pic>
      <p:sp>
        <p:nvSpPr>
          <p:cNvPr id="9" name="Rounded Rectangle 8"/>
          <p:cNvSpPr/>
          <p:nvPr/>
        </p:nvSpPr>
        <p:spPr>
          <a:xfrm>
            <a:off x="-449943" y="268034"/>
            <a:ext cx="2917371" cy="111263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94553" y="268034"/>
            <a:ext cx="1117600" cy="1112633"/>
          </a:xfrm>
          <a:prstGeom prst="rect">
            <a:avLst/>
          </a:prstGeom>
        </p:spPr>
      </p:pic>
      <p:pic>
        <p:nvPicPr>
          <p:cNvPr id="11" name="Picture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312153" y="449944"/>
            <a:ext cx="718646" cy="754742"/>
          </a:xfrm>
          <a:prstGeom prst="rect">
            <a:avLst/>
          </a:prstGeom>
        </p:spPr>
      </p:pic>
      <p:sp>
        <p:nvSpPr>
          <p:cNvPr id="12" name="Rectangle 11"/>
          <p:cNvSpPr/>
          <p:nvPr/>
        </p:nvSpPr>
        <p:spPr>
          <a:xfrm>
            <a:off x="194553" y="6443996"/>
            <a:ext cx="4971233" cy="369332"/>
          </a:xfrm>
          <a:prstGeom prst="rect">
            <a:avLst/>
          </a:prstGeom>
        </p:spPr>
        <p:txBody>
          <a:bodyPr wrap="none">
            <a:spAutoFit/>
          </a:bodyPr>
          <a:lstStyle/>
          <a:p>
            <a:r>
              <a:rPr lang="en-US" b="1" dirty="0">
                <a:solidFill>
                  <a:schemeClr val="bg1"/>
                </a:solidFill>
              </a:rPr>
              <a:t>FAST: FOCUS, ADAPTIVE, SINCERE, TRUSTWORTHY</a:t>
            </a:r>
          </a:p>
        </p:txBody>
      </p:sp>
      <p:sp>
        <p:nvSpPr>
          <p:cNvPr id="13" name="Rectangle 12"/>
          <p:cNvSpPr/>
          <p:nvPr/>
        </p:nvSpPr>
        <p:spPr>
          <a:xfrm>
            <a:off x="8845379" y="6299663"/>
            <a:ext cx="3346622" cy="646331"/>
          </a:xfrm>
          <a:prstGeom prst="rect">
            <a:avLst/>
          </a:prstGeom>
        </p:spPr>
        <p:txBody>
          <a:bodyPr wrap="none">
            <a:spAutoFit/>
          </a:bodyPr>
          <a:lstStyle/>
          <a:p>
            <a:r>
              <a:rPr lang="en-US" dirty="0">
                <a:solidFill>
                  <a:schemeClr val="bg1"/>
                </a:solidFill>
              </a:rPr>
              <a:t>JURUSAN TEKNOLOGI INFORMASI</a:t>
            </a:r>
          </a:p>
          <a:p>
            <a:pPr algn="r"/>
            <a:r>
              <a:rPr lang="en-US" b="1" dirty="0">
                <a:solidFill>
                  <a:schemeClr val="bg1"/>
                </a:solidFill>
              </a:rPr>
              <a:t>POLITEKNIK NEGERI MALANG</a:t>
            </a:r>
          </a:p>
        </p:txBody>
      </p:sp>
    </p:spTree>
    <p:extLst>
      <p:ext uri="{BB962C8B-B14F-4D97-AF65-F5344CB8AC3E}">
        <p14:creationId xmlns:p14="http://schemas.microsoft.com/office/powerpoint/2010/main" val="892634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1517CC-8E6A-0B54-B503-4B18A4F6E0D5}"/>
              </a:ext>
            </a:extLst>
          </p:cNvPr>
          <p:cNvSpPr txBox="1"/>
          <p:nvPr/>
        </p:nvSpPr>
        <p:spPr>
          <a:xfrm>
            <a:off x="948129" y="377316"/>
            <a:ext cx="4373380" cy="2852063"/>
          </a:xfrm>
          <a:prstGeom prst="rect">
            <a:avLst/>
          </a:prstGeom>
          <a:noFill/>
        </p:spPr>
        <p:txBody>
          <a:bodyPr wrap="square">
            <a:spAutoFit/>
          </a:bodyPr>
          <a:lstStyle/>
          <a:p>
            <a:pPr algn="l">
              <a:lnSpc>
                <a:spcPts val="3150"/>
              </a:lnSpc>
              <a:spcAft>
                <a:spcPts val="1500"/>
              </a:spcAft>
              <a:buNone/>
            </a:pPr>
            <a:r>
              <a:rPr lang="en-US" sz="1200" b="1" i="0" dirty="0">
                <a:solidFill>
                  <a:srgbClr val="222222"/>
                </a:solidFill>
                <a:effectLst/>
                <a:latin typeface="Poppins" panose="00000500000000000000" pitchFamily="2" charset="0"/>
              </a:rPr>
              <a:t>Layers of a Data Warehouse Architecture</a:t>
            </a:r>
          </a:p>
          <a:p>
            <a:pPr algn="l">
              <a:spcAft>
                <a:spcPts val="1500"/>
              </a:spcAft>
              <a:buNone/>
            </a:pPr>
            <a:r>
              <a:rPr lang="en-US" sz="1200" b="0" i="0" dirty="0">
                <a:solidFill>
                  <a:srgbClr val="222222"/>
                </a:solidFill>
                <a:effectLst/>
                <a:latin typeface="Open Sans" panose="020B0606030504020204" pitchFamily="34" charset="0"/>
              </a:rPr>
              <a:t>While there can be various layers in a data warehouse architecture, there are a few standard ones that are responsible for the efficient functioning of the data warehouse software. These include: </a:t>
            </a:r>
          </a:p>
          <a:p>
            <a:pPr algn="l" fontAlgn="base">
              <a:lnSpc>
                <a:spcPts val="2250"/>
              </a:lnSpc>
              <a:spcAft>
                <a:spcPts val="1500"/>
              </a:spcAft>
              <a:buFont typeface="Arial" panose="020B0604020202020204" pitchFamily="34" charset="0"/>
              <a:buChar char="•"/>
            </a:pPr>
            <a:r>
              <a:rPr lang="en-US" sz="1200" b="1" i="0" dirty="0">
                <a:solidFill>
                  <a:srgbClr val="222222"/>
                </a:solidFill>
                <a:effectLst/>
                <a:latin typeface="Poppins" panose="00000500000000000000" pitchFamily="2" charset="0"/>
              </a:rPr>
              <a:t>Source Layer</a:t>
            </a:r>
          </a:p>
          <a:p>
            <a:pPr algn="l">
              <a:spcAft>
                <a:spcPts val="1500"/>
              </a:spcAft>
              <a:buNone/>
            </a:pPr>
            <a:r>
              <a:rPr lang="en-US" sz="1200" b="0" i="0" dirty="0">
                <a:solidFill>
                  <a:srgbClr val="222222"/>
                </a:solidFill>
                <a:effectLst/>
                <a:latin typeface="Open Sans" panose="020B0606030504020204" pitchFamily="34" charset="0"/>
              </a:rPr>
              <a:t>The source layer is where the different types of data from various sources such as CRM, ERP, or even spreadsheets are collected and subsequently sent to other layers.  </a:t>
            </a:r>
          </a:p>
        </p:txBody>
      </p:sp>
      <p:sp>
        <p:nvSpPr>
          <p:cNvPr id="5" name="TextBox 4">
            <a:extLst>
              <a:ext uri="{FF2B5EF4-FFF2-40B4-BE49-F238E27FC236}">
                <a16:creationId xmlns:a16="http://schemas.microsoft.com/office/drawing/2014/main" id="{9BA5182C-BFED-26D1-2A11-EF4A13098BBD}"/>
              </a:ext>
            </a:extLst>
          </p:cNvPr>
          <p:cNvSpPr txBox="1"/>
          <p:nvPr/>
        </p:nvSpPr>
        <p:spPr>
          <a:xfrm>
            <a:off x="5745652" y="289937"/>
            <a:ext cx="5912948" cy="4154984"/>
          </a:xfrm>
          <a:prstGeom prst="rect">
            <a:avLst/>
          </a:prstGeom>
          <a:noFill/>
        </p:spPr>
        <p:txBody>
          <a:bodyPr wrap="square">
            <a:spAutoFit/>
          </a:bodyPr>
          <a:lstStyle/>
          <a:p>
            <a:pPr algn="l" fontAlgn="base">
              <a:lnSpc>
                <a:spcPts val="2250"/>
              </a:lnSpc>
              <a:spcAft>
                <a:spcPts val="1500"/>
              </a:spcAft>
              <a:buFont typeface="Arial" panose="020B0604020202020204" pitchFamily="34" charset="0"/>
              <a:buChar char="•"/>
            </a:pPr>
            <a:r>
              <a:rPr lang="en-US" sz="1200" b="1" dirty="0">
                <a:solidFill>
                  <a:srgbClr val="222222"/>
                </a:solidFill>
                <a:latin typeface="Open Sans" panose="020B0606030504020204" pitchFamily="34" charset="0"/>
              </a:rPr>
              <a:t>Staging Layer</a:t>
            </a:r>
          </a:p>
          <a:p>
            <a:pPr algn="l">
              <a:spcAft>
                <a:spcPts val="1500"/>
              </a:spcAft>
              <a:buNone/>
            </a:pPr>
            <a:r>
              <a:rPr lang="en-US" sz="1200" dirty="0">
                <a:solidFill>
                  <a:srgbClr val="222222"/>
                </a:solidFill>
                <a:latin typeface="Open Sans" panose="020B0606030504020204" pitchFamily="34" charset="0"/>
              </a:rPr>
              <a:t>From the source layer, the data moves to the staging layer where it is t</a:t>
            </a:r>
            <a:r>
              <a:rPr lang="en-US" sz="1200" b="1" dirty="0">
                <a:solidFill>
                  <a:srgbClr val="222222"/>
                </a:solidFill>
                <a:latin typeface="Open Sans" panose="020B0606030504020204" pitchFamily="34" charset="0"/>
              </a:rPr>
              <a:t>emporarily stored, organized, and goes through several quality checks</a:t>
            </a:r>
            <a:r>
              <a:rPr lang="en-US" sz="1200" dirty="0">
                <a:solidFill>
                  <a:srgbClr val="222222"/>
                </a:solidFill>
                <a:latin typeface="Open Sans" panose="020B0606030504020204" pitchFamily="34" charset="0"/>
              </a:rPr>
              <a:t>. This is popularly called the Extract, Transform, and Load (ETL) process and is done to ensure the data processing </a:t>
            </a:r>
            <a:r>
              <a:rPr lang="en-US" sz="1200" dirty="0">
                <a:solidFill>
                  <a:srgbClr val="222222"/>
                </a:solidFill>
                <a:highlight>
                  <a:srgbClr val="FFFF00"/>
                </a:highlight>
                <a:latin typeface="Open Sans" panose="020B0606030504020204" pitchFamily="34" charset="0"/>
              </a:rPr>
              <a:t>is efficient. </a:t>
            </a:r>
            <a:r>
              <a:rPr lang="en-US" sz="1200" dirty="0">
                <a:solidFill>
                  <a:srgbClr val="222222"/>
                </a:solidFill>
                <a:latin typeface="Open Sans" panose="020B0606030504020204" pitchFamily="34" charset="0"/>
              </a:rPr>
              <a:t> </a:t>
            </a:r>
          </a:p>
          <a:p>
            <a:pPr algn="l" fontAlgn="base">
              <a:lnSpc>
                <a:spcPts val="2250"/>
              </a:lnSpc>
              <a:spcAft>
                <a:spcPts val="1500"/>
              </a:spcAft>
              <a:buFont typeface="Arial" panose="020B0604020202020204" pitchFamily="34" charset="0"/>
              <a:buChar char="•"/>
            </a:pPr>
            <a:r>
              <a:rPr lang="en-US" sz="1200" b="1" dirty="0">
                <a:solidFill>
                  <a:srgbClr val="222222"/>
                </a:solidFill>
                <a:latin typeface="Open Sans" panose="020B0606030504020204" pitchFamily="34" charset="0"/>
              </a:rPr>
              <a:t>Warehouse Layer</a:t>
            </a:r>
          </a:p>
          <a:p>
            <a:pPr algn="l">
              <a:spcAft>
                <a:spcPts val="1500"/>
              </a:spcAft>
              <a:buNone/>
            </a:pPr>
            <a:r>
              <a:rPr lang="en-US" sz="1200" dirty="0">
                <a:solidFill>
                  <a:srgbClr val="222222"/>
                </a:solidFill>
                <a:latin typeface="Open Sans" panose="020B0606030504020204" pitchFamily="34" charset="0"/>
              </a:rPr>
              <a:t>The warehouse layer or the core layer is where the processed data from the staging layer is stored and optimized for analysis. This layer leverages a standardized data structure to move the data into different tables.  </a:t>
            </a:r>
          </a:p>
          <a:p>
            <a:pPr algn="l" fontAlgn="base">
              <a:lnSpc>
                <a:spcPts val="2250"/>
              </a:lnSpc>
              <a:spcAft>
                <a:spcPts val="1500"/>
              </a:spcAft>
              <a:buFont typeface="Arial" panose="020B0604020202020204" pitchFamily="34" charset="0"/>
              <a:buChar char="•"/>
            </a:pPr>
            <a:r>
              <a:rPr lang="en-US" sz="1200" b="1" dirty="0">
                <a:solidFill>
                  <a:srgbClr val="222222"/>
                </a:solidFill>
                <a:latin typeface="Open Sans" panose="020B0606030504020204" pitchFamily="34" charset="0"/>
              </a:rPr>
              <a:t>Presentation Layer</a:t>
            </a:r>
          </a:p>
          <a:p>
            <a:pPr algn="l">
              <a:buNone/>
            </a:pPr>
            <a:r>
              <a:rPr lang="en-US" sz="1200" dirty="0">
                <a:solidFill>
                  <a:srgbClr val="222222"/>
                </a:solidFill>
                <a:latin typeface="Open Sans" panose="020B0606030504020204" pitchFamily="34" charset="0"/>
              </a:rPr>
              <a:t>The presentation layer (also known as the consumption layer) is where analysts and other users can access the data. It allows users to leverage queries and tools to extract insights, generate reports, and make informed decisions. This layer consists of data marts and data interfaces that present data related to a specific subject area to a particular group of users in the required format. </a:t>
            </a:r>
          </a:p>
        </p:txBody>
      </p:sp>
      <p:pic>
        <p:nvPicPr>
          <p:cNvPr id="7" name="Picture 6">
            <a:extLst>
              <a:ext uri="{FF2B5EF4-FFF2-40B4-BE49-F238E27FC236}">
                <a16:creationId xmlns:a16="http://schemas.microsoft.com/office/drawing/2014/main" id="{BD629F8A-867E-BC63-DAAD-DFCD09160B43}"/>
              </a:ext>
            </a:extLst>
          </p:cNvPr>
          <p:cNvPicPr>
            <a:picLocks noChangeAspect="1"/>
          </p:cNvPicPr>
          <p:nvPr/>
        </p:nvPicPr>
        <p:blipFill>
          <a:blip r:embed="rId3"/>
          <a:stretch>
            <a:fillRect/>
          </a:stretch>
        </p:blipFill>
        <p:spPr>
          <a:xfrm>
            <a:off x="166810" y="3429000"/>
            <a:ext cx="5578842" cy="2852063"/>
          </a:xfrm>
          <a:prstGeom prst="rect">
            <a:avLst/>
          </a:prstGeom>
        </p:spPr>
      </p:pic>
    </p:spTree>
    <p:extLst>
      <p:ext uri="{BB962C8B-B14F-4D97-AF65-F5344CB8AC3E}">
        <p14:creationId xmlns:p14="http://schemas.microsoft.com/office/powerpoint/2010/main" val="6082872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67188" y="227366"/>
            <a:ext cx="1373223" cy="553831"/>
          </a:xfrm>
          <a:prstGeom prst="rect">
            <a:avLst/>
          </a:prstGeom>
        </p:spPr>
      </p:pic>
      <p:pic>
        <p:nvPicPr>
          <p:cNvPr id="16" name="Picture 15"/>
          <p:cNvPicPr>
            <a:picLocks noChangeAspect="1"/>
          </p:cNvPicPr>
          <p:nvPr/>
        </p:nvPicPr>
        <p:blipFill>
          <a:blip r:embed="rId4" cstate="print">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78656" y="230188"/>
            <a:ext cx="659544" cy="656613"/>
          </a:xfrm>
          <a:prstGeom prst="rect">
            <a:avLst/>
          </a:prstGeom>
        </p:spPr>
      </p:pic>
      <p:pic>
        <p:nvPicPr>
          <p:cNvPr id="17" name="Picture 1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38200" y="335791"/>
            <a:ext cx="424104" cy="445406"/>
          </a:xfrm>
          <a:prstGeom prst="rect">
            <a:avLst/>
          </a:prstGeom>
        </p:spPr>
      </p:pic>
      <p:sp>
        <p:nvSpPr>
          <p:cNvPr id="18" name="Rectangle 17"/>
          <p:cNvSpPr/>
          <p:nvPr/>
        </p:nvSpPr>
        <p:spPr>
          <a:xfrm>
            <a:off x="0" y="6267450"/>
            <a:ext cx="12192000" cy="59055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0" y="6161846"/>
            <a:ext cx="12192000" cy="59055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p:cNvSpPr/>
          <p:nvPr/>
        </p:nvSpPr>
        <p:spPr>
          <a:xfrm>
            <a:off x="4949068" y="526059"/>
            <a:ext cx="2726196" cy="523220"/>
          </a:xfrm>
          <a:prstGeom prst="rect">
            <a:avLst/>
          </a:prstGeom>
        </p:spPr>
        <p:txBody>
          <a:bodyPr wrap="none">
            <a:spAutoFit/>
          </a:bodyPr>
          <a:lstStyle/>
          <a:p>
            <a:r>
              <a:rPr lang="en-US" sz="2800" b="1" dirty="0">
                <a:solidFill>
                  <a:srgbClr val="002060"/>
                </a:solidFill>
              </a:rPr>
              <a:t>Model </a:t>
            </a:r>
            <a:r>
              <a:rPr lang="en-US" sz="2800" b="1" dirty="0" err="1">
                <a:solidFill>
                  <a:srgbClr val="002060"/>
                </a:solidFill>
              </a:rPr>
              <a:t>Arsitektur</a:t>
            </a:r>
            <a:endParaRPr lang="en-US" sz="2800" b="1" dirty="0">
              <a:solidFill>
                <a:srgbClr val="002060"/>
              </a:solidFill>
            </a:endParaRPr>
          </a:p>
        </p:txBody>
      </p:sp>
      <p:sp>
        <p:nvSpPr>
          <p:cNvPr id="38" name="Rectangle 37"/>
          <p:cNvSpPr/>
          <p:nvPr/>
        </p:nvSpPr>
        <p:spPr>
          <a:xfrm>
            <a:off x="0" y="6315810"/>
            <a:ext cx="4971233" cy="369332"/>
          </a:xfrm>
          <a:prstGeom prst="rect">
            <a:avLst/>
          </a:prstGeom>
        </p:spPr>
        <p:txBody>
          <a:bodyPr wrap="none">
            <a:spAutoFit/>
          </a:bodyPr>
          <a:lstStyle/>
          <a:p>
            <a:r>
              <a:rPr lang="en-US" b="1" dirty="0">
                <a:solidFill>
                  <a:schemeClr val="bg1"/>
                </a:solidFill>
              </a:rPr>
              <a:t>FAST: FOCUS, ADAPTIVE, SINCERE, TRUSTWORTHY</a:t>
            </a:r>
          </a:p>
        </p:txBody>
      </p:sp>
      <p:sp>
        <p:nvSpPr>
          <p:cNvPr id="39" name="Rectangle 38"/>
          <p:cNvSpPr/>
          <p:nvPr/>
        </p:nvSpPr>
        <p:spPr>
          <a:xfrm>
            <a:off x="10092442" y="6300421"/>
            <a:ext cx="1947969" cy="400110"/>
          </a:xfrm>
          <a:prstGeom prst="rect">
            <a:avLst/>
          </a:prstGeom>
        </p:spPr>
        <p:txBody>
          <a:bodyPr wrap="none">
            <a:spAutoFit/>
          </a:bodyPr>
          <a:lstStyle/>
          <a:p>
            <a:pPr algn="r"/>
            <a:r>
              <a:rPr lang="en-US" sz="1000" dirty="0">
                <a:solidFill>
                  <a:schemeClr val="bg1"/>
                </a:solidFill>
              </a:rPr>
              <a:t>JURUSAN TEKNOLOGI INFORMASI</a:t>
            </a:r>
          </a:p>
          <a:p>
            <a:pPr algn="r"/>
            <a:r>
              <a:rPr lang="en-US" sz="1000" b="1" dirty="0">
                <a:solidFill>
                  <a:schemeClr val="bg1"/>
                </a:solidFill>
              </a:rPr>
              <a:t>POLITEKNIK NEGERI MALANG</a:t>
            </a:r>
          </a:p>
        </p:txBody>
      </p:sp>
      <p:pic>
        <p:nvPicPr>
          <p:cNvPr id="40" name="shape3"/>
          <p:cNvPicPr>
            <a:picLocks noChangeAspect="1"/>
          </p:cNvPicPr>
          <p:nvPr/>
        </p:nvPicPr>
        <p:blipFill>
          <a:blip r:embed="rId7"/>
          <a:stretch>
            <a:fillRect/>
          </a:stretch>
        </p:blipFill>
        <p:spPr>
          <a:xfrm>
            <a:off x="4708125" y="3320001"/>
            <a:ext cx="1386840" cy="1386840"/>
          </a:xfrm>
          <a:prstGeom prst="rect">
            <a:avLst/>
          </a:prstGeom>
        </p:spPr>
      </p:pic>
      <p:pic>
        <p:nvPicPr>
          <p:cNvPr id="41" name="shape1"/>
          <p:cNvPicPr>
            <a:picLocks noChangeAspect="1"/>
          </p:cNvPicPr>
          <p:nvPr/>
        </p:nvPicPr>
        <p:blipFill>
          <a:blip r:embed="rId8"/>
          <a:stretch>
            <a:fillRect/>
          </a:stretch>
        </p:blipFill>
        <p:spPr>
          <a:xfrm>
            <a:off x="4695576" y="1713133"/>
            <a:ext cx="1386840" cy="1386840"/>
          </a:xfrm>
          <a:prstGeom prst="rect">
            <a:avLst/>
          </a:prstGeom>
        </p:spPr>
      </p:pic>
      <p:pic>
        <p:nvPicPr>
          <p:cNvPr id="42" name="shape2"/>
          <p:cNvPicPr>
            <a:picLocks noChangeAspect="1"/>
          </p:cNvPicPr>
          <p:nvPr/>
        </p:nvPicPr>
        <p:blipFill>
          <a:blip r:embed="rId9"/>
          <a:stretch>
            <a:fillRect/>
          </a:stretch>
        </p:blipFill>
        <p:spPr>
          <a:xfrm>
            <a:off x="6369163" y="1713133"/>
            <a:ext cx="1386840" cy="1386840"/>
          </a:xfrm>
          <a:prstGeom prst="rect">
            <a:avLst/>
          </a:prstGeom>
        </p:spPr>
      </p:pic>
      <p:pic>
        <p:nvPicPr>
          <p:cNvPr id="43" name="shape4"/>
          <p:cNvPicPr>
            <a:picLocks noChangeAspect="1"/>
          </p:cNvPicPr>
          <p:nvPr/>
        </p:nvPicPr>
        <p:blipFill>
          <a:blip r:embed="rId10"/>
          <a:stretch>
            <a:fillRect/>
          </a:stretch>
        </p:blipFill>
        <p:spPr>
          <a:xfrm>
            <a:off x="6355828" y="3327303"/>
            <a:ext cx="1386840" cy="1386840"/>
          </a:xfrm>
          <a:prstGeom prst="rect">
            <a:avLst/>
          </a:prstGeom>
        </p:spPr>
      </p:pic>
      <p:sp>
        <p:nvSpPr>
          <p:cNvPr id="44" name="number1"/>
          <p:cNvSpPr txBox="1">
            <a:spLocks/>
          </p:cNvSpPr>
          <p:nvPr/>
        </p:nvSpPr>
        <p:spPr>
          <a:xfrm>
            <a:off x="4756994" y="2128841"/>
            <a:ext cx="1289102" cy="615315"/>
          </a:xfrm>
          <a:prstGeom prst="rect">
            <a:avLst/>
          </a:prstGeom>
        </p:spPr>
        <p:txBody>
          <a:bodyPr/>
          <a:lstStyle>
            <a:lvl1pPr marL="0" indent="0" algn="ctr" defTabSz="914400" rtl="0" eaLnBrk="1" latinLnBrk="0" hangingPunct="1">
              <a:lnSpc>
                <a:spcPct val="100000"/>
              </a:lnSpc>
              <a:spcBef>
                <a:spcPts val="1000"/>
              </a:spcBef>
              <a:buFont typeface="Arial" panose="020B0604020202020204" pitchFamily="34" charset="0"/>
              <a:buNone/>
              <a:defRPr sz="2800" b="1" kern="1200">
                <a:solidFill>
                  <a:schemeClr val="tx1"/>
                </a:solidFill>
                <a:latin typeface="Poppins Light" panose="02000000000000000000" charset="0"/>
                <a:ea typeface="+mn-ea"/>
                <a:cs typeface="Poppins Light" panose="02000000000000000000" charset="0"/>
              </a:defRPr>
            </a:lvl1pPr>
            <a:lvl2pPr marL="457200" indent="0" algn="ctr" defTabSz="914400" rtl="0" eaLnBrk="1" latinLnBrk="0" hangingPunct="1">
              <a:lnSpc>
                <a:spcPct val="100000"/>
              </a:lnSpc>
              <a:spcBef>
                <a:spcPts val="500"/>
              </a:spcBef>
              <a:buFont typeface="Arial" panose="020B0604020202020204" pitchFamily="34" charset="0"/>
              <a:buNone/>
              <a:defRPr sz="2200" kern="1200">
                <a:solidFill>
                  <a:schemeClr val="tx1"/>
                </a:solidFill>
                <a:latin typeface="Poppins Light" panose="02000000000000000000" charset="0"/>
                <a:ea typeface="+mn-ea"/>
                <a:cs typeface="Poppins Light" panose="02000000000000000000" charset="0"/>
              </a:defRPr>
            </a:lvl2pPr>
            <a:lvl3pPr marL="914400" indent="0" algn="l" defTabSz="914400" rtl="0" eaLnBrk="1" latinLnBrk="0" hangingPunct="1">
              <a:lnSpc>
                <a:spcPct val="100000"/>
              </a:lnSpc>
              <a:spcBef>
                <a:spcPts val="500"/>
              </a:spcBef>
              <a:buFont typeface="Arial" panose="020B0604020202020204" pitchFamily="34" charset="0"/>
              <a:buNone/>
              <a:defRPr sz="2200" kern="1200">
                <a:solidFill>
                  <a:schemeClr val="tx1"/>
                </a:solidFill>
                <a:latin typeface="Poppins Light" panose="02000000000000000000" charset="0"/>
                <a:ea typeface="+mn-ea"/>
                <a:cs typeface="Poppins Light" panose="02000000000000000000"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Poppins Light" panose="02000000000000000000" charset="0"/>
                <a:ea typeface="+mn-ea"/>
                <a:cs typeface="Poppins Light" panose="02000000000000000000"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Poppins Light" panose="02000000000000000000" charset="0"/>
                <a:ea typeface="+mn-ea"/>
                <a:cs typeface="Poppins Light"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01</a:t>
            </a:r>
          </a:p>
        </p:txBody>
      </p:sp>
      <p:sp>
        <p:nvSpPr>
          <p:cNvPr id="45" name="number2"/>
          <p:cNvSpPr txBox="1">
            <a:spLocks/>
          </p:cNvSpPr>
          <p:nvPr/>
        </p:nvSpPr>
        <p:spPr>
          <a:xfrm>
            <a:off x="6386162" y="2124393"/>
            <a:ext cx="1289102" cy="615315"/>
          </a:xfrm>
          <a:prstGeom prst="rect">
            <a:avLst/>
          </a:prstGeom>
        </p:spPr>
        <p:txBody>
          <a:bodyPr/>
          <a:lstStyle>
            <a:lvl1pPr marL="0" indent="0" algn="ctr" defTabSz="914400" rtl="0" eaLnBrk="1" latinLnBrk="0" hangingPunct="1">
              <a:lnSpc>
                <a:spcPct val="100000"/>
              </a:lnSpc>
              <a:spcBef>
                <a:spcPts val="1000"/>
              </a:spcBef>
              <a:buFont typeface="Arial" panose="020B0604020202020204" pitchFamily="34" charset="0"/>
              <a:buNone/>
              <a:defRPr sz="2800" b="1" kern="1200">
                <a:solidFill>
                  <a:schemeClr val="tx1"/>
                </a:solidFill>
                <a:latin typeface="Poppins Light" panose="02000000000000000000" charset="0"/>
                <a:ea typeface="+mn-ea"/>
                <a:cs typeface="Poppins Light" panose="02000000000000000000" charset="0"/>
              </a:defRPr>
            </a:lvl1pPr>
            <a:lvl2pPr marL="457200" indent="0" algn="ctr" defTabSz="914400" rtl="0" eaLnBrk="1" latinLnBrk="0" hangingPunct="1">
              <a:lnSpc>
                <a:spcPct val="100000"/>
              </a:lnSpc>
              <a:spcBef>
                <a:spcPts val="500"/>
              </a:spcBef>
              <a:buFont typeface="Arial" panose="020B0604020202020204" pitchFamily="34" charset="0"/>
              <a:buNone/>
              <a:defRPr sz="2200" kern="1200">
                <a:solidFill>
                  <a:schemeClr val="tx1"/>
                </a:solidFill>
                <a:latin typeface="Poppins Light" panose="02000000000000000000" charset="0"/>
                <a:ea typeface="+mn-ea"/>
                <a:cs typeface="Poppins Light" panose="02000000000000000000" charset="0"/>
              </a:defRPr>
            </a:lvl2pPr>
            <a:lvl3pPr marL="914400" indent="0" algn="l" defTabSz="914400" rtl="0" eaLnBrk="1" latinLnBrk="0" hangingPunct="1">
              <a:lnSpc>
                <a:spcPct val="100000"/>
              </a:lnSpc>
              <a:spcBef>
                <a:spcPts val="500"/>
              </a:spcBef>
              <a:buFont typeface="Arial" panose="020B0604020202020204" pitchFamily="34" charset="0"/>
              <a:buNone/>
              <a:defRPr sz="2200" kern="1200">
                <a:solidFill>
                  <a:schemeClr val="tx1"/>
                </a:solidFill>
                <a:latin typeface="Poppins Light" panose="02000000000000000000" charset="0"/>
                <a:ea typeface="+mn-ea"/>
                <a:cs typeface="Poppins Light" panose="02000000000000000000"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Poppins Light" panose="02000000000000000000" charset="0"/>
                <a:ea typeface="+mn-ea"/>
                <a:cs typeface="Poppins Light" panose="02000000000000000000"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Poppins Light" panose="02000000000000000000" charset="0"/>
                <a:ea typeface="+mn-ea"/>
                <a:cs typeface="Poppins Light"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02</a:t>
            </a:r>
          </a:p>
        </p:txBody>
      </p:sp>
      <p:sp>
        <p:nvSpPr>
          <p:cNvPr id="46" name="number3"/>
          <p:cNvSpPr txBox="1">
            <a:spLocks/>
          </p:cNvSpPr>
          <p:nvPr/>
        </p:nvSpPr>
        <p:spPr>
          <a:xfrm>
            <a:off x="4798958" y="3785994"/>
            <a:ext cx="1289102" cy="615315"/>
          </a:xfrm>
          <a:prstGeom prst="rect">
            <a:avLst/>
          </a:prstGeom>
        </p:spPr>
        <p:txBody>
          <a:bodyPr/>
          <a:lstStyle>
            <a:lvl1pPr marL="0" indent="0" algn="ctr" defTabSz="914400" rtl="0" eaLnBrk="1" latinLnBrk="0" hangingPunct="1">
              <a:lnSpc>
                <a:spcPct val="100000"/>
              </a:lnSpc>
              <a:spcBef>
                <a:spcPts val="1000"/>
              </a:spcBef>
              <a:buFont typeface="Arial" panose="020B0604020202020204" pitchFamily="34" charset="0"/>
              <a:buNone/>
              <a:defRPr sz="2800" b="1" kern="1200">
                <a:solidFill>
                  <a:schemeClr val="tx1"/>
                </a:solidFill>
                <a:latin typeface="Poppins Light" panose="02000000000000000000" charset="0"/>
                <a:ea typeface="+mn-ea"/>
                <a:cs typeface="Poppins Light" panose="02000000000000000000" charset="0"/>
              </a:defRPr>
            </a:lvl1pPr>
            <a:lvl2pPr marL="457200" indent="0" algn="ctr" defTabSz="914400" rtl="0" eaLnBrk="1" latinLnBrk="0" hangingPunct="1">
              <a:lnSpc>
                <a:spcPct val="100000"/>
              </a:lnSpc>
              <a:spcBef>
                <a:spcPts val="500"/>
              </a:spcBef>
              <a:buFont typeface="Arial" panose="020B0604020202020204" pitchFamily="34" charset="0"/>
              <a:buNone/>
              <a:defRPr sz="2200" kern="1200">
                <a:solidFill>
                  <a:schemeClr val="tx1"/>
                </a:solidFill>
                <a:latin typeface="Poppins Light" panose="02000000000000000000" charset="0"/>
                <a:ea typeface="+mn-ea"/>
                <a:cs typeface="Poppins Light" panose="02000000000000000000" charset="0"/>
              </a:defRPr>
            </a:lvl2pPr>
            <a:lvl3pPr marL="914400" indent="0" algn="l" defTabSz="914400" rtl="0" eaLnBrk="1" latinLnBrk="0" hangingPunct="1">
              <a:lnSpc>
                <a:spcPct val="100000"/>
              </a:lnSpc>
              <a:spcBef>
                <a:spcPts val="500"/>
              </a:spcBef>
              <a:buFont typeface="Arial" panose="020B0604020202020204" pitchFamily="34" charset="0"/>
              <a:buNone/>
              <a:defRPr sz="2200" kern="1200">
                <a:solidFill>
                  <a:schemeClr val="tx1"/>
                </a:solidFill>
                <a:latin typeface="Poppins Light" panose="02000000000000000000" charset="0"/>
                <a:ea typeface="+mn-ea"/>
                <a:cs typeface="Poppins Light" panose="02000000000000000000"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Poppins Light" panose="02000000000000000000" charset="0"/>
                <a:ea typeface="+mn-ea"/>
                <a:cs typeface="Poppins Light" panose="02000000000000000000"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Poppins Light" panose="02000000000000000000" charset="0"/>
                <a:ea typeface="+mn-ea"/>
                <a:cs typeface="Poppins Light"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03</a:t>
            </a:r>
          </a:p>
        </p:txBody>
      </p:sp>
      <p:sp>
        <p:nvSpPr>
          <p:cNvPr id="47" name="number4"/>
          <p:cNvSpPr txBox="1">
            <a:spLocks/>
          </p:cNvSpPr>
          <p:nvPr/>
        </p:nvSpPr>
        <p:spPr>
          <a:xfrm>
            <a:off x="6386308" y="3789583"/>
            <a:ext cx="1289050" cy="614680"/>
          </a:xfrm>
          <a:prstGeom prst="rect">
            <a:avLst/>
          </a:prstGeom>
        </p:spPr>
        <p:txBody>
          <a:bodyPr/>
          <a:lstStyle>
            <a:lvl1pPr marL="0" indent="0" algn="ctr" defTabSz="914400" rtl="0" eaLnBrk="1" latinLnBrk="0" hangingPunct="1">
              <a:lnSpc>
                <a:spcPct val="100000"/>
              </a:lnSpc>
              <a:spcBef>
                <a:spcPts val="1000"/>
              </a:spcBef>
              <a:buFont typeface="Arial" panose="020B0604020202020204" pitchFamily="34" charset="0"/>
              <a:buNone/>
              <a:defRPr sz="2800" b="1" kern="1200">
                <a:solidFill>
                  <a:schemeClr val="tx1"/>
                </a:solidFill>
                <a:latin typeface="Poppins Light" panose="02000000000000000000" charset="0"/>
                <a:ea typeface="+mn-ea"/>
                <a:cs typeface="Poppins Light" panose="02000000000000000000" charset="0"/>
              </a:defRPr>
            </a:lvl1pPr>
            <a:lvl2pPr marL="457200" indent="0" algn="ctr" defTabSz="914400" rtl="0" eaLnBrk="1" latinLnBrk="0" hangingPunct="1">
              <a:lnSpc>
                <a:spcPct val="100000"/>
              </a:lnSpc>
              <a:spcBef>
                <a:spcPts val="500"/>
              </a:spcBef>
              <a:buFont typeface="Arial" panose="020B0604020202020204" pitchFamily="34" charset="0"/>
              <a:buNone/>
              <a:defRPr sz="2200" kern="1200">
                <a:solidFill>
                  <a:schemeClr val="tx1"/>
                </a:solidFill>
                <a:latin typeface="Poppins Light" panose="02000000000000000000" charset="0"/>
                <a:ea typeface="+mn-ea"/>
                <a:cs typeface="Poppins Light" panose="02000000000000000000" charset="0"/>
              </a:defRPr>
            </a:lvl2pPr>
            <a:lvl3pPr marL="914400" indent="0" algn="l" defTabSz="914400" rtl="0" eaLnBrk="1" latinLnBrk="0" hangingPunct="1">
              <a:lnSpc>
                <a:spcPct val="100000"/>
              </a:lnSpc>
              <a:spcBef>
                <a:spcPts val="500"/>
              </a:spcBef>
              <a:buFont typeface="Arial" panose="020B0604020202020204" pitchFamily="34" charset="0"/>
              <a:buNone/>
              <a:defRPr sz="2200" kern="1200">
                <a:solidFill>
                  <a:schemeClr val="tx1"/>
                </a:solidFill>
                <a:latin typeface="Poppins Light" panose="02000000000000000000" charset="0"/>
                <a:ea typeface="+mn-ea"/>
                <a:cs typeface="Poppins Light" panose="02000000000000000000"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Poppins Light" panose="02000000000000000000" charset="0"/>
                <a:ea typeface="+mn-ea"/>
                <a:cs typeface="Poppins Light" panose="02000000000000000000"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Poppins Light" panose="02000000000000000000" charset="0"/>
                <a:ea typeface="+mn-ea"/>
                <a:cs typeface="Poppins Light"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04</a:t>
            </a:r>
          </a:p>
        </p:txBody>
      </p:sp>
      <p:sp>
        <p:nvSpPr>
          <p:cNvPr id="48" name="number1"/>
          <p:cNvSpPr txBox="1">
            <a:spLocks/>
          </p:cNvSpPr>
          <p:nvPr/>
        </p:nvSpPr>
        <p:spPr>
          <a:xfrm>
            <a:off x="1050252" y="2174446"/>
            <a:ext cx="3927118" cy="615315"/>
          </a:xfrm>
          <a:prstGeom prst="rect">
            <a:avLst/>
          </a:prstGeom>
        </p:spPr>
        <p:txBody>
          <a:bodyPr/>
          <a:lstStyle>
            <a:lvl1pPr marL="0" indent="0" algn="ctr" defTabSz="914400" rtl="0" eaLnBrk="1" latinLnBrk="0" hangingPunct="1">
              <a:lnSpc>
                <a:spcPct val="100000"/>
              </a:lnSpc>
              <a:spcBef>
                <a:spcPts val="1000"/>
              </a:spcBef>
              <a:buFont typeface="Arial" panose="020B0604020202020204" pitchFamily="34" charset="0"/>
              <a:buNone/>
              <a:defRPr sz="2800" b="1" kern="1200">
                <a:solidFill>
                  <a:schemeClr val="tx1"/>
                </a:solidFill>
                <a:latin typeface="Poppins Light" panose="02000000000000000000" charset="0"/>
                <a:ea typeface="+mn-ea"/>
                <a:cs typeface="Poppins Light" panose="02000000000000000000" charset="0"/>
              </a:defRPr>
            </a:lvl1pPr>
            <a:lvl2pPr marL="457200" indent="0" algn="ctr" defTabSz="914400" rtl="0" eaLnBrk="1" latinLnBrk="0" hangingPunct="1">
              <a:lnSpc>
                <a:spcPct val="100000"/>
              </a:lnSpc>
              <a:spcBef>
                <a:spcPts val="500"/>
              </a:spcBef>
              <a:buFont typeface="Arial" panose="020B0604020202020204" pitchFamily="34" charset="0"/>
              <a:buNone/>
              <a:defRPr sz="2200" kern="1200">
                <a:solidFill>
                  <a:schemeClr val="tx1"/>
                </a:solidFill>
                <a:latin typeface="Poppins Light" panose="02000000000000000000" charset="0"/>
                <a:ea typeface="+mn-ea"/>
                <a:cs typeface="Poppins Light" panose="02000000000000000000" charset="0"/>
              </a:defRPr>
            </a:lvl2pPr>
            <a:lvl3pPr marL="914400" indent="0" algn="l" defTabSz="914400" rtl="0" eaLnBrk="1" latinLnBrk="0" hangingPunct="1">
              <a:lnSpc>
                <a:spcPct val="100000"/>
              </a:lnSpc>
              <a:spcBef>
                <a:spcPts val="500"/>
              </a:spcBef>
              <a:buFont typeface="Arial" panose="020B0604020202020204" pitchFamily="34" charset="0"/>
              <a:buNone/>
              <a:defRPr sz="2200" kern="1200">
                <a:solidFill>
                  <a:schemeClr val="tx1"/>
                </a:solidFill>
                <a:latin typeface="Poppins Light" panose="02000000000000000000" charset="0"/>
                <a:ea typeface="+mn-ea"/>
                <a:cs typeface="Poppins Light" panose="02000000000000000000"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Poppins Light" panose="02000000000000000000" charset="0"/>
                <a:ea typeface="+mn-ea"/>
                <a:cs typeface="Poppins Light" panose="02000000000000000000"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Poppins Light" panose="02000000000000000000" charset="0"/>
                <a:ea typeface="+mn-ea"/>
                <a:cs typeface="Poppins Light"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Single-tier Architecture</a:t>
            </a:r>
          </a:p>
        </p:txBody>
      </p:sp>
      <p:sp>
        <p:nvSpPr>
          <p:cNvPr id="49" name="number1"/>
          <p:cNvSpPr txBox="1">
            <a:spLocks/>
          </p:cNvSpPr>
          <p:nvPr/>
        </p:nvSpPr>
        <p:spPr>
          <a:xfrm>
            <a:off x="1021950" y="3703430"/>
            <a:ext cx="3927118" cy="615315"/>
          </a:xfrm>
          <a:prstGeom prst="rect">
            <a:avLst/>
          </a:prstGeom>
        </p:spPr>
        <p:txBody>
          <a:bodyPr/>
          <a:lstStyle>
            <a:lvl1pPr marL="0" indent="0" algn="ctr" defTabSz="914400" rtl="0" eaLnBrk="1" latinLnBrk="0" hangingPunct="1">
              <a:lnSpc>
                <a:spcPct val="100000"/>
              </a:lnSpc>
              <a:spcBef>
                <a:spcPts val="1000"/>
              </a:spcBef>
              <a:buFont typeface="Arial" panose="020B0604020202020204" pitchFamily="34" charset="0"/>
              <a:buNone/>
              <a:defRPr sz="2800" b="1" kern="1200">
                <a:solidFill>
                  <a:schemeClr val="tx1"/>
                </a:solidFill>
                <a:latin typeface="Poppins Light" panose="02000000000000000000" charset="0"/>
                <a:ea typeface="+mn-ea"/>
                <a:cs typeface="Poppins Light" panose="02000000000000000000" charset="0"/>
              </a:defRPr>
            </a:lvl1pPr>
            <a:lvl2pPr marL="457200" indent="0" algn="ctr" defTabSz="914400" rtl="0" eaLnBrk="1" latinLnBrk="0" hangingPunct="1">
              <a:lnSpc>
                <a:spcPct val="100000"/>
              </a:lnSpc>
              <a:spcBef>
                <a:spcPts val="500"/>
              </a:spcBef>
              <a:buFont typeface="Arial" panose="020B0604020202020204" pitchFamily="34" charset="0"/>
              <a:buNone/>
              <a:defRPr sz="2200" kern="1200">
                <a:solidFill>
                  <a:schemeClr val="tx1"/>
                </a:solidFill>
                <a:latin typeface="Poppins Light" panose="02000000000000000000" charset="0"/>
                <a:ea typeface="+mn-ea"/>
                <a:cs typeface="Poppins Light" panose="02000000000000000000" charset="0"/>
              </a:defRPr>
            </a:lvl2pPr>
            <a:lvl3pPr marL="914400" indent="0" algn="l" defTabSz="914400" rtl="0" eaLnBrk="1" latinLnBrk="0" hangingPunct="1">
              <a:lnSpc>
                <a:spcPct val="100000"/>
              </a:lnSpc>
              <a:spcBef>
                <a:spcPts val="500"/>
              </a:spcBef>
              <a:buFont typeface="Arial" panose="020B0604020202020204" pitchFamily="34" charset="0"/>
              <a:buNone/>
              <a:defRPr sz="2200" kern="1200">
                <a:solidFill>
                  <a:schemeClr val="tx1"/>
                </a:solidFill>
                <a:latin typeface="Poppins Light" panose="02000000000000000000" charset="0"/>
                <a:ea typeface="+mn-ea"/>
                <a:cs typeface="Poppins Light" panose="02000000000000000000"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Poppins Light" panose="02000000000000000000" charset="0"/>
                <a:ea typeface="+mn-ea"/>
                <a:cs typeface="Poppins Light" panose="02000000000000000000"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Poppins Light" panose="02000000000000000000" charset="0"/>
                <a:ea typeface="+mn-ea"/>
                <a:cs typeface="Poppins Light"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Three-tier Architecture</a:t>
            </a:r>
          </a:p>
        </p:txBody>
      </p:sp>
      <p:sp>
        <p:nvSpPr>
          <p:cNvPr id="50" name="number1"/>
          <p:cNvSpPr txBox="1">
            <a:spLocks/>
          </p:cNvSpPr>
          <p:nvPr/>
        </p:nvSpPr>
        <p:spPr>
          <a:xfrm>
            <a:off x="7426681" y="2210627"/>
            <a:ext cx="3927118" cy="615315"/>
          </a:xfrm>
          <a:prstGeom prst="rect">
            <a:avLst/>
          </a:prstGeom>
        </p:spPr>
        <p:txBody>
          <a:bodyPr/>
          <a:lstStyle>
            <a:lvl1pPr marL="0" indent="0" algn="ctr" defTabSz="914400" rtl="0" eaLnBrk="1" latinLnBrk="0" hangingPunct="1">
              <a:lnSpc>
                <a:spcPct val="100000"/>
              </a:lnSpc>
              <a:spcBef>
                <a:spcPts val="1000"/>
              </a:spcBef>
              <a:buFont typeface="Arial" panose="020B0604020202020204" pitchFamily="34" charset="0"/>
              <a:buNone/>
              <a:defRPr sz="2800" b="1" kern="1200">
                <a:solidFill>
                  <a:schemeClr val="tx1"/>
                </a:solidFill>
                <a:latin typeface="Poppins Light" panose="02000000000000000000" charset="0"/>
                <a:ea typeface="+mn-ea"/>
                <a:cs typeface="Poppins Light" panose="02000000000000000000" charset="0"/>
              </a:defRPr>
            </a:lvl1pPr>
            <a:lvl2pPr marL="457200" indent="0" algn="ctr" defTabSz="914400" rtl="0" eaLnBrk="1" latinLnBrk="0" hangingPunct="1">
              <a:lnSpc>
                <a:spcPct val="100000"/>
              </a:lnSpc>
              <a:spcBef>
                <a:spcPts val="500"/>
              </a:spcBef>
              <a:buFont typeface="Arial" panose="020B0604020202020204" pitchFamily="34" charset="0"/>
              <a:buNone/>
              <a:defRPr sz="2200" kern="1200">
                <a:solidFill>
                  <a:schemeClr val="tx1"/>
                </a:solidFill>
                <a:latin typeface="Poppins Light" panose="02000000000000000000" charset="0"/>
                <a:ea typeface="+mn-ea"/>
                <a:cs typeface="Poppins Light" panose="02000000000000000000" charset="0"/>
              </a:defRPr>
            </a:lvl2pPr>
            <a:lvl3pPr marL="914400" indent="0" algn="l" defTabSz="914400" rtl="0" eaLnBrk="1" latinLnBrk="0" hangingPunct="1">
              <a:lnSpc>
                <a:spcPct val="100000"/>
              </a:lnSpc>
              <a:spcBef>
                <a:spcPts val="500"/>
              </a:spcBef>
              <a:buFont typeface="Arial" panose="020B0604020202020204" pitchFamily="34" charset="0"/>
              <a:buNone/>
              <a:defRPr sz="2200" kern="1200">
                <a:solidFill>
                  <a:schemeClr val="tx1"/>
                </a:solidFill>
                <a:latin typeface="Poppins Light" panose="02000000000000000000" charset="0"/>
                <a:ea typeface="+mn-ea"/>
                <a:cs typeface="Poppins Light" panose="02000000000000000000"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Poppins Light" panose="02000000000000000000" charset="0"/>
                <a:ea typeface="+mn-ea"/>
                <a:cs typeface="Poppins Light" panose="02000000000000000000"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Poppins Light" panose="02000000000000000000" charset="0"/>
                <a:ea typeface="+mn-ea"/>
                <a:cs typeface="Poppins Light"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Two-tier Architecture</a:t>
            </a:r>
          </a:p>
        </p:txBody>
      </p:sp>
      <p:sp>
        <p:nvSpPr>
          <p:cNvPr id="51" name="number1"/>
          <p:cNvSpPr txBox="1">
            <a:spLocks/>
          </p:cNvSpPr>
          <p:nvPr/>
        </p:nvSpPr>
        <p:spPr>
          <a:xfrm>
            <a:off x="8003531" y="3501785"/>
            <a:ext cx="3927118" cy="615315"/>
          </a:xfrm>
          <a:prstGeom prst="rect">
            <a:avLst/>
          </a:prstGeom>
        </p:spPr>
        <p:txBody>
          <a:bodyPr/>
          <a:lstStyle>
            <a:lvl1pPr marL="0" indent="0" algn="ctr" defTabSz="914400" rtl="0" eaLnBrk="1" latinLnBrk="0" hangingPunct="1">
              <a:lnSpc>
                <a:spcPct val="100000"/>
              </a:lnSpc>
              <a:spcBef>
                <a:spcPts val="1000"/>
              </a:spcBef>
              <a:buFont typeface="Arial" panose="020B0604020202020204" pitchFamily="34" charset="0"/>
              <a:buNone/>
              <a:defRPr sz="2800" b="1" kern="1200">
                <a:solidFill>
                  <a:schemeClr val="tx1"/>
                </a:solidFill>
                <a:latin typeface="Poppins Light" panose="02000000000000000000" charset="0"/>
                <a:ea typeface="+mn-ea"/>
                <a:cs typeface="Poppins Light" panose="02000000000000000000" charset="0"/>
              </a:defRPr>
            </a:lvl1pPr>
            <a:lvl2pPr marL="457200" indent="0" algn="ctr" defTabSz="914400" rtl="0" eaLnBrk="1" latinLnBrk="0" hangingPunct="1">
              <a:lnSpc>
                <a:spcPct val="100000"/>
              </a:lnSpc>
              <a:spcBef>
                <a:spcPts val="500"/>
              </a:spcBef>
              <a:buFont typeface="Arial" panose="020B0604020202020204" pitchFamily="34" charset="0"/>
              <a:buNone/>
              <a:defRPr sz="2200" kern="1200">
                <a:solidFill>
                  <a:schemeClr val="tx1"/>
                </a:solidFill>
                <a:latin typeface="Poppins Light" panose="02000000000000000000" charset="0"/>
                <a:ea typeface="+mn-ea"/>
                <a:cs typeface="Poppins Light" panose="02000000000000000000" charset="0"/>
              </a:defRPr>
            </a:lvl2pPr>
            <a:lvl3pPr marL="914400" indent="0" algn="l" defTabSz="914400" rtl="0" eaLnBrk="1" latinLnBrk="0" hangingPunct="1">
              <a:lnSpc>
                <a:spcPct val="100000"/>
              </a:lnSpc>
              <a:spcBef>
                <a:spcPts val="500"/>
              </a:spcBef>
              <a:buFont typeface="Arial" panose="020B0604020202020204" pitchFamily="34" charset="0"/>
              <a:buNone/>
              <a:defRPr sz="2200" kern="1200">
                <a:solidFill>
                  <a:schemeClr val="tx1"/>
                </a:solidFill>
                <a:latin typeface="Poppins Light" panose="02000000000000000000" charset="0"/>
                <a:ea typeface="+mn-ea"/>
                <a:cs typeface="Poppins Light" panose="02000000000000000000"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Poppins Light" panose="02000000000000000000" charset="0"/>
                <a:ea typeface="+mn-ea"/>
                <a:cs typeface="Poppins Light" panose="02000000000000000000"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Poppins Light" panose="02000000000000000000" charset="0"/>
                <a:ea typeface="+mn-ea"/>
                <a:cs typeface="Poppins Light"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1800" dirty="0"/>
              <a:t>Integrated Business Intelligence  Architecture</a:t>
            </a:r>
          </a:p>
        </p:txBody>
      </p:sp>
    </p:spTree>
    <p:extLst>
      <p:ext uri="{BB962C8B-B14F-4D97-AF65-F5344CB8AC3E}">
        <p14:creationId xmlns:p14="http://schemas.microsoft.com/office/powerpoint/2010/main" val="39871633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67188" y="227366"/>
            <a:ext cx="1373223" cy="553831"/>
          </a:xfrm>
          <a:prstGeom prst="rect">
            <a:avLst/>
          </a:prstGeom>
        </p:spPr>
      </p:pic>
      <p:pic>
        <p:nvPicPr>
          <p:cNvPr id="16" name="Picture 15"/>
          <p:cNvPicPr>
            <a:picLocks noChangeAspect="1"/>
          </p:cNvPicPr>
          <p:nvPr/>
        </p:nvPicPr>
        <p:blipFill>
          <a:blip r:embed="rId4" cstate="print">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78656" y="230188"/>
            <a:ext cx="659544" cy="656613"/>
          </a:xfrm>
          <a:prstGeom prst="rect">
            <a:avLst/>
          </a:prstGeom>
        </p:spPr>
      </p:pic>
      <p:pic>
        <p:nvPicPr>
          <p:cNvPr id="17" name="Picture 1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38200" y="335791"/>
            <a:ext cx="424104" cy="445406"/>
          </a:xfrm>
          <a:prstGeom prst="rect">
            <a:avLst/>
          </a:prstGeom>
        </p:spPr>
      </p:pic>
      <p:sp>
        <p:nvSpPr>
          <p:cNvPr id="18" name="Rectangle 17"/>
          <p:cNvSpPr/>
          <p:nvPr/>
        </p:nvSpPr>
        <p:spPr>
          <a:xfrm>
            <a:off x="0" y="6267450"/>
            <a:ext cx="12192000" cy="59055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0" y="6161846"/>
            <a:ext cx="12192000" cy="59055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4119849" y="558494"/>
            <a:ext cx="3689793" cy="523220"/>
          </a:xfrm>
          <a:prstGeom prst="rect">
            <a:avLst/>
          </a:prstGeom>
        </p:spPr>
        <p:txBody>
          <a:bodyPr wrap="none">
            <a:spAutoFit/>
          </a:bodyPr>
          <a:lstStyle/>
          <a:p>
            <a:r>
              <a:rPr lang="en-US" sz="2800" b="1" dirty="0">
                <a:solidFill>
                  <a:srgbClr val="002060"/>
                </a:solidFill>
              </a:rPr>
              <a:t>Single-Tier Architecture</a:t>
            </a:r>
          </a:p>
        </p:txBody>
      </p:sp>
      <p:sp>
        <p:nvSpPr>
          <p:cNvPr id="23" name="Rectangle 22"/>
          <p:cNvSpPr/>
          <p:nvPr/>
        </p:nvSpPr>
        <p:spPr>
          <a:xfrm>
            <a:off x="0" y="6317852"/>
            <a:ext cx="4971233" cy="369332"/>
          </a:xfrm>
          <a:prstGeom prst="rect">
            <a:avLst/>
          </a:prstGeom>
        </p:spPr>
        <p:txBody>
          <a:bodyPr wrap="none">
            <a:spAutoFit/>
          </a:bodyPr>
          <a:lstStyle/>
          <a:p>
            <a:r>
              <a:rPr lang="en-US" b="1" dirty="0">
                <a:solidFill>
                  <a:schemeClr val="bg1"/>
                </a:solidFill>
              </a:rPr>
              <a:t>FAST: FOCUS, ADAPTIVE, SINCERE, TRUSTWORTHY</a:t>
            </a:r>
          </a:p>
        </p:txBody>
      </p:sp>
      <p:sp>
        <p:nvSpPr>
          <p:cNvPr id="24" name="Rectangle 23"/>
          <p:cNvSpPr/>
          <p:nvPr/>
        </p:nvSpPr>
        <p:spPr>
          <a:xfrm>
            <a:off x="10092442" y="6300421"/>
            <a:ext cx="1947969" cy="400110"/>
          </a:xfrm>
          <a:prstGeom prst="rect">
            <a:avLst/>
          </a:prstGeom>
        </p:spPr>
        <p:txBody>
          <a:bodyPr wrap="none">
            <a:spAutoFit/>
          </a:bodyPr>
          <a:lstStyle/>
          <a:p>
            <a:pPr algn="r"/>
            <a:r>
              <a:rPr lang="en-US" sz="1000" dirty="0">
                <a:solidFill>
                  <a:schemeClr val="bg1"/>
                </a:solidFill>
              </a:rPr>
              <a:t>JURUSAN TEKNOLOGI INFORMASI</a:t>
            </a:r>
          </a:p>
          <a:p>
            <a:pPr algn="r"/>
            <a:r>
              <a:rPr lang="en-US" sz="1000" b="1" dirty="0">
                <a:solidFill>
                  <a:schemeClr val="bg1"/>
                </a:solidFill>
              </a:rPr>
              <a:t>POLITEKNIK NEGERI MALANG</a:t>
            </a:r>
          </a:p>
        </p:txBody>
      </p:sp>
      <p:sp>
        <p:nvSpPr>
          <p:cNvPr id="11" name="Rectangle 3"/>
          <p:cNvSpPr>
            <a:spLocks noChangeArrowheads="1"/>
          </p:cNvSpPr>
          <p:nvPr/>
        </p:nvSpPr>
        <p:spPr bwMode="auto">
          <a:xfrm>
            <a:off x="1050252" y="1132116"/>
            <a:ext cx="6296614"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dirty="0"/>
              <a:t>This model involves data storage, ETL processes, and analytical tools in a single </a:t>
            </a:r>
            <a:r>
              <a:rPr lang="en-US" altLang="en-US" sz="2000" dirty="0" err="1"/>
              <a:t>system.Suitable</a:t>
            </a:r>
            <a:r>
              <a:rPr lang="en-US" altLang="en-US" sz="2000" dirty="0"/>
              <a:t> for small organizations with simple needs and not too large volumes of data. The main advantages are simplicity and low </a:t>
            </a:r>
            <a:r>
              <a:rPr lang="en-US" altLang="en-US" sz="2000" dirty="0" err="1"/>
              <a:t>cost.The</a:t>
            </a:r>
            <a:r>
              <a:rPr lang="en-US" altLang="en-US" sz="2000" dirty="0"/>
              <a:t> disadvantages are the lack of scalability and limitations in managing very large or complex data</a:t>
            </a:r>
            <a:endParaRPr kumimoji="0" lang="en-US" altLang="en-US" sz="2000" b="0" i="0" u="none" strike="noStrike" cap="none" normalizeH="0" baseline="0" dirty="0">
              <a:ln>
                <a:noFill/>
              </a:ln>
              <a:solidFill>
                <a:schemeClr val="tx1"/>
              </a:solidFill>
              <a:effectLst/>
            </a:endParaRPr>
          </a:p>
        </p:txBody>
      </p:sp>
      <p:sp>
        <p:nvSpPr>
          <p:cNvPr id="4" name="TextBox 3">
            <a:extLst>
              <a:ext uri="{FF2B5EF4-FFF2-40B4-BE49-F238E27FC236}">
                <a16:creationId xmlns:a16="http://schemas.microsoft.com/office/drawing/2014/main" id="{F8133CD1-B7A5-A988-6AA3-1824B499C353}"/>
              </a:ext>
            </a:extLst>
          </p:cNvPr>
          <p:cNvSpPr txBox="1"/>
          <p:nvPr/>
        </p:nvSpPr>
        <p:spPr>
          <a:xfrm>
            <a:off x="1050252" y="3528744"/>
            <a:ext cx="6145025" cy="1631216"/>
          </a:xfrm>
          <a:prstGeom prst="rect">
            <a:avLst/>
          </a:prstGeom>
          <a:noFill/>
        </p:spPr>
        <p:txBody>
          <a:bodyPr wrap="square">
            <a:spAutoFit/>
          </a:bodyPr>
          <a:lstStyle/>
          <a:p>
            <a:r>
              <a:rPr lang="en-US" sz="2000" dirty="0"/>
              <a:t>Additionally, in a single-tier architecture, analytical processing (e.g. Generating a report) and transactional processing (e.g. recording purchases made by a customer) </a:t>
            </a:r>
            <a:r>
              <a:rPr lang="en-US" sz="2000" dirty="0">
                <a:highlight>
                  <a:srgbClr val="FFFF00"/>
                </a:highlight>
              </a:rPr>
              <a:t>happen together in the same system, which causes performance issues.  </a:t>
            </a:r>
            <a:endParaRPr lang="en-ID" sz="2000" dirty="0">
              <a:highlight>
                <a:srgbClr val="FFFF00"/>
              </a:highlight>
            </a:endParaRPr>
          </a:p>
        </p:txBody>
      </p:sp>
      <p:pic>
        <p:nvPicPr>
          <p:cNvPr id="6" name="Picture 5">
            <a:extLst>
              <a:ext uri="{FF2B5EF4-FFF2-40B4-BE49-F238E27FC236}">
                <a16:creationId xmlns:a16="http://schemas.microsoft.com/office/drawing/2014/main" id="{906E340F-EEBF-BE0A-A1E5-8483381930BC}"/>
              </a:ext>
            </a:extLst>
          </p:cNvPr>
          <p:cNvPicPr>
            <a:picLocks noChangeAspect="1"/>
          </p:cNvPicPr>
          <p:nvPr/>
        </p:nvPicPr>
        <p:blipFill>
          <a:blip r:embed="rId7"/>
          <a:stretch>
            <a:fillRect/>
          </a:stretch>
        </p:blipFill>
        <p:spPr>
          <a:xfrm>
            <a:off x="7346866" y="1125881"/>
            <a:ext cx="4315427" cy="4991797"/>
          </a:xfrm>
          <a:prstGeom prst="rect">
            <a:avLst/>
          </a:prstGeom>
        </p:spPr>
      </p:pic>
    </p:spTree>
    <p:extLst>
      <p:ext uri="{BB962C8B-B14F-4D97-AF65-F5344CB8AC3E}">
        <p14:creationId xmlns:p14="http://schemas.microsoft.com/office/powerpoint/2010/main" val="2389891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67188" y="227366"/>
            <a:ext cx="1373223" cy="553831"/>
          </a:xfrm>
          <a:prstGeom prst="rect">
            <a:avLst/>
          </a:prstGeom>
        </p:spPr>
      </p:pic>
      <p:pic>
        <p:nvPicPr>
          <p:cNvPr id="16" name="Picture 15"/>
          <p:cNvPicPr>
            <a:picLocks noChangeAspect="1"/>
          </p:cNvPicPr>
          <p:nvPr/>
        </p:nvPicPr>
        <p:blipFill>
          <a:blip r:embed="rId4" cstate="print">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78656" y="230188"/>
            <a:ext cx="659544" cy="656613"/>
          </a:xfrm>
          <a:prstGeom prst="rect">
            <a:avLst/>
          </a:prstGeom>
        </p:spPr>
      </p:pic>
      <p:pic>
        <p:nvPicPr>
          <p:cNvPr id="17" name="Picture 1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38200" y="335791"/>
            <a:ext cx="424104" cy="445406"/>
          </a:xfrm>
          <a:prstGeom prst="rect">
            <a:avLst/>
          </a:prstGeom>
        </p:spPr>
      </p:pic>
      <p:sp>
        <p:nvSpPr>
          <p:cNvPr id="18" name="Rectangle 17"/>
          <p:cNvSpPr/>
          <p:nvPr/>
        </p:nvSpPr>
        <p:spPr>
          <a:xfrm>
            <a:off x="0" y="6267450"/>
            <a:ext cx="12192000" cy="59055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0" y="6161846"/>
            <a:ext cx="12192000" cy="59055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2761986" y="420220"/>
            <a:ext cx="3424655" cy="523220"/>
          </a:xfrm>
          <a:prstGeom prst="rect">
            <a:avLst/>
          </a:prstGeom>
        </p:spPr>
        <p:txBody>
          <a:bodyPr wrap="none">
            <a:spAutoFit/>
          </a:bodyPr>
          <a:lstStyle/>
          <a:p>
            <a:r>
              <a:rPr lang="en-US" sz="2800" b="1" dirty="0">
                <a:solidFill>
                  <a:srgbClr val="002060"/>
                </a:solidFill>
              </a:rPr>
              <a:t>Two-Tier Architecture</a:t>
            </a:r>
          </a:p>
        </p:txBody>
      </p:sp>
      <p:sp>
        <p:nvSpPr>
          <p:cNvPr id="23" name="Rectangle 22"/>
          <p:cNvSpPr/>
          <p:nvPr/>
        </p:nvSpPr>
        <p:spPr>
          <a:xfrm>
            <a:off x="0" y="6317852"/>
            <a:ext cx="4971233" cy="369332"/>
          </a:xfrm>
          <a:prstGeom prst="rect">
            <a:avLst/>
          </a:prstGeom>
        </p:spPr>
        <p:txBody>
          <a:bodyPr wrap="none">
            <a:spAutoFit/>
          </a:bodyPr>
          <a:lstStyle/>
          <a:p>
            <a:r>
              <a:rPr lang="en-US" b="1" dirty="0">
                <a:solidFill>
                  <a:schemeClr val="bg1"/>
                </a:solidFill>
              </a:rPr>
              <a:t>FAST: FOCUS, ADAPTIVE, SINCERE, TRUSTWORTHY</a:t>
            </a:r>
          </a:p>
        </p:txBody>
      </p:sp>
      <p:sp>
        <p:nvSpPr>
          <p:cNvPr id="24" name="Rectangle 23"/>
          <p:cNvSpPr/>
          <p:nvPr/>
        </p:nvSpPr>
        <p:spPr>
          <a:xfrm>
            <a:off x="10092442" y="6300421"/>
            <a:ext cx="1947969" cy="400110"/>
          </a:xfrm>
          <a:prstGeom prst="rect">
            <a:avLst/>
          </a:prstGeom>
        </p:spPr>
        <p:txBody>
          <a:bodyPr wrap="none">
            <a:spAutoFit/>
          </a:bodyPr>
          <a:lstStyle/>
          <a:p>
            <a:pPr algn="r"/>
            <a:r>
              <a:rPr lang="en-US" sz="1000" dirty="0">
                <a:solidFill>
                  <a:schemeClr val="bg1"/>
                </a:solidFill>
              </a:rPr>
              <a:t>JURUSAN TEKNOLOGI INFORMASI</a:t>
            </a:r>
          </a:p>
          <a:p>
            <a:pPr algn="r"/>
            <a:r>
              <a:rPr lang="en-US" sz="1000" b="1" dirty="0">
                <a:solidFill>
                  <a:schemeClr val="bg1"/>
                </a:solidFill>
              </a:rPr>
              <a:t>POLITEKNIK NEGERI MALANG</a:t>
            </a:r>
          </a:p>
        </p:txBody>
      </p:sp>
      <p:sp>
        <p:nvSpPr>
          <p:cNvPr id="10" name="TextBox 9"/>
          <p:cNvSpPr txBox="1"/>
          <p:nvPr/>
        </p:nvSpPr>
        <p:spPr>
          <a:xfrm>
            <a:off x="972550" y="1081714"/>
            <a:ext cx="5353356" cy="3785652"/>
          </a:xfrm>
          <a:prstGeom prst="rect">
            <a:avLst/>
          </a:prstGeom>
          <a:noFill/>
        </p:spPr>
        <p:txBody>
          <a:bodyPr wrap="square" rtlCol="0">
            <a:spAutoFit/>
          </a:bodyPr>
          <a:lstStyle/>
          <a:p>
            <a:pPr marL="342900" indent="-342900">
              <a:buFont typeface="Arial" panose="020B0604020202020204" pitchFamily="34" charset="0"/>
              <a:buChar char="•"/>
            </a:pPr>
            <a:r>
              <a:rPr lang="en-US" sz="2000" dirty="0"/>
              <a:t>This model separates between data storage (data warehouse) and analysis tools (e.g., OLAP servers).
The data is retrieved and loaded from external sources into the data warehouse through the ETL process, and then analyzed using separate analysis tools.
Suitable for organizations with larger data volumes and complex analysis needs.
Its advantages include separation between storage and analytics, as well as the ability to improve performance and scalability.</a:t>
            </a:r>
          </a:p>
        </p:txBody>
      </p:sp>
      <p:sp>
        <p:nvSpPr>
          <p:cNvPr id="4" name="TextBox 3">
            <a:extLst>
              <a:ext uri="{FF2B5EF4-FFF2-40B4-BE49-F238E27FC236}">
                <a16:creationId xmlns:a16="http://schemas.microsoft.com/office/drawing/2014/main" id="{B6B704FA-9772-CA30-5A2E-433C397D72D7}"/>
              </a:ext>
            </a:extLst>
          </p:cNvPr>
          <p:cNvSpPr txBox="1"/>
          <p:nvPr/>
        </p:nvSpPr>
        <p:spPr>
          <a:xfrm>
            <a:off x="972550" y="4790421"/>
            <a:ext cx="6115986" cy="1323439"/>
          </a:xfrm>
          <a:prstGeom prst="rect">
            <a:avLst/>
          </a:prstGeom>
          <a:noFill/>
        </p:spPr>
        <p:txBody>
          <a:bodyPr wrap="square">
            <a:spAutoFit/>
          </a:bodyPr>
          <a:lstStyle/>
          <a:p>
            <a:r>
              <a:rPr lang="en-US" sz="2000" dirty="0"/>
              <a:t>While this data warehouse architecture provides more value than a single-tier architecture, it comes with scalability issues, making it unsuitable for large businesses. </a:t>
            </a:r>
            <a:endParaRPr lang="en-ID" sz="2000" dirty="0"/>
          </a:p>
        </p:txBody>
      </p:sp>
      <p:pic>
        <p:nvPicPr>
          <p:cNvPr id="6" name="Picture 5">
            <a:extLst>
              <a:ext uri="{FF2B5EF4-FFF2-40B4-BE49-F238E27FC236}">
                <a16:creationId xmlns:a16="http://schemas.microsoft.com/office/drawing/2014/main" id="{6F7442B6-EE62-7E17-E399-F2AE800B2930}"/>
              </a:ext>
            </a:extLst>
          </p:cNvPr>
          <p:cNvPicPr>
            <a:picLocks noChangeAspect="1"/>
          </p:cNvPicPr>
          <p:nvPr/>
        </p:nvPicPr>
        <p:blipFill>
          <a:blip r:embed="rId7"/>
          <a:stretch>
            <a:fillRect/>
          </a:stretch>
        </p:blipFill>
        <p:spPr>
          <a:xfrm>
            <a:off x="6731270" y="420220"/>
            <a:ext cx="4982270" cy="5677692"/>
          </a:xfrm>
          <a:prstGeom prst="rect">
            <a:avLst/>
          </a:prstGeom>
        </p:spPr>
      </p:pic>
    </p:spTree>
    <p:extLst>
      <p:ext uri="{BB962C8B-B14F-4D97-AF65-F5344CB8AC3E}">
        <p14:creationId xmlns:p14="http://schemas.microsoft.com/office/powerpoint/2010/main" val="13900448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67188" y="227366"/>
            <a:ext cx="1373223" cy="553831"/>
          </a:xfrm>
          <a:prstGeom prst="rect">
            <a:avLst/>
          </a:prstGeom>
        </p:spPr>
      </p:pic>
      <p:pic>
        <p:nvPicPr>
          <p:cNvPr id="16" name="Picture 15"/>
          <p:cNvPicPr>
            <a:picLocks noChangeAspect="1"/>
          </p:cNvPicPr>
          <p:nvPr/>
        </p:nvPicPr>
        <p:blipFill>
          <a:blip r:embed="rId3" cstate="print">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78656" y="230188"/>
            <a:ext cx="659544" cy="656613"/>
          </a:xfrm>
          <a:prstGeom prst="rect">
            <a:avLst/>
          </a:prstGeom>
        </p:spPr>
      </p:pic>
      <p:pic>
        <p:nvPicPr>
          <p:cNvPr id="17" name="Picture 1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38200" y="335791"/>
            <a:ext cx="424104" cy="445406"/>
          </a:xfrm>
          <a:prstGeom prst="rect">
            <a:avLst/>
          </a:prstGeom>
        </p:spPr>
      </p:pic>
      <p:sp>
        <p:nvSpPr>
          <p:cNvPr id="18" name="Rectangle 17"/>
          <p:cNvSpPr/>
          <p:nvPr/>
        </p:nvSpPr>
        <p:spPr>
          <a:xfrm>
            <a:off x="0" y="6267450"/>
            <a:ext cx="12192000" cy="59055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0" y="6161846"/>
            <a:ext cx="12192000" cy="59055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2623980" y="483906"/>
            <a:ext cx="3656899" cy="523220"/>
          </a:xfrm>
          <a:prstGeom prst="rect">
            <a:avLst/>
          </a:prstGeom>
        </p:spPr>
        <p:txBody>
          <a:bodyPr wrap="none">
            <a:spAutoFit/>
          </a:bodyPr>
          <a:lstStyle/>
          <a:p>
            <a:r>
              <a:rPr lang="en-US" sz="2800" b="1" dirty="0">
                <a:solidFill>
                  <a:srgbClr val="002060"/>
                </a:solidFill>
              </a:rPr>
              <a:t>Three-Tier Architecture</a:t>
            </a:r>
          </a:p>
        </p:txBody>
      </p:sp>
      <p:sp>
        <p:nvSpPr>
          <p:cNvPr id="23" name="Rectangle 22"/>
          <p:cNvSpPr/>
          <p:nvPr/>
        </p:nvSpPr>
        <p:spPr>
          <a:xfrm>
            <a:off x="0" y="6317852"/>
            <a:ext cx="4971233" cy="369332"/>
          </a:xfrm>
          <a:prstGeom prst="rect">
            <a:avLst/>
          </a:prstGeom>
        </p:spPr>
        <p:txBody>
          <a:bodyPr wrap="none">
            <a:spAutoFit/>
          </a:bodyPr>
          <a:lstStyle/>
          <a:p>
            <a:r>
              <a:rPr lang="en-US" b="1" dirty="0">
                <a:solidFill>
                  <a:schemeClr val="bg1"/>
                </a:solidFill>
              </a:rPr>
              <a:t>FAST: FOCUS, ADAPTIVE, SINCERE, TRUSTWORTHY</a:t>
            </a:r>
          </a:p>
        </p:txBody>
      </p:sp>
      <p:sp>
        <p:nvSpPr>
          <p:cNvPr id="24" name="Rectangle 23"/>
          <p:cNvSpPr/>
          <p:nvPr/>
        </p:nvSpPr>
        <p:spPr>
          <a:xfrm>
            <a:off x="10092442" y="6300421"/>
            <a:ext cx="1947969" cy="400110"/>
          </a:xfrm>
          <a:prstGeom prst="rect">
            <a:avLst/>
          </a:prstGeom>
        </p:spPr>
        <p:txBody>
          <a:bodyPr wrap="none">
            <a:spAutoFit/>
          </a:bodyPr>
          <a:lstStyle/>
          <a:p>
            <a:pPr algn="r"/>
            <a:r>
              <a:rPr lang="en-US" sz="1000" dirty="0">
                <a:solidFill>
                  <a:schemeClr val="bg1"/>
                </a:solidFill>
              </a:rPr>
              <a:t>JURUSAN TEKNOLOGI INFORMASI</a:t>
            </a:r>
          </a:p>
          <a:p>
            <a:pPr algn="r"/>
            <a:r>
              <a:rPr lang="en-US" sz="1000" b="1" dirty="0">
                <a:solidFill>
                  <a:schemeClr val="bg1"/>
                </a:solidFill>
              </a:rPr>
              <a:t>POLITEKNIK NEGERI MALANG</a:t>
            </a:r>
          </a:p>
        </p:txBody>
      </p:sp>
      <p:sp>
        <p:nvSpPr>
          <p:cNvPr id="3" name="Rectangle 1"/>
          <p:cNvSpPr>
            <a:spLocks noChangeArrowheads="1"/>
          </p:cNvSpPr>
          <p:nvPr/>
        </p:nvSpPr>
        <p:spPr bwMode="auto">
          <a:xfrm>
            <a:off x="832277" y="1648003"/>
            <a:ext cx="5448602"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dirty="0"/>
              <a:t>This model divides the architecture into three layers: the data source layer, the data storage layer (data warehouse), and the presentation layer (analysis and reporting tools).
The ETL process is done between the data source layer and the data storage layer, while analysis and reporting are done at the presentation layer.
Suitable for organizations with complex needs and large scale, which require flexibility and scalability.
The advantages include separation of duties, scalability, and flexibility in data management and analysis</a:t>
            </a:r>
            <a:endParaRPr kumimoji="0" lang="en-US" altLang="en-US" sz="2000" b="0" i="0" u="none" strike="noStrike" cap="none" normalizeH="0" baseline="0" dirty="0">
              <a:ln>
                <a:noFill/>
              </a:ln>
              <a:solidFill>
                <a:schemeClr val="tx1"/>
              </a:solidFill>
              <a:effectLst/>
            </a:endParaRPr>
          </a:p>
        </p:txBody>
      </p:sp>
      <p:pic>
        <p:nvPicPr>
          <p:cNvPr id="5" name="Picture 4">
            <a:extLst>
              <a:ext uri="{FF2B5EF4-FFF2-40B4-BE49-F238E27FC236}">
                <a16:creationId xmlns:a16="http://schemas.microsoft.com/office/drawing/2014/main" id="{4C0F8051-368A-A53E-93BF-BC5FB8103D18}"/>
              </a:ext>
            </a:extLst>
          </p:cNvPr>
          <p:cNvPicPr>
            <a:picLocks noChangeAspect="1"/>
          </p:cNvPicPr>
          <p:nvPr/>
        </p:nvPicPr>
        <p:blipFill>
          <a:blip r:embed="rId6"/>
          <a:stretch>
            <a:fillRect/>
          </a:stretch>
        </p:blipFill>
        <p:spPr>
          <a:xfrm>
            <a:off x="6844401" y="335791"/>
            <a:ext cx="4934639" cy="5649113"/>
          </a:xfrm>
          <a:prstGeom prst="rect">
            <a:avLst/>
          </a:prstGeom>
        </p:spPr>
      </p:pic>
    </p:spTree>
    <p:extLst>
      <p:ext uri="{BB962C8B-B14F-4D97-AF65-F5344CB8AC3E}">
        <p14:creationId xmlns:p14="http://schemas.microsoft.com/office/powerpoint/2010/main" val="18739369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67188" y="227366"/>
            <a:ext cx="1373223" cy="553831"/>
          </a:xfrm>
          <a:prstGeom prst="rect">
            <a:avLst/>
          </a:prstGeom>
        </p:spPr>
      </p:pic>
      <p:pic>
        <p:nvPicPr>
          <p:cNvPr id="16" name="Picture 15"/>
          <p:cNvPicPr>
            <a:picLocks noChangeAspect="1"/>
          </p:cNvPicPr>
          <p:nvPr/>
        </p:nvPicPr>
        <p:blipFill>
          <a:blip r:embed="rId4" cstate="print">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78656" y="230188"/>
            <a:ext cx="659544" cy="656613"/>
          </a:xfrm>
          <a:prstGeom prst="rect">
            <a:avLst/>
          </a:prstGeom>
        </p:spPr>
      </p:pic>
      <p:pic>
        <p:nvPicPr>
          <p:cNvPr id="17" name="Picture 1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38200" y="335791"/>
            <a:ext cx="424104" cy="445406"/>
          </a:xfrm>
          <a:prstGeom prst="rect">
            <a:avLst/>
          </a:prstGeom>
        </p:spPr>
      </p:pic>
      <p:sp>
        <p:nvSpPr>
          <p:cNvPr id="18" name="Rectangle 17"/>
          <p:cNvSpPr/>
          <p:nvPr/>
        </p:nvSpPr>
        <p:spPr>
          <a:xfrm>
            <a:off x="0" y="6267450"/>
            <a:ext cx="12192000" cy="59055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0" y="6161846"/>
            <a:ext cx="12192000" cy="59055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2639861" y="625191"/>
            <a:ext cx="6912277" cy="523220"/>
          </a:xfrm>
          <a:prstGeom prst="rect">
            <a:avLst/>
          </a:prstGeom>
        </p:spPr>
        <p:txBody>
          <a:bodyPr wrap="none">
            <a:spAutoFit/>
          </a:bodyPr>
          <a:lstStyle/>
          <a:p>
            <a:r>
              <a:rPr lang="en-US" sz="2800" b="1" dirty="0">
                <a:solidFill>
                  <a:srgbClr val="002060"/>
                </a:solidFill>
              </a:rPr>
              <a:t>Integrated Business Intelligence  Architecture</a:t>
            </a:r>
          </a:p>
        </p:txBody>
      </p:sp>
      <p:sp>
        <p:nvSpPr>
          <p:cNvPr id="23" name="Rectangle 22"/>
          <p:cNvSpPr/>
          <p:nvPr/>
        </p:nvSpPr>
        <p:spPr>
          <a:xfrm>
            <a:off x="0" y="6317852"/>
            <a:ext cx="4971233" cy="369332"/>
          </a:xfrm>
          <a:prstGeom prst="rect">
            <a:avLst/>
          </a:prstGeom>
        </p:spPr>
        <p:txBody>
          <a:bodyPr wrap="none">
            <a:spAutoFit/>
          </a:bodyPr>
          <a:lstStyle/>
          <a:p>
            <a:r>
              <a:rPr lang="en-US" b="1" dirty="0">
                <a:solidFill>
                  <a:schemeClr val="bg1"/>
                </a:solidFill>
              </a:rPr>
              <a:t>FAST: FOCUS, ADAPTIVE, SINCERE, TRUSTWORTHY</a:t>
            </a:r>
          </a:p>
        </p:txBody>
      </p:sp>
      <p:sp>
        <p:nvSpPr>
          <p:cNvPr id="24" name="Rectangle 23"/>
          <p:cNvSpPr/>
          <p:nvPr/>
        </p:nvSpPr>
        <p:spPr>
          <a:xfrm>
            <a:off x="10092442" y="6300421"/>
            <a:ext cx="1947969" cy="400110"/>
          </a:xfrm>
          <a:prstGeom prst="rect">
            <a:avLst/>
          </a:prstGeom>
        </p:spPr>
        <p:txBody>
          <a:bodyPr wrap="none">
            <a:spAutoFit/>
          </a:bodyPr>
          <a:lstStyle/>
          <a:p>
            <a:pPr algn="r"/>
            <a:r>
              <a:rPr lang="en-US" sz="1000" dirty="0">
                <a:solidFill>
                  <a:schemeClr val="bg1"/>
                </a:solidFill>
              </a:rPr>
              <a:t>JURUSAN TEKNOLOGI INFORMASI</a:t>
            </a:r>
          </a:p>
          <a:p>
            <a:pPr algn="r"/>
            <a:r>
              <a:rPr lang="en-US" sz="1000" b="1" dirty="0">
                <a:solidFill>
                  <a:schemeClr val="bg1"/>
                </a:solidFill>
              </a:rPr>
              <a:t>POLITEKNIK NEGERI MALANG</a:t>
            </a:r>
          </a:p>
        </p:txBody>
      </p:sp>
      <p:sp>
        <p:nvSpPr>
          <p:cNvPr id="3" name="TextBox 2"/>
          <p:cNvSpPr txBox="1"/>
          <p:nvPr/>
        </p:nvSpPr>
        <p:spPr>
          <a:xfrm>
            <a:off x="957503" y="1916191"/>
            <a:ext cx="5008582" cy="3785652"/>
          </a:xfrm>
          <a:prstGeom prst="rect">
            <a:avLst/>
          </a:prstGeom>
          <a:noFill/>
        </p:spPr>
        <p:txBody>
          <a:bodyPr wrap="square" rtlCol="0">
            <a:spAutoFit/>
          </a:bodyPr>
          <a:lstStyle/>
          <a:p>
            <a:pPr marL="342900" indent="-342900">
              <a:buFont typeface="Arial" panose="020B0604020202020204" pitchFamily="34" charset="0"/>
              <a:buChar char="•"/>
            </a:pPr>
            <a:r>
              <a:rPr lang="en-US" sz="2000" dirty="0"/>
              <a:t>This model integrates data warehouses with operational systems and other business applications.
Data is retrieved in real-time or near real-time from operational sources into a data warehouse, and then used for analysis and reporting.
Suitable for organizations that prioritize quick access and up-to-date information.
The advantage is the ability to generate business insights faster and be responsive to market changes.</a:t>
            </a:r>
          </a:p>
        </p:txBody>
      </p:sp>
      <p:pic>
        <p:nvPicPr>
          <p:cNvPr id="5" name="Picture 4">
            <a:extLst>
              <a:ext uri="{FF2B5EF4-FFF2-40B4-BE49-F238E27FC236}">
                <a16:creationId xmlns:a16="http://schemas.microsoft.com/office/drawing/2014/main" id="{EBFB1E5E-8C70-E60F-BBF2-5D4817EABE8D}"/>
              </a:ext>
            </a:extLst>
          </p:cNvPr>
          <p:cNvPicPr>
            <a:picLocks noChangeAspect="1"/>
          </p:cNvPicPr>
          <p:nvPr/>
        </p:nvPicPr>
        <p:blipFill>
          <a:blip r:embed="rId7"/>
          <a:stretch>
            <a:fillRect/>
          </a:stretch>
        </p:blipFill>
        <p:spPr>
          <a:xfrm>
            <a:off x="5966085" y="2146672"/>
            <a:ext cx="5706271" cy="3324689"/>
          </a:xfrm>
          <a:prstGeom prst="rect">
            <a:avLst/>
          </a:prstGeom>
        </p:spPr>
      </p:pic>
    </p:spTree>
    <p:extLst>
      <p:ext uri="{BB962C8B-B14F-4D97-AF65-F5344CB8AC3E}">
        <p14:creationId xmlns:p14="http://schemas.microsoft.com/office/powerpoint/2010/main" val="16410041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2000" cy="68580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body1"/>
          <p:cNvSpPr>
            <a:spLocks noGrp="1"/>
          </p:cNvSpPr>
          <p:nvPr>
            <p:ph sz="quarter" idx="4294967295"/>
          </p:nvPr>
        </p:nvSpPr>
        <p:spPr>
          <a:xfrm>
            <a:off x="335915" y="505460"/>
            <a:ext cx="11520170" cy="1350010"/>
          </a:xfrm>
          <a:prstGeom prst="rect">
            <a:avLst/>
          </a:prstGeom>
        </p:spPr>
        <p:txBody>
          <a:bodyPr lIns="0" tIns="0" anchor="b" anchorCtr="0"/>
          <a:lstStyle>
            <a:lvl1pPr marL="127000" indent="0" algn="ctr" eaLnBrk="1" fontAlgn="auto" latinLnBrk="0" hangingPunct="1">
              <a:lnSpc>
                <a:spcPct val="100000"/>
              </a:lnSpc>
              <a:spcBef>
                <a:spcPct val="0"/>
              </a:spcBef>
              <a:spcAft>
                <a:spcPts val="0"/>
              </a:spcAft>
              <a:buFont typeface="+mj-lt"/>
              <a:buNone/>
              <a:defRPr sz="2200" b="0">
                <a:solidFill>
                  <a:schemeClr val="bg1"/>
                </a:solidFill>
                <a:latin typeface="Poppins Regular" panose="02000000000000000000" charset="0"/>
                <a:cs typeface="Poppins Regular" panose="02000000000000000000" charset="0"/>
              </a:defRPr>
            </a:lvl1pPr>
            <a:lvl2pPr marL="584200" indent="0" algn="ctr" eaLnBrk="1" fontAlgn="auto" latinLnBrk="0" hangingPunct="1">
              <a:lnSpc>
                <a:spcPct val="100000"/>
              </a:lnSpc>
              <a:spcBef>
                <a:spcPct val="0"/>
              </a:spcBef>
              <a:spcAft>
                <a:spcPts val="0"/>
              </a:spcAft>
              <a:buFont typeface="+mj-lt"/>
              <a:buNone/>
              <a:defRPr sz="2200" b="0">
                <a:solidFill>
                  <a:schemeClr val="bg1"/>
                </a:solidFill>
                <a:latin typeface="Poppins Regular" panose="02000000000000000000" charset="0"/>
                <a:cs typeface="Poppins Regular" panose="02000000000000000000" charset="0"/>
              </a:defRPr>
            </a:lvl2pPr>
            <a:lvl3pPr marL="1041400" indent="0" algn="ctr" eaLnBrk="1" fontAlgn="auto" latinLnBrk="0" hangingPunct="1">
              <a:lnSpc>
                <a:spcPct val="100000"/>
              </a:lnSpc>
              <a:spcBef>
                <a:spcPct val="0"/>
              </a:spcBef>
              <a:spcAft>
                <a:spcPts val="0"/>
              </a:spcAft>
              <a:buFont typeface="+mj-lt"/>
              <a:buNone/>
              <a:defRPr sz="2200" b="0">
                <a:solidFill>
                  <a:schemeClr val="bg1"/>
                </a:solidFill>
                <a:latin typeface="Poppins Regular" panose="02000000000000000000" charset="0"/>
                <a:cs typeface="Poppins Regular" panose="02000000000000000000" charset="0"/>
              </a:defRPr>
            </a:lvl3pPr>
            <a:lvl4pPr marL="1498600" indent="0" algn="ctr" eaLnBrk="1" fontAlgn="auto" latinLnBrk="0" hangingPunct="1">
              <a:lnSpc>
                <a:spcPct val="100000"/>
              </a:lnSpc>
              <a:spcBef>
                <a:spcPct val="0"/>
              </a:spcBef>
              <a:spcAft>
                <a:spcPts val="0"/>
              </a:spcAft>
              <a:buFont typeface="+mj-lt"/>
              <a:buNone/>
              <a:defRPr sz="2200" b="0">
                <a:solidFill>
                  <a:schemeClr val="bg1"/>
                </a:solidFill>
                <a:latin typeface="Poppins Regular" panose="02000000000000000000" charset="0"/>
                <a:cs typeface="Poppins Regular" panose="02000000000000000000" charset="0"/>
              </a:defRPr>
            </a:lvl4pPr>
            <a:lvl5pPr marL="1955800" indent="0" algn="ctr" eaLnBrk="1" fontAlgn="auto" latinLnBrk="0" hangingPunct="1">
              <a:lnSpc>
                <a:spcPct val="100000"/>
              </a:lnSpc>
              <a:spcBef>
                <a:spcPct val="0"/>
              </a:spcBef>
              <a:spcAft>
                <a:spcPts val="0"/>
              </a:spcAft>
              <a:buFont typeface="+mj-lt"/>
              <a:buNone/>
              <a:defRPr sz="2200" b="0">
                <a:solidFill>
                  <a:schemeClr val="bg1"/>
                </a:solidFill>
                <a:latin typeface="Poppins Regular" panose="02000000000000000000" charset="0"/>
                <a:cs typeface="Poppins Regular" panose="02000000000000000000" charset="0"/>
              </a:defRPr>
            </a:lvl5pPr>
          </a:lstStyle>
          <a:p>
            <a:pPr lvl="0"/>
            <a:r>
              <a:rPr lang="en-US" dirty="0" err="1"/>
              <a:t>Bagian</a:t>
            </a:r>
            <a:r>
              <a:rPr lang="en-US" dirty="0"/>
              <a:t> 3</a:t>
            </a:r>
          </a:p>
          <a:p>
            <a:pPr lvl="1"/>
            <a:endParaRPr lang="en-US" dirty="0"/>
          </a:p>
        </p:txBody>
      </p:sp>
      <p:sp>
        <p:nvSpPr>
          <p:cNvPr id="6" name="header"/>
          <p:cNvSpPr>
            <a:spLocks noGrp="1"/>
          </p:cNvSpPr>
          <p:nvPr>
            <p:ph type="title" idx="4294967295"/>
          </p:nvPr>
        </p:nvSpPr>
        <p:spPr>
          <a:xfrm>
            <a:off x="335915" y="3058795"/>
            <a:ext cx="11520170" cy="3479165"/>
          </a:xfrm>
          <a:prstGeom prst="rect">
            <a:avLst/>
          </a:prstGeom>
        </p:spPr>
        <p:txBody>
          <a:bodyPr anchor="t" anchorCtr="0"/>
          <a:lstStyle>
            <a:lvl1pPr marL="0" indent="0" algn="ctr" eaLnBrk="1" fontAlgn="auto" latinLnBrk="0" hangingPunct="1">
              <a:lnSpc>
                <a:spcPct val="100000"/>
              </a:lnSpc>
              <a:defRPr sz="3200" b="0">
                <a:solidFill>
                  <a:schemeClr val="bg1"/>
                </a:solidFill>
                <a:latin typeface="Poppins Regular" panose="02000000000000000000" charset="0"/>
                <a:cs typeface="Poppins Regular" panose="02000000000000000000" charset="0"/>
              </a:defRPr>
            </a:lvl1pPr>
          </a:lstStyle>
          <a:p>
            <a:r>
              <a:rPr lang="en-US" dirty="0" err="1"/>
              <a:t>Struktur</a:t>
            </a:r>
            <a:r>
              <a:rPr lang="en-US" dirty="0"/>
              <a:t> Data Warehouse</a:t>
            </a:r>
          </a:p>
        </p:txBody>
      </p:sp>
      <p:sp>
        <p:nvSpPr>
          <p:cNvPr id="7" name="Rounded Rectangle 6"/>
          <p:cNvSpPr/>
          <p:nvPr/>
        </p:nvSpPr>
        <p:spPr>
          <a:xfrm>
            <a:off x="9726938" y="268034"/>
            <a:ext cx="2917371" cy="111263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00342" y="449944"/>
            <a:ext cx="1886078" cy="760670"/>
          </a:xfrm>
          <a:prstGeom prst="rect">
            <a:avLst/>
          </a:prstGeom>
        </p:spPr>
      </p:pic>
      <p:sp>
        <p:nvSpPr>
          <p:cNvPr id="9" name="Rounded Rectangle 8"/>
          <p:cNvSpPr/>
          <p:nvPr/>
        </p:nvSpPr>
        <p:spPr>
          <a:xfrm>
            <a:off x="-449943" y="268034"/>
            <a:ext cx="2917371" cy="111263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94553" y="268034"/>
            <a:ext cx="1117600" cy="1112633"/>
          </a:xfrm>
          <a:prstGeom prst="rect">
            <a:avLst/>
          </a:prstGeom>
        </p:spPr>
      </p:pic>
      <p:pic>
        <p:nvPicPr>
          <p:cNvPr id="11" name="Picture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312153" y="449944"/>
            <a:ext cx="718646" cy="754742"/>
          </a:xfrm>
          <a:prstGeom prst="rect">
            <a:avLst/>
          </a:prstGeom>
        </p:spPr>
      </p:pic>
      <p:sp>
        <p:nvSpPr>
          <p:cNvPr id="12" name="Rectangle 11"/>
          <p:cNvSpPr/>
          <p:nvPr/>
        </p:nvSpPr>
        <p:spPr>
          <a:xfrm>
            <a:off x="194553" y="6443996"/>
            <a:ext cx="4971233" cy="369332"/>
          </a:xfrm>
          <a:prstGeom prst="rect">
            <a:avLst/>
          </a:prstGeom>
        </p:spPr>
        <p:txBody>
          <a:bodyPr wrap="none">
            <a:spAutoFit/>
          </a:bodyPr>
          <a:lstStyle/>
          <a:p>
            <a:r>
              <a:rPr lang="en-US" b="1" dirty="0">
                <a:solidFill>
                  <a:schemeClr val="bg1"/>
                </a:solidFill>
              </a:rPr>
              <a:t>FAST: FOCUS, ADAPTIVE, SINCERE, TRUSTWORTHY</a:t>
            </a:r>
          </a:p>
        </p:txBody>
      </p:sp>
      <p:sp>
        <p:nvSpPr>
          <p:cNvPr id="13" name="Rectangle 12"/>
          <p:cNvSpPr/>
          <p:nvPr/>
        </p:nvSpPr>
        <p:spPr>
          <a:xfrm>
            <a:off x="8845379" y="6299663"/>
            <a:ext cx="3346622" cy="646331"/>
          </a:xfrm>
          <a:prstGeom prst="rect">
            <a:avLst/>
          </a:prstGeom>
        </p:spPr>
        <p:txBody>
          <a:bodyPr wrap="none">
            <a:spAutoFit/>
          </a:bodyPr>
          <a:lstStyle/>
          <a:p>
            <a:r>
              <a:rPr lang="en-US" dirty="0">
                <a:solidFill>
                  <a:schemeClr val="bg1"/>
                </a:solidFill>
              </a:rPr>
              <a:t>JURUSAN TEKNOLOGI INFORMASI</a:t>
            </a:r>
          </a:p>
          <a:p>
            <a:pPr algn="r"/>
            <a:r>
              <a:rPr lang="en-US" b="1" dirty="0">
                <a:solidFill>
                  <a:schemeClr val="bg1"/>
                </a:solidFill>
              </a:rPr>
              <a:t>POLITEKNIK NEGERI MALANG</a:t>
            </a:r>
          </a:p>
        </p:txBody>
      </p:sp>
    </p:spTree>
    <p:extLst>
      <p:ext uri="{BB962C8B-B14F-4D97-AF65-F5344CB8AC3E}">
        <p14:creationId xmlns:p14="http://schemas.microsoft.com/office/powerpoint/2010/main" val="27868214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67188" y="227366"/>
            <a:ext cx="1373223" cy="553831"/>
          </a:xfrm>
          <a:prstGeom prst="rect">
            <a:avLst/>
          </a:prstGeom>
        </p:spPr>
      </p:pic>
      <p:pic>
        <p:nvPicPr>
          <p:cNvPr id="16" name="Picture 15"/>
          <p:cNvPicPr>
            <a:picLocks noChangeAspect="1"/>
          </p:cNvPicPr>
          <p:nvPr/>
        </p:nvPicPr>
        <p:blipFill>
          <a:blip r:embed="rId4" cstate="print">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78656" y="230188"/>
            <a:ext cx="659544" cy="656613"/>
          </a:xfrm>
          <a:prstGeom prst="rect">
            <a:avLst/>
          </a:prstGeom>
        </p:spPr>
      </p:pic>
      <p:pic>
        <p:nvPicPr>
          <p:cNvPr id="17" name="Picture 1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38200" y="335791"/>
            <a:ext cx="424104" cy="445406"/>
          </a:xfrm>
          <a:prstGeom prst="rect">
            <a:avLst/>
          </a:prstGeom>
        </p:spPr>
      </p:pic>
      <p:sp>
        <p:nvSpPr>
          <p:cNvPr id="18" name="Rectangle 17"/>
          <p:cNvSpPr/>
          <p:nvPr/>
        </p:nvSpPr>
        <p:spPr>
          <a:xfrm>
            <a:off x="0" y="6267450"/>
            <a:ext cx="12192000" cy="59055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0" y="6161846"/>
            <a:ext cx="12192000" cy="59055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4996211" y="504281"/>
            <a:ext cx="2199577" cy="523220"/>
          </a:xfrm>
          <a:prstGeom prst="rect">
            <a:avLst/>
          </a:prstGeom>
        </p:spPr>
        <p:txBody>
          <a:bodyPr wrap="none">
            <a:spAutoFit/>
          </a:bodyPr>
          <a:lstStyle/>
          <a:p>
            <a:r>
              <a:rPr lang="en-US" sz="2800" b="1" dirty="0">
                <a:solidFill>
                  <a:srgbClr val="002060"/>
                </a:solidFill>
              </a:rPr>
              <a:t>OLTP vs OLAP</a:t>
            </a:r>
          </a:p>
        </p:txBody>
      </p:sp>
      <p:sp>
        <p:nvSpPr>
          <p:cNvPr id="23" name="Rectangle 22"/>
          <p:cNvSpPr/>
          <p:nvPr/>
        </p:nvSpPr>
        <p:spPr>
          <a:xfrm>
            <a:off x="0" y="6317852"/>
            <a:ext cx="4971233" cy="369332"/>
          </a:xfrm>
          <a:prstGeom prst="rect">
            <a:avLst/>
          </a:prstGeom>
        </p:spPr>
        <p:txBody>
          <a:bodyPr wrap="none">
            <a:spAutoFit/>
          </a:bodyPr>
          <a:lstStyle/>
          <a:p>
            <a:r>
              <a:rPr lang="en-US" b="1" dirty="0">
                <a:solidFill>
                  <a:schemeClr val="bg1"/>
                </a:solidFill>
              </a:rPr>
              <a:t>FAST: FOCUS, ADAPTIVE, SINCERE, TRUSTWORTHY</a:t>
            </a:r>
          </a:p>
        </p:txBody>
      </p:sp>
      <p:sp>
        <p:nvSpPr>
          <p:cNvPr id="24" name="Rectangle 23"/>
          <p:cNvSpPr/>
          <p:nvPr/>
        </p:nvSpPr>
        <p:spPr>
          <a:xfrm>
            <a:off x="10092442" y="6300421"/>
            <a:ext cx="1947969" cy="400110"/>
          </a:xfrm>
          <a:prstGeom prst="rect">
            <a:avLst/>
          </a:prstGeom>
        </p:spPr>
        <p:txBody>
          <a:bodyPr wrap="none">
            <a:spAutoFit/>
          </a:bodyPr>
          <a:lstStyle/>
          <a:p>
            <a:pPr algn="r"/>
            <a:r>
              <a:rPr lang="en-US" sz="1000" dirty="0">
                <a:solidFill>
                  <a:schemeClr val="bg1"/>
                </a:solidFill>
              </a:rPr>
              <a:t>JURUSAN TEKNOLOGI INFORMASI</a:t>
            </a:r>
          </a:p>
          <a:p>
            <a:pPr algn="r"/>
            <a:r>
              <a:rPr lang="en-US" sz="1000" b="1" dirty="0">
                <a:solidFill>
                  <a:schemeClr val="bg1"/>
                </a:solidFill>
              </a:rPr>
              <a:t>POLITEKNIK NEGERI MALANG</a:t>
            </a:r>
          </a:p>
        </p:txBody>
      </p:sp>
      <p:graphicFrame>
        <p:nvGraphicFramePr>
          <p:cNvPr id="3" name="Table 2"/>
          <p:cNvGraphicFramePr>
            <a:graphicFrameLocks noGrp="1"/>
          </p:cNvGraphicFramePr>
          <p:nvPr>
            <p:extLst>
              <p:ext uri="{D42A27DB-BD31-4B8C-83A1-F6EECF244321}">
                <p14:modId xmlns:p14="http://schemas.microsoft.com/office/powerpoint/2010/main" val="1692383582"/>
              </p:ext>
            </p:extLst>
          </p:nvPr>
        </p:nvGraphicFramePr>
        <p:xfrm>
          <a:off x="678005" y="1077903"/>
          <a:ext cx="10675794" cy="4437253"/>
        </p:xfrm>
        <a:graphic>
          <a:graphicData uri="http://schemas.openxmlformats.org/drawingml/2006/table">
            <a:tbl>
              <a:tblPr firstRow="1" bandRow="1">
                <a:tableStyleId>{5940675A-B579-460E-94D1-54222C63F5DA}</a:tableStyleId>
              </a:tblPr>
              <a:tblGrid>
                <a:gridCol w="1795372">
                  <a:extLst>
                    <a:ext uri="{9D8B030D-6E8A-4147-A177-3AD203B41FA5}">
                      <a16:colId xmlns:a16="http://schemas.microsoft.com/office/drawing/2014/main" val="146875667"/>
                    </a:ext>
                  </a:extLst>
                </a:gridCol>
                <a:gridCol w="4498923">
                  <a:extLst>
                    <a:ext uri="{9D8B030D-6E8A-4147-A177-3AD203B41FA5}">
                      <a16:colId xmlns:a16="http://schemas.microsoft.com/office/drawing/2014/main" val="1449314471"/>
                    </a:ext>
                  </a:extLst>
                </a:gridCol>
                <a:gridCol w="4381499">
                  <a:extLst>
                    <a:ext uri="{9D8B030D-6E8A-4147-A177-3AD203B41FA5}">
                      <a16:colId xmlns:a16="http://schemas.microsoft.com/office/drawing/2014/main" val="3326466551"/>
                    </a:ext>
                  </a:extLst>
                </a:gridCol>
              </a:tblGrid>
              <a:tr h="370840">
                <a:tc>
                  <a:txBody>
                    <a:bodyPr/>
                    <a:lstStyle/>
                    <a:p>
                      <a:pPr algn="ctr"/>
                      <a:endParaRPr lang="en-US" b="1" dirty="0"/>
                    </a:p>
                  </a:txBody>
                  <a:tcPr/>
                </a:tc>
                <a:tc>
                  <a:txBody>
                    <a:bodyPr/>
                    <a:lstStyle/>
                    <a:p>
                      <a:pPr algn="ctr"/>
                      <a:r>
                        <a:rPr lang="en-US" b="1"/>
                        <a:t>OLTP</a:t>
                      </a:r>
                      <a:endParaRPr lang="en-US" b="1" dirty="0"/>
                    </a:p>
                  </a:txBody>
                  <a:tcPr/>
                </a:tc>
                <a:tc>
                  <a:txBody>
                    <a:bodyPr/>
                    <a:lstStyle/>
                    <a:p>
                      <a:pPr algn="ctr"/>
                      <a:r>
                        <a:rPr lang="en-US" b="1"/>
                        <a:t>OLAP</a:t>
                      </a:r>
                      <a:endParaRPr lang="en-US" b="1" dirty="0"/>
                    </a:p>
                  </a:txBody>
                  <a:tcPr/>
                </a:tc>
                <a:extLst>
                  <a:ext uri="{0D108BD9-81ED-4DB2-BD59-A6C34878D82A}">
                    <a16:rowId xmlns:a16="http://schemas.microsoft.com/office/drawing/2014/main" val="2472854014"/>
                  </a:ext>
                </a:extLst>
              </a:tr>
              <a:tr h="591693">
                <a:tc>
                  <a:txBody>
                    <a:bodyPr/>
                    <a:lstStyle/>
                    <a:p>
                      <a:pPr algn="ctr"/>
                      <a:r>
                        <a:rPr lang="en-US" b="1" dirty="0"/>
                        <a:t>Main Objectives</a:t>
                      </a:r>
                    </a:p>
                  </a:txBody>
                  <a:tcPr anchor="ctr"/>
                </a:tc>
                <a:tc>
                  <a:txBody>
                    <a:bodyPr/>
                    <a:lstStyle/>
                    <a:p>
                      <a:r>
                        <a:rPr lang="en-US" dirty="0"/>
                        <a:t>daily business transactions,</a:t>
                      </a:r>
                    </a:p>
                  </a:txBody>
                  <a:tcPr/>
                </a:tc>
                <a:tc>
                  <a:txBody>
                    <a:bodyPr/>
                    <a:lstStyle/>
                    <a:p>
                      <a:r>
                        <a:rPr lang="en-US" dirty="0"/>
                        <a:t>Analyze business data in depth</a:t>
                      </a:r>
                    </a:p>
                  </a:txBody>
                  <a:tcPr/>
                </a:tc>
                <a:extLst>
                  <a:ext uri="{0D108BD9-81ED-4DB2-BD59-A6C34878D82A}">
                    <a16:rowId xmlns:a16="http://schemas.microsoft.com/office/drawing/2014/main" val="4117798783"/>
                  </a:ext>
                </a:extLst>
              </a:tr>
              <a:tr h="129224">
                <a:tc>
                  <a:txBody>
                    <a:bodyPr/>
                    <a:lstStyle/>
                    <a:p>
                      <a:pPr algn="ctr"/>
                      <a:r>
                        <a:rPr lang="en-US" b="1" dirty="0"/>
                        <a:t>Types of Operations</a:t>
                      </a:r>
                    </a:p>
                  </a:txBody>
                  <a:tcPr anchor="ctr"/>
                </a:tc>
                <a:tc>
                  <a:txBody>
                    <a:bodyPr/>
                    <a:lstStyle/>
                    <a:p>
                      <a:r>
                        <a:rPr lang="en-US" dirty="0"/>
                        <a:t>transaction operations such as additions, deletions, and updates.</a:t>
                      </a:r>
                    </a:p>
                  </a:txBody>
                  <a:tcPr/>
                </a:tc>
                <a:tc>
                  <a:txBody>
                    <a:bodyPr/>
                    <a:lstStyle/>
                    <a:p>
                      <a:r>
                        <a:rPr lang="en-US" dirty="0"/>
                        <a:t>Perform complex data analysis operations such as complex queries, aggregation, and multidimensional modeling</a:t>
                      </a:r>
                    </a:p>
                  </a:txBody>
                  <a:tcPr/>
                </a:tc>
                <a:extLst>
                  <a:ext uri="{0D108BD9-81ED-4DB2-BD59-A6C34878D82A}">
                    <a16:rowId xmlns:a16="http://schemas.microsoft.com/office/drawing/2014/main" val="3413160159"/>
                  </a:ext>
                </a:extLst>
              </a:tr>
              <a:tr h="370840">
                <a:tc>
                  <a:txBody>
                    <a:bodyPr/>
                    <a:lstStyle/>
                    <a:p>
                      <a:pPr algn="ctr"/>
                      <a:r>
                        <a:rPr lang="en-US" b="1" dirty="0"/>
                        <a:t>Volume Data</a:t>
                      </a:r>
                    </a:p>
                  </a:txBody>
                  <a:tcPr anchor="ctr"/>
                </a:tc>
                <a:tc>
                  <a:txBody>
                    <a:bodyPr/>
                    <a:lstStyle/>
                    <a:p>
                      <a:r>
                        <a:rPr lang="en-US" dirty="0"/>
                        <a:t>Manage large volumes of data in operational databases.</a:t>
                      </a:r>
                    </a:p>
                  </a:txBody>
                  <a:tcPr/>
                </a:tc>
                <a:tc>
                  <a:txBody>
                    <a:bodyPr/>
                    <a:lstStyle/>
                    <a:p>
                      <a:r>
                        <a:rPr lang="en-US" dirty="0"/>
                        <a:t>large volumes of data from the data warehouse.</a:t>
                      </a:r>
                    </a:p>
                  </a:txBody>
                  <a:tcPr/>
                </a:tc>
                <a:extLst>
                  <a:ext uri="{0D108BD9-81ED-4DB2-BD59-A6C34878D82A}">
                    <a16:rowId xmlns:a16="http://schemas.microsoft.com/office/drawing/2014/main" val="2705037359"/>
                  </a:ext>
                </a:extLst>
              </a:tr>
              <a:tr h="370840">
                <a:tc>
                  <a:txBody>
                    <a:bodyPr/>
                    <a:lstStyle/>
                    <a:p>
                      <a:pPr algn="ctr"/>
                      <a:r>
                        <a:rPr lang="en-US" b="1" dirty="0"/>
                        <a:t>Data Structure</a:t>
                      </a:r>
                    </a:p>
                  </a:txBody>
                  <a:tcPr anchor="ctr"/>
                </a:tc>
                <a:tc>
                  <a:txBody>
                    <a:bodyPr/>
                    <a:lstStyle/>
                    <a:p>
                      <a:r>
                        <a:rPr lang="en-US" dirty="0"/>
                        <a:t>The data structure used is a relational structure</a:t>
                      </a:r>
                    </a:p>
                  </a:txBody>
                  <a:tcPr/>
                </a:tc>
                <a:tc>
                  <a:txBody>
                    <a:bodyPr/>
                    <a:lstStyle/>
                    <a:p>
                      <a:r>
                        <a:rPr lang="en-US" dirty="0"/>
                        <a:t>The data structure used can be in the form of dimensional models</a:t>
                      </a:r>
                    </a:p>
                  </a:txBody>
                  <a:tcPr/>
                </a:tc>
                <a:extLst>
                  <a:ext uri="{0D108BD9-81ED-4DB2-BD59-A6C34878D82A}">
                    <a16:rowId xmlns:a16="http://schemas.microsoft.com/office/drawing/2014/main" val="4224096490"/>
                  </a:ext>
                </a:extLst>
              </a:tr>
              <a:tr h="0">
                <a:tc>
                  <a:txBody>
                    <a:bodyPr/>
                    <a:lstStyle/>
                    <a:p>
                      <a:pPr algn="ctr"/>
                      <a:r>
                        <a:rPr lang="en-US" b="1" dirty="0"/>
                        <a:t>Users and Use Cases</a:t>
                      </a:r>
                    </a:p>
                  </a:txBody>
                  <a:tcPr anchor="ctr"/>
                </a:tc>
                <a:tc>
                  <a:txBody>
                    <a:bodyPr/>
                    <a:lstStyle/>
                    <a:p>
                      <a:r>
                        <a:rPr lang="en-US"/>
                        <a:t>Commonly used by operational users</a:t>
                      </a:r>
                      <a:endParaRPr lang="en-US" dirty="0"/>
                    </a:p>
                  </a:txBody>
                  <a:tcPr/>
                </a:tc>
                <a:tc>
                  <a:txBody>
                    <a:bodyPr/>
                    <a:lstStyle/>
                    <a:p>
                      <a:r>
                        <a:rPr lang="en-US" dirty="0"/>
                        <a:t>Typically used by business analysts or managers</a:t>
                      </a:r>
                    </a:p>
                  </a:txBody>
                  <a:tcPr/>
                </a:tc>
                <a:extLst>
                  <a:ext uri="{0D108BD9-81ED-4DB2-BD59-A6C34878D82A}">
                    <a16:rowId xmlns:a16="http://schemas.microsoft.com/office/drawing/2014/main" val="436471489"/>
                  </a:ext>
                </a:extLst>
              </a:tr>
              <a:tr h="370840">
                <a:tc>
                  <a:txBody>
                    <a:bodyPr/>
                    <a:lstStyle/>
                    <a:p>
                      <a:pPr algn="ctr"/>
                      <a:r>
                        <a:rPr lang="en-US" b="1" dirty="0"/>
                        <a:t>Response Speed</a:t>
                      </a:r>
                    </a:p>
                  </a:txBody>
                  <a:tcPr anchor="ctr"/>
                </a:tc>
                <a:tc>
                  <a:txBody>
                    <a:bodyPr/>
                    <a:lstStyle/>
                    <a:p>
                      <a:r>
                        <a:rPr lang="en-US" dirty="0"/>
                        <a:t>It has a very fast response time to process transactions in real-time.</a:t>
                      </a:r>
                    </a:p>
                  </a:txBody>
                  <a:tcPr/>
                </a:tc>
                <a:tc>
                  <a:txBody>
                    <a:bodyPr/>
                    <a:lstStyle/>
                    <a:p>
                      <a:r>
                        <a:rPr lang="en-US" dirty="0"/>
                        <a:t>Response times may be slower than because they involve large and complex data access.</a:t>
                      </a:r>
                    </a:p>
                  </a:txBody>
                  <a:tcPr/>
                </a:tc>
                <a:extLst>
                  <a:ext uri="{0D108BD9-81ED-4DB2-BD59-A6C34878D82A}">
                    <a16:rowId xmlns:a16="http://schemas.microsoft.com/office/drawing/2014/main" val="785763939"/>
                  </a:ext>
                </a:extLst>
              </a:tr>
            </a:tbl>
          </a:graphicData>
        </a:graphic>
      </p:graphicFrame>
    </p:spTree>
    <p:extLst>
      <p:ext uri="{BB962C8B-B14F-4D97-AF65-F5344CB8AC3E}">
        <p14:creationId xmlns:p14="http://schemas.microsoft.com/office/powerpoint/2010/main" val="17630458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67188" y="227366"/>
            <a:ext cx="1373223" cy="553831"/>
          </a:xfrm>
          <a:prstGeom prst="rect">
            <a:avLst/>
          </a:prstGeom>
        </p:spPr>
      </p:pic>
      <p:pic>
        <p:nvPicPr>
          <p:cNvPr id="16" name="Picture 15"/>
          <p:cNvPicPr>
            <a:picLocks noChangeAspect="1"/>
          </p:cNvPicPr>
          <p:nvPr/>
        </p:nvPicPr>
        <p:blipFill>
          <a:blip r:embed="rId3" cstate="print">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78656" y="230188"/>
            <a:ext cx="659544" cy="656613"/>
          </a:xfrm>
          <a:prstGeom prst="rect">
            <a:avLst/>
          </a:prstGeom>
        </p:spPr>
      </p:pic>
      <p:pic>
        <p:nvPicPr>
          <p:cNvPr id="17" name="Picture 1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38200" y="335791"/>
            <a:ext cx="424104" cy="445406"/>
          </a:xfrm>
          <a:prstGeom prst="rect">
            <a:avLst/>
          </a:prstGeom>
        </p:spPr>
      </p:pic>
      <p:sp>
        <p:nvSpPr>
          <p:cNvPr id="18" name="Rectangle 17"/>
          <p:cNvSpPr/>
          <p:nvPr/>
        </p:nvSpPr>
        <p:spPr>
          <a:xfrm>
            <a:off x="0" y="6267450"/>
            <a:ext cx="12192000" cy="59055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0" y="6161846"/>
            <a:ext cx="12192000" cy="59055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3653696" y="625600"/>
            <a:ext cx="4622099" cy="523220"/>
          </a:xfrm>
          <a:prstGeom prst="rect">
            <a:avLst/>
          </a:prstGeom>
        </p:spPr>
        <p:txBody>
          <a:bodyPr wrap="none">
            <a:spAutoFit/>
          </a:bodyPr>
          <a:lstStyle/>
          <a:p>
            <a:r>
              <a:rPr lang="en-US" sz="2800" b="1" dirty="0" err="1">
                <a:solidFill>
                  <a:srgbClr val="002060"/>
                </a:solidFill>
              </a:rPr>
              <a:t>Tabel</a:t>
            </a:r>
            <a:r>
              <a:rPr lang="en-US" sz="2800" b="1" dirty="0">
                <a:solidFill>
                  <a:srgbClr val="002060"/>
                </a:solidFill>
              </a:rPr>
              <a:t> </a:t>
            </a:r>
            <a:r>
              <a:rPr lang="en-US" sz="2800" b="1" dirty="0" err="1">
                <a:solidFill>
                  <a:srgbClr val="002060"/>
                </a:solidFill>
              </a:rPr>
              <a:t>Dimensi</a:t>
            </a:r>
            <a:r>
              <a:rPr lang="en-US" sz="2800" b="1" dirty="0">
                <a:solidFill>
                  <a:srgbClr val="002060"/>
                </a:solidFill>
              </a:rPr>
              <a:t> </a:t>
            </a:r>
            <a:r>
              <a:rPr lang="en-US" sz="2800" b="1" dirty="0" err="1">
                <a:solidFill>
                  <a:srgbClr val="002060"/>
                </a:solidFill>
              </a:rPr>
              <a:t>dan</a:t>
            </a:r>
            <a:r>
              <a:rPr lang="en-US" sz="2800" b="1" dirty="0">
                <a:solidFill>
                  <a:srgbClr val="002060"/>
                </a:solidFill>
              </a:rPr>
              <a:t> </a:t>
            </a:r>
            <a:r>
              <a:rPr lang="en-US" sz="2800" b="1" dirty="0" err="1">
                <a:solidFill>
                  <a:srgbClr val="002060"/>
                </a:solidFill>
              </a:rPr>
              <a:t>Tabel</a:t>
            </a:r>
            <a:r>
              <a:rPr lang="en-US" sz="2800" b="1" dirty="0">
                <a:solidFill>
                  <a:srgbClr val="002060"/>
                </a:solidFill>
              </a:rPr>
              <a:t> </a:t>
            </a:r>
            <a:r>
              <a:rPr lang="en-US" sz="2800" b="1" dirty="0" err="1">
                <a:solidFill>
                  <a:srgbClr val="002060"/>
                </a:solidFill>
              </a:rPr>
              <a:t>fakta</a:t>
            </a:r>
            <a:endParaRPr lang="en-US" sz="2800" b="1" dirty="0">
              <a:solidFill>
                <a:srgbClr val="002060"/>
              </a:solidFill>
            </a:endParaRPr>
          </a:p>
        </p:txBody>
      </p:sp>
      <p:sp>
        <p:nvSpPr>
          <p:cNvPr id="23" name="Rectangle 22"/>
          <p:cNvSpPr/>
          <p:nvPr/>
        </p:nvSpPr>
        <p:spPr>
          <a:xfrm>
            <a:off x="0" y="6317852"/>
            <a:ext cx="4971233" cy="369332"/>
          </a:xfrm>
          <a:prstGeom prst="rect">
            <a:avLst/>
          </a:prstGeom>
        </p:spPr>
        <p:txBody>
          <a:bodyPr wrap="none">
            <a:spAutoFit/>
          </a:bodyPr>
          <a:lstStyle/>
          <a:p>
            <a:r>
              <a:rPr lang="en-US" b="1" dirty="0">
                <a:solidFill>
                  <a:schemeClr val="bg1"/>
                </a:solidFill>
              </a:rPr>
              <a:t>FAST: FOCUS, ADAPTIVE, SINCERE, TRUSTWORTHY</a:t>
            </a:r>
          </a:p>
        </p:txBody>
      </p:sp>
      <p:sp>
        <p:nvSpPr>
          <p:cNvPr id="24" name="Rectangle 23"/>
          <p:cNvSpPr/>
          <p:nvPr/>
        </p:nvSpPr>
        <p:spPr>
          <a:xfrm>
            <a:off x="10092442" y="6300421"/>
            <a:ext cx="1947969" cy="400110"/>
          </a:xfrm>
          <a:prstGeom prst="rect">
            <a:avLst/>
          </a:prstGeom>
        </p:spPr>
        <p:txBody>
          <a:bodyPr wrap="none">
            <a:spAutoFit/>
          </a:bodyPr>
          <a:lstStyle/>
          <a:p>
            <a:pPr algn="r"/>
            <a:r>
              <a:rPr lang="en-US" sz="1000" dirty="0">
                <a:solidFill>
                  <a:schemeClr val="bg1"/>
                </a:solidFill>
              </a:rPr>
              <a:t>JURUSAN TEKNOLOGI INFORMASI</a:t>
            </a:r>
          </a:p>
          <a:p>
            <a:pPr algn="r"/>
            <a:r>
              <a:rPr lang="en-US" sz="1000" b="1" dirty="0">
                <a:solidFill>
                  <a:schemeClr val="bg1"/>
                </a:solidFill>
              </a:rPr>
              <a:t>POLITEKNIK NEGERI MALANG</a:t>
            </a:r>
          </a:p>
        </p:txBody>
      </p:sp>
      <p:sp>
        <p:nvSpPr>
          <p:cNvPr id="3" name="Rectangle 2"/>
          <p:cNvSpPr/>
          <p:nvPr/>
        </p:nvSpPr>
        <p:spPr>
          <a:xfrm>
            <a:off x="687895" y="1707227"/>
            <a:ext cx="5276850" cy="2862322"/>
          </a:xfrm>
          <a:prstGeom prst="rect">
            <a:avLst/>
          </a:prstGeom>
        </p:spPr>
        <p:txBody>
          <a:bodyPr wrap="square">
            <a:spAutoFit/>
          </a:bodyPr>
          <a:lstStyle/>
          <a:p>
            <a:pPr>
              <a:buFont typeface="Arial" panose="020B0604020202020204" pitchFamily="34" charset="0"/>
              <a:buChar char="•"/>
            </a:pPr>
            <a:r>
              <a:rPr lang="en-US" dirty="0"/>
              <a:t>A dimension table is a table that stores information about the dimensions or characteristics of the data measured in a data warehouse.
Dimensions are different angles of data, such as time, location, product, or customer.
Examples of attributes in a time dimension table can include date, month, year, day, hour, etc.
Dimension tables typically have a relatively flat structure and consist of a primary key and several descriptive attributes.</a:t>
            </a:r>
          </a:p>
        </p:txBody>
      </p:sp>
      <p:sp>
        <p:nvSpPr>
          <p:cNvPr id="4" name="Rectangle 3"/>
          <p:cNvSpPr/>
          <p:nvPr/>
        </p:nvSpPr>
        <p:spPr>
          <a:xfrm>
            <a:off x="6343651" y="1623156"/>
            <a:ext cx="5526594" cy="3416320"/>
          </a:xfrm>
          <a:prstGeom prst="rect">
            <a:avLst/>
          </a:prstGeom>
        </p:spPr>
        <p:txBody>
          <a:bodyPr wrap="square">
            <a:spAutoFit/>
          </a:bodyPr>
          <a:lstStyle/>
          <a:p>
            <a:pPr>
              <a:buFont typeface="Arial" panose="020B0604020202020204" pitchFamily="34" charset="0"/>
              <a:buChar char="•"/>
            </a:pPr>
            <a:r>
              <a:rPr lang="en-US" dirty="0"/>
              <a:t>A fact table is a table that stores the data that is measured or observed in a data warehouse, as well as numerical information related to a specific dimension.
Facts in a fact table are often the size or metrics of a business, such as sales, revenue, or the number of items sold.
Each row in the fact table represents an event or business transaction that is observed and recorded.
A fact table usually consists of two types of columns: dimension keys that serve as foreign keys to the dimension table and columns that store the factual values.</a:t>
            </a:r>
          </a:p>
        </p:txBody>
      </p:sp>
      <p:cxnSp>
        <p:nvCxnSpPr>
          <p:cNvPr id="6" name="Straight Connector 5"/>
          <p:cNvCxnSpPr/>
          <p:nvPr/>
        </p:nvCxnSpPr>
        <p:spPr>
          <a:xfrm>
            <a:off x="6096000" y="1677664"/>
            <a:ext cx="0" cy="41165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77851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67188" y="227366"/>
            <a:ext cx="1373223" cy="553831"/>
          </a:xfrm>
          <a:prstGeom prst="rect">
            <a:avLst/>
          </a:prstGeom>
        </p:spPr>
      </p:pic>
      <p:pic>
        <p:nvPicPr>
          <p:cNvPr id="16" name="Picture 15"/>
          <p:cNvPicPr>
            <a:picLocks noChangeAspect="1"/>
          </p:cNvPicPr>
          <p:nvPr/>
        </p:nvPicPr>
        <p:blipFill>
          <a:blip r:embed="rId4" cstate="print">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78656" y="230188"/>
            <a:ext cx="659544" cy="656613"/>
          </a:xfrm>
          <a:prstGeom prst="rect">
            <a:avLst/>
          </a:prstGeom>
        </p:spPr>
      </p:pic>
      <p:pic>
        <p:nvPicPr>
          <p:cNvPr id="17" name="Picture 1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38200" y="335791"/>
            <a:ext cx="424104" cy="445406"/>
          </a:xfrm>
          <a:prstGeom prst="rect">
            <a:avLst/>
          </a:prstGeom>
        </p:spPr>
      </p:pic>
      <p:sp>
        <p:nvSpPr>
          <p:cNvPr id="18" name="Rectangle 17"/>
          <p:cNvSpPr/>
          <p:nvPr/>
        </p:nvSpPr>
        <p:spPr>
          <a:xfrm>
            <a:off x="0" y="6267450"/>
            <a:ext cx="12192000" cy="59055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0" y="6161846"/>
            <a:ext cx="12192000" cy="59055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4604623" y="596741"/>
            <a:ext cx="2296141" cy="523220"/>
          </a:xfrm>
          <a:prstGeom prst="rect">
            <a:avLst/>
          </a:prstGeom>
        </p:spPr>
        <p:txBody>
          <a:bodyPr wrap="none">
            <a:spAutoFit/>
          </a:bodyPr>
          <a:lstStyle/>
          <a:p>
            <a:r>
              <a:rPr lang="en-US" sz="2800" b="1" dirty="0">
                <a:solidFill>
                  <a:srgbClr val="002060"/>
                </a:solidFill>
              </a:rPr>
              <a:t>STAR SCHEMA</a:t>
            </a:r>
          </a:p>
        </p:txBody>
      </p:sp>
      <p:sp>
        <p:nvSpPr>
          <p:cNvPr id="23" name="Rectangle 22"/>
          <p:cNvSpPr/>
          <p:nvPr/>
        </p:nvSpPr>
        <p:spPr>
          <a:xfrm>
            <a:off x="0" y="6317852"/>
            <a:ext cx="4971233" cy="369332"/>
          </a:xfrm>
          <a:prstGeom prst="rect">
            <a:avLst/>
          </a:prstGeom>
        </p:spPr>
        <p:txBody>
          <a:bodyPr wrap="none">
            <a:spAutoFit/>
          </a:bodyPr>
          <a:lstStyle/>
          <a:p>
            <a:r>
              <a:rPr lang="en-US" b="1" dirty="0">
                <a:solidFill>
                  <a:schemeClr val="bg1"/>
                </a:solidFill>
              </a:rPr>
              <a:t>FAST: FOCUS, ADAPTIVE, SINCERE, TRUSTWORTHY</a:t>
            </a:r>
          </a:p>
        </p:txBody>
      </p:sp>
      <p:sp>
        <p:nvSpPr>
          <p:cNvPr id="24" name="Rectangle 23"/>
          <p:cNvSpPr/>
          <p:nvPr/>
        </p:nvSpPr>
        <p:spPr>
          <a:xfrm>
            <a:off x="10092442" y="6300421"/>
            <a:ext cx="1947969" cy="400110"/>
          </a:xfrm>
          <a:prstGeom prst="rect">
            <a:avLst/>
          </a:prstGeom>
        </p:spPr>
        <p:txBody>
          <a:bodyPr wrap="none">
            <a:spAutoFit/>
          </a:bodyPr>
          <a:lstStyle/>
          <a:p>
            <a:pPr algn="r"/>
            <a:r>
              <a:rPr lang="en-US" sz="1000" dirty="0">
                <a:solidFill>
                  <a:schemeClr val="bg1"/>
                </a:solidFill>
              </a:rPr>
              <a:t>JURUSAN TEKNOLOGI INFORMASI</a:t>
            </a:r>
          </a:p>
          <a:p>
            <a:pPr algn="r"/>
            <a:r>
              <a:rPr lang="en-US" sz="1000" b="1" dirty="0">
                <a:solidFill>
                  <a:schemeClr val="bg1"/>
                </a:solidFill>
              </a:rPr>
              <a:t>POLITEKNIK NEGERI MALANG</a:t>
            </a:r>
          </a:p>
        </p:txBody>
      </p:sp>
      <p:sp>
        <p:nvSpPr>
          <p:cNvPr id="5" name="Rectangle 4"/>
          <p:cNvSpPr/>
          <p:nvPr/>
        </p:nvSpPr>
        <p:spPr>
          <a:xfrm>
            <a:off x="7499778" y="2427925"/>
            <a:ext cx="3829173" cy="2308324"/>
          </a:xfrm>
          <a:prstGeom prst="rect">
            <a:avLst/>
          </a:prstGeom>
        </p:spPr>
        <p:txBody>
          <a:bodyPr wrap="square">
            <a:spAutoFit/>
          </a:bodyPr>
          <a:lstStyle/>
          <a:p>
            <a:r>
              <a:rPr lang="en-US" b="1" dirty="0"/>
              <a:t>Simple and Easy to Understand:
Star schema has a simple and easy-to-understand structure, making it one of the most popular models in data warehouse design.
The clear and intuitive structure facilitates fast data capture and analysis.</a:t>
            </a:r>
            <a:endParaRPr lang="en-US" dirty="0"/>
          </a:p>
        </p:txBody>
      </p:sp>
      <p:pic>
        <p:nvPicPr>
          <p:cNvPr id="12" name="Picture 11"/>
          <p:cNvPicPr>
            <a:picLocks noChangeAspect="1"/>
          </p:cNvPicPr>
          <p:nvPr/>
        </p:nvPicPr>
        <p:blipFill>
          <a:blip r:embed="rId7"/>
          <a:stretch>
            <a:fillRect/>
          </a:stretch>
        </p:blipFill>
        <p:spPr>
          <a:xfrm>
            <a:off x="508428" y="1170363"/>
            <a:ext cx="6991350" cy="4917645"/>
          </a:xfrm>
          <a:prstGeom prst="rect">
            <a:avLst/>
          </a:prstGeom>
        </p:spPr>
      </p:pic>
      <mc:AlternateContent xmlns:mc="http://schemas.openxmlformats.org/markup-compatibility/2006" xmlns:p14="http://schemas.microsoft.com/office/powerpoint/2010/main">
        <mc:Choice Requires="p14">
          <p:contentPart p14:bwMode="auto" r:id="rId8">
            <p14:nvContentPartPr>
              <p14:cNvPr id="3" name="Ink 2">
                <a:extLst>
                  <a:ext uri="{FF2B5EF4-FFF2-40B4-BE49-F238E27FC236}">
                    <a16:creationId xmlns:a16="http://schemas.microsoft.com/office/drawing/2014/main" id="{5D41451E-43AD-9D93-02EF-37F90B024C80}"/>
                  </a:ext>
                </a:extLst>
              </p14:cNvPr>
              <p14:cNvContentPartPr/>
              <p14:nvPr/>
            </p14:nvContentPartPr>
            <p14:xfrm>
              <a:off x="2042280" y="1437840"/>
              <a:ext cx="5212440" cy="4376160"/>
            </p14:xfrm>
          </p:contentPart>
        </mc:Choice>
        <mc:Fallback xmlns="">
          <p:pic>
            <p:nvPicPr>
              <p:cNvPr id="3" name="Ink 2">
                <a:extLst>
                  <a:ext uri="{FF2B5EF4-FFF2-40B4-BE49-F238E27FC236}">
                    <a16:creationId xmlns:a16="http://schemas.microsoft.com/office/drawing/2014/main" id="{5D41451E-43AD-9D93-02EF-37F90B024C80}"/>
                  </a:ext>
                </a:extLst>
              </p:cNvPr>
              <p:cNvPicPr/>
              <p:nvPr/>
            </p:nvPicPr>
            <p:blipFill>
              <a:blip r:embed="rId9"/>
              <a:stretch>
                <a:fillRect/>
              </a:stretch>
            </p:blipFill>
            <p:spPr>
              <a:xfrm>
                <a:off x="2032920" y="1428480"/>
                <a:ext cx="5231160" cy="4394880"/>
              </a:xfrm>
              <a:prstGeom prst="rect">
                <a:avLst/>
              </a:prstGeom>
            </p:spPr>
          </p:pic>
        </mc:Fallback>
      </mc:AlternateContent>
    </p:spTree>
    <p:extLst>
      <p:ext uri="{BB962C8B-B14F-4D97-AF65-F5344CB8AC3E}">
        <p14:creationId xmlns:p14="http://schemas.microsoft.com/office/powerpoint/2010/main" val="20676696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67188" y="227366"/>
            <a:ext cx="1373223" cy="553831"/>
          </a:xfrm>
          <a:prstGeom prst="rect">
            <a:avLst/>
          </a:prstGeom>
        </p:spPr>
      </p:pic>
      <p:pic>
        <p:nvPicPr>
          <p:cNvPr id="16" name="Picture 15"/>
          <p:cNvPicPr>
            <a:picLocks noChangeAspect="1"/>
          </p:cNvPicPr>
          <p:nvPr/>
        </p:nvPicPr>
        <p:blipFill>
          <a:blip r:embed="rId4" cstate="print">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78656" y="230188"/>
            <a:ext cx="659544" cy="656613"/>
          </a:xfrm>
          <a:prstGeom prst="rect">
            <a:avLst/>
          </a:prstGeom>
        </p:spPr>
      </p:pic>
      <p:pic>
        <p:nvPicPr>
          <p:cNvPr id="17" name="Picture 1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38200" y="335791"/>
            <a:ext cx="424104" cy="445406"/>
          </a:xfrm>
          <a:prstGeom prst="rect">
            <a:avLst/>
          </a:prstGeom>
        </p:spPr>
      </p:pic>
      <p:sp>
        <p:nvSpPr>
          <p:cNvPr id="18" name="Rectangle 17"/>
          <p:cNvSpPr/>
          <p:nvPr/>
        </p:nvSpPr>
        <p:spPr>
          <a:xfrm>
            <a:off x="0" y="6267450"/>
            <a:ext cx="12192000" cy="59055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0" y="6161846"/>
            <a:ext cx="12192000" cy="59055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4604623" y="596741"/>
            <a:ext cx="2296141" cy="523220"/>
          </a:xfrm>
          <a:prstGeom prst="rect">
            <a:avLst/>
          </a:prstGeom>
        </p:spPr>
        <p:txBody>
          <a:bodyPr wrap="none">
            <a:spAutoFit/>
          </a:bodyPr>
          <a:lstStyle/>
          <a:p>
            <a:r>
              <a:rPr lang="en-US" sz="2800" b="1" dirty="0">
                <a:solidFill>
                  <a:srgbClr val="002060"/>
                </a:solidFill>
              </a:rPr>
              <a:t>STAR SCHEMA</a:t>
            </a:r>
          </a:p>
        </p:txBody>
      </p:sp>
      <p:sp>
        <p:nvSpPr>
          <p:cNvPr id="23" name="Rectangle 22"/>
          <p:cNvSpPr/>
          <p:nvPr/>
        </p:nvSpPr>
        <p:spPr>
          <a:xfrm>
            <a:off x="0" y="6317852"/>
            <a:ext cx="4971233" cy="369332"/>
          </a:xfrm>
          <a:prstGeom prst="rect">
            <a:avLst/>
          </a:prstGeom>
        </p:spPr>
        <p:txBody>
          <a:bodyPr wrap="none">
            <a:spAutoFit/>
          </a:bodyPr>
          <a:lstStyle/>
          <a:p>
            <a:r>
              <a:rPr lang="en-US" b="1" dirty="0">
                <a:solidFill>
                  <a:schemeClr val="bg1"/>
                </a:solidFill>
              </a:rPr>
              <a:t>FAST: FOCUS, ADAPTIVE, SINCERE, TRUSTWORTHY</a:t>
            </a:r>
          </a:p>
        </p:txBody>
      </p:sp>
      <p:sp>
        <p:nvSpPr>
          <p:cNvPr id="24" name="Rectangle 23"/>
          <p:cNvSpPr/>
          <p:nvPr/>
        </p:nvSpPr>
        <p:spPr>
          <a:xfrm>
            <a:off x="10092442" y="6300421"/>
            <a:ext cx="1947969" cy="400110"/>
          </a:xfrm>
          <a:prstGeom prst="rect">
            <a:avLst/>
          </a:prstGeom>
        </p:spPr>
        <p:txBody>
          <a:bodyPr wrap="none">
            <a:spAutoFit/>
          </a:bodyPr>
          <a:lstStyle/>
          <a:p>
            <a:pPr algn="r"/>
            <a:r>
              <a:rPr lang="en-US" sz="1000" dirty="0">
                <a:solidFill>
                  <a:schemeClr val="bg1"/>
                </a:solidFill>
              </a:rPr>
              <a:t>JURUSAN TEKNOLOGI INFORMASI</a:t>
            </a:r>
          </a:p>
          <a:p>
            <a:pPr algn="r"/>
            <a:r>
              <a:rPr lang="en-US" sz="1000" b="1" dirty="0">
                <a:solidFill>
                  <a:schemeClr val="bg1"/>
                </a:solidFill>
              </a:rPr>
              <a:t>POLITEKNIK NEGERI MALANG</a:t>
            </a:r>
          </a:p>
        </p:txBody>
      </p:sp>
      <p:sp>
        <p:nvSpPr>
          <p:cNvPr id="3" name="Rectangle 2"/>
          <p:cNvSpPr/>
          <p:nvPr/>
        </p:nvSpPr>
        <p:spPr>
          <a:xfrm>
            <a:off x="5752693" y="2093163"/>
            <a:ext cx="6096000" cy="2308324"/>
          </a:xfrm>
          <a:prstGeom prst="rect">
            <a:avLst/>
          </a:prstGeom>
        </p:spPr>
        <p:txBody>
          <a:bodyPr>
            <a:spAutoFit/>
          </a:bodyPr>
          <a:lstStyle/>
          <a:p>
            <a:pPr>
              <a:buFont typeface="+mj-lt"/>
              <a:buAutoNum type="arabicPeriod"/>
            </a:pPr>
            <a:r>
              <a:rPr lang="en-US" b="1" dirty="0"/>
              <a:t>Fact Table:
The fact table serves as the central point in the star schema.
Fact tables store measured or observed data, such as business metrics or sales figures.
Each row in the fact table represents an observed business event or transaction.
Fact tables usually have dimension keys (foreign keys) that connect them to the dimension table.</a:t>
            </a:r>
            <a:endParaRPr lang="en-US" dirty="0"/>
          </a:p>
        </p:txBody>
      </p:sp>
      <p:pic>
        <p:nvPicPr>
          <p:cNvPr id="13" name="Picture 12"/>
          <p:cNvPicPr>
            <a:picLocks noChangeAspect="1"/>
          </p:cNvPicPr>
          <p:nvPr/>
        </p:nvPicPr>
        <p:blipFill>
          <a:blip r:embed="rId7"/>
          <a:stretch>
            <a:fillRect/>
          </a:stretch>
        </p:blipFill>
        <p:spPr>
          <a:xfrm>
            <a:off x="437523" y="1564321"/>
            <a:ext cx="5136311" cy="3612829"/>
          </a:xfrm>
          <a:prstGeom prst="rect">
            <a:avLst/>
          </a:prstGeom>
        </p:spPr>
      </p:pic>
    </p:spTree>
    <p:extLst>
      <p:ext uri="{BB962C8B-B14F-4D97-AF65-F5344CB8AC3E}">
        <p14:creationId xmlns:p14="http://schemas.microsoft.com/office/powerpoint/2010/main" val="1218442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67188" y="227366"/>
            <a:ext cx="1373223" cy="553831"/>
          </a:xfrm>
          <a:prstGeom prst="rect">
            <a:avLst/>
          </a:prstGeom>
        </p:spPr>
      </p:pic>
      <p:pic>
        <p:nvPicPr>
          <p:cNvPr id="16" name="Picture 15"/>
          <p:cNvPicPr>
            <a:picLocks noChangeAspect="1"/>
          </p:cNvPicPr>
          <p:nvPr/>
        </p:nvPicPr>
        <p:blipFill>
          <a:blip r:embed="rId4" cstate="print">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78656" y="230188"/>
            <a:ext cx="659544" cy="656613"/>
          </a:xfrm>
          <a:prstGeom prst="rect">
            <a:avLst/>
          </a:prstGeom>
        </p:spPr>
      </p:pic>
      <p:pic>
        <p:nvPicPr>
          <p:cNvPr id="17" name="Picture 1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38200" y="335791"/>
            <a:ext cx="424104" cy="445406"/>
          </a:xfrm>
          <a:prstGeom prst="rect">
            <a:avLst/>
          </a:prstGeom>
        </p:spPr>
      </p:pic>
      <p:sp>
        <p:nvSpPr>
          <p:cNvPr id="18" name="Rectangle 17"/>
          <p:cNvSpPr/>
          <p:nvPr/>
        </p:nvSpPr>
        <p:spPr>
          <a:xfrm>
            <a:off x="0" y="6267450"/>
            <a:ext cx="12192000" cy="59055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0" y="6161846"/>
            <a:ext cx="12192000" cy="59055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4604623" y="596741"/>
            <a:ext cx="2296141" cy="523220"/>
          </a:xfrm>
          <a:prstGeom prst="rect">
            <a:avLst/>
          </a:prstGeom>
        </p:spPr>
        <p:txBody>
          <a:bodyPr wrap="none">
            <a:spAutoFit/>
          </a:bodyPr>
          <a:lstStyle/>
          <a:p>
            <a:r>
              <a:rPr lang="en-US" sz="2800" b="1" dirty="0">
                <a:solidFill>
                  <a:srgbClr val="002060"/>
                </a:solidFill>
              </a:rPr>
              <a:t>STAR SCHEMA</a:t>
            </a:r>
          </a:p>
        </p:txBody>
      </p:sp>
      <p:sp>
        <p:nvSpPr>
          <p:cNvPr id="23" name="Rectangle 22"/>
          <p:cNvSpPr/>
          <p:nvPr/>
        </p:nvSpPr>
        <p:spPr>
          <a:xfrm>
            <a:off x="0" y="6317852"/>
            <a:ext cx="4971233" cy="369332"/>
          </a:xfrm>
          <a:prstGeom prst="rect">
            <a:avLst/>
          </a:prstGeom>
        </p:spPr>
        <p:txBody>
          <a:bodyPr wrap="none">
            <a:spAutoFit/>
          </a:bodyPr>
          <a:lstStyle/>
          <a:p>
            <a:r>
              <a:rPr lang="en-US" b="1" dirty="0">
                <a:solidFill>
                  <a:schemeClr val="bg1"/>
                </a:solidFill>
              </a:rPr>
              <a:t>FAST: FOCUS, ADAPTIVE, SINCERE, TRUSTWORTHY</a:t>
            </a:r>
          </a:p>
        </p:txBody>
      </p:sp>
      <p:sp>
        <p:nvSpPr>
          <p:cNvPr id="24" name="Rectangle 23"/>
          <p:cNvSpPr/>
          <p:nvPr/>
        </p:nvSpPr>
        <p:spPr>
          <a:xfrm>
            <a:off x="10092442" y="6300421"/>
            <a:ext cx="1947969" cy="400110"/>
          </a:xfrm>
          <a:prstGeom prst="rect">
            <a:avLst/>
          </a:prstGeom>
        </p:spPr>
        <p:txBody>
          <a:bodyPr wrap="none">
            <a:spAutoFit/>
          </a:bodyPr>
          <a:lstStyle/>
          <a:p>
            <a:pPr algn="r"/>
            <a:r>
              <a:rPr lang="en-US" sz="1000" dirty="0">
                <a:solidFill>
                  <a:schemeClr val="bg1"/>
                </a:solidFill>
              </a:rPr>
              <a:t>JURUSAN TEKNOLOGI INFORMASI</a:t>
            </a:r>
          </a:p>
          <a:p>
            <a:pPr algn="r"/>
            <a:r>
              <a:rPr lang="en-US" sz="1000" b="1" dirty="0">
                <a:solidFill>
                  <a:schemeClr val="bg1"/>
                </a:solidFill>
              </a:rPr>
              <a:t>POLITEKNIK NEGERI MALANG</a:t>
            </a:r>
          </a:p>
        </p:txBody>
      </p:sp>
      <p:sp>
        <p:nvSpPr>
          <p:cNvPr id="3" name="Rectangle 2"/>
          <p:cNvSpPr/>
          <p:nvPr/>
        </p:nvSpPr>
        <p:spPr>
          <a:xfrm>
            <a:off x="5536957" y="1932743"/>
            <a:ext cx="6096000" cy="2862322"/>
          </a:xfrm>
          <a:prstGeom prst="rect">
            <a:avLst/>
          </a:prstGeom>
        </p:spPr>
        <p:txBody>
          <a:bodyPr>
            <a:spAutoFit/>
          </a:bodyPr>
          <a:lstStyle/>
          <a:p>
            <a:r>
              <a:rPr lang="en-US" b="1" dirty="0"/>
              <a:t>2. Table Dimensions:
Dimension tables store information about the dimensions or characteristics of the data measured in the data warehouse.
Dimensions can be time, product, customer, or any other dimension relevant to the analysis.
Each dimension table typically has one row for each unique value in that dimension.
A dimension table has a one-to-many relationship with a fact table, where a single row in a dimension table can relate to multiple rows in a fact table.</a:t>
            </a:r>
            <a:endParaRPr lang="en-US" dirty="0"/>
          </a:p>
        </p:txBody>
      </p:sp>
      <p:pic>
        <p:nvPicPr>
          <p:cNvPr id="12" name="Picture 11"/>
          <p:cNvPicPr>
            <a:picLocks noChangeAspect="1"/>
          </p:cNvPicPr>
          <p:nvPr/>
        </p:nvPicPr>
        <p:blipFill>
          <a:blip r:embed="rId7"/>
          <a:stretch>
            <a:fillRect/>
          </a:stretch>
        </p:blipFill>
        <p:spPr>
          <a:xfrm>
            <a:off x="437523" y="1564321"/>
            <a:ext cx="5136311" cy="3612829"/>
          </a:xfrm>
          <a:prstGeom prst="rect">
            <a:avLst/>
          </a:prstGeom>
        </p:spPr>
      </p:pic>
    </p:spTree>
    <p:extLst>
      <p:ext uri="{BB962C8B-B14F-4D97-AF65-F5344CB8AC3E}">
        <p14:creationId xmlns:p14="http://schemas.microsoft.com/office/powerpoint/2010/main" val="22627053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67188" y="227366"/>
            <a:ext cx="1373223" cy="553831"/>
          </a:xfrm>
          <a:prstGeom prst="rect">
            <a:avLst/>
          </a:prstGeom>
        </p:spPr>
      </p:pic>
      <p:pic>
        <p:nvPicPr>
          <p:cNvPr id="16" name="Picture 15"/>
          <p:cNvPicPr>
            <a:picLocks noChangeAspect="1"/>
          </p:cNvPicPr>
          <p:nvPr/>
        </p:nvPicPr>
        <p:blipFill>
          <a:blip r:embed="rId4" cstate="print">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78656" y="230188"/>
            <a:ext cx="659544" cy="656613"/>
          </a:xfrm>
          <a:prstGeom prst="rect">
            <a:avLst/>
          </a:prstGeom>
        </p:spPr>
      </p:pic>
      <p:pic>
        <p:nvPicPr>
          <p:cNvPr id="17" name="Picture 1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38200" y="335791"/>
            <a:ext cx="424104" cy="445406"/>
          </a:xfrm>
          <a:prstGeom prst="rect">
            <a:avLst/>
          </a:prstGeom>
        </p:spPr>
      </p:pic>
      <p:sp>
        <p:nvSpPr>
          <p:cNvPr id="18" name="Rectangle 17"/>
          <p:cNvSpPr/>
          <p:nvPr/>
        </p:nvSpPr>
        <p:spPr>
          <a:xfrm>
            <a:off x="0" y="6267450"/>
            <a:ext cx="12192000" cy="59055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0" y="6161846"/>
            <a:ext cx="12192000" cy="59055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4604623" y="596741"/>
            <a:ext cx="2296141" cy="523220"/>
          </a:xfrm>
          <a:prstGeom prst="rect">
            <a:avLst/>
          </a:prstGeom>
        </p:spPr>
        <p:txBody>
          <a:bodyPr wrap="none">
            <a:spAutoFit/>
          </a:bodyPr>
          <a:lstStyle/>
          <a:p>
            <a:r>
              <a:rPr lang="en-US" sz="2800" b="1" dirty="0">
                <a:solidFill>
                  <a:srgbClr val="002060"/>
                </a:solidFill>
              </a:rPr>
              <a:t>STAR SCHEMA</a:t>
            </a:r>
          </a:p>
        </p:txBody>
      </p:sp>
      <p:sp>
        <p:nvSpPr>
          <p:cNvPr id="23" name="Rectangle 22"/>
          <p:cNvSpPr/>
          <p:nvPr/>
        </p:nvSpPr>
        <p:spPr>
          <a:xfrm>
            <a:off x="0" y="6317852"/>
            <a:ext cx="4971233" cy="369332"/>
          </a:xfrm>
          <a:prstGeom prst="rect">
            <a:avLst/>
          </a:prstGeom>
        </p:spPr>
        <p:txBody>
          <a:bodyPr wrap="none">
            <a:spAutoFit/>
          </a:bodyPr>
          <a:lstStyle/>
          <a:p>
            <a:r>
              <a:rPr lang="en-US" b="1" dirty="0">
                <a:solidFill>
                  <a:schemeClr val="bg1"/>
                </a:solidFill>
              </a:rPr>
              <a:t>FAST: FOCUS, ADAPTIVE, SINCERE, TRUSTWORTHY</a:t>
            </a:r>
          </a:p>
        </p:txBody>
      </p:sp>
      <p:sp>
        <p:nvSpPr>
          <p:cNvPr id="24" name="Rectangle 23"/>
          <p:cNvSpPr/>
          <p:nvPr/>
        </p:nvSpPr>
        <p:spPr>
          <a:xfrm>
            <a:off x="10092442" y="6300421"/>
            <a:ext cx="1947969" cy="400110"/>
          </a:xfrm>
          <a:prstGeom prst="rect">
            <a:avLst/>
          </a:prstGeom>
        </p:spPr>
        <p:txBody>
          <a:bodyPr wrap="none">
            <a:spAutoFit/>
          </a:bodyPr>
          <a:lstStyle/>
          <a:p>
            <a:pPr algn="r"/>
            <a:r>
              <a:rPr lang="en-US" sz="1000" dirty="0">
                <a:solidFill>
                  <a:schemeClr val="bg1"/>
                </a:solidFill>
              </a:rPr>
              <a:t>JURUSAN TEKNOLOGI INFORMASI</a:t>
            </a:r>
          </a:p>
          <a:p>
            <a:pPr algn="r"/>
            <a:r>
              <a:rPr lang="en-US" sz="1000" b="1" dirty="0">
                <a:solidFill>
                  <a:schemeClr val="bg1"/>
                </a:solidFill>
              </a:rPr>
              <a:t>POLITEKNIK NEGERI MALANG</a:t>
            </a:r>
          </a:p>
        </p:txBody>
      </p:sp>
      <p:sp>
        <p:nvSpPr>
          <p:cNvPr id="5" name="Rectangle 4"/>
          <p:cNvSpPr/>
          <p:nvPr/>
        </p:nvSpPr>
        <p:spPr>
          <a:xfrm>
            <a:off x="6558270" y="1680718"/>
            <a:ext cx="4795529" cy="2862322"/>
          </a:xfrm>
          <a:prstGeom prst="rect">
            <a:avLst/>
          </a:prstGeom>
        </p:spPr>
        <p:txBody>
          <a:bodyPr wrap="square">
            <a:spAutoFit/>
          </a:bodyPr>
          <a:lstStyle/>
          <a:p>
            <a:pPr lvl="1"/>
            <a:r>
              <a:rPr lang="en-US" dirty="0"/>
              <a:t>3. Relationships Between Tables:
The relationship between a fact table and a dimension table is star, where the fact table serves as the center and the dimension table serves as the "arm" of the star that contacts it.
This relationship is usually done through dimension keys, where the dimension keys in the fact table are the foreign keys that connect them to the dimension table.</a:t>
            </a:r>
          </a:p>
        </p:txBody>
      </p:sp>
      <p:pic>
        <p:nvPicPr>
          <p:cNvPr id="12" name="Picture 11"/>
          <p:cNvPicPr>
            <a:picLocks noChangeAspect="1"/>
          </p:cNvPicPr>
          <p:nvPr/>
        </p:nvPicPr>
        <p:blipFill>
          <a:blip r:embed="rId7"/>
          <a:stretch>
            <a:fillRect/>
          </a:stretch>
        </p:blipFill>
        <p:spPr>
          <a:xfrm>
            <a:off x="838200" y="1717909"/>
            <a:ext cx="5136311" cy="3612829"/>
          </a:xfrm>
          <a:prstGeom prst="rect">
            <a:avLst/>
          </a:prstGeom>
        </p:spPr>
      </p:pic>
    </p:spTree>
    <p:extLst>
      <p:ext uri="{BB962C8B-B14F-4D97-AF65-F5344CB8AC3E}">
        <p14:creationId xmlns:p14="http://schemas.microsoft.com/office/powerpoint/2010/main" val="40727627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67188" y="227366"/>
            <a:ext cx="1373223" cy="553831"/>
          </a:xfrm>
          <a:prstGeom prst="rect">
            <a:avLst/>
          </a:prstGeom>
        </p:spPr>
      </p:pic>
      <p:pic>
        <p:nvPicPr>
          <p:cNvPr id="16" name="Picture 15"/>
          <p:cNvPicPr>
            <a:picLocks noChangeAspect="1"/>
          </p:cNvPicPr>
          <p:nvPr/>
        </p:nvPicPr>
        <p:blipFill>
          <a:blip r:embed="rId3" cstate="print">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78656" y="230188"/>
            <a:ext cx="659544" cy="656613"/>
          </a:xfrm>
          <a:prstGeom prst="rect">
            <a:avLst/>
          </a:prstGeom>
        </p:spPr>
      </p:pic>
      <p:pic>
        <p:nvPicPr>
          <p:cNvPr id="17" name="Picture 1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38200" y="335791"/>
            <a:ext cx="424104" cy="445406"/>
          </a:xfrm>
          <a:prstGeom prst="rect">
            <a:avLst/>
          </a:prstGeom>
        </p:spPr>
      </p:pic>
      <p:sp>
        <p:nvSpPr>
          <p:cNvPr id="18" name="Rectangle 17"/>
          <p:cNvSpPr/>
          <p:nvPr/>
        </p:nvSpPr>
        <p:spPr>
          <a:xfrm>
            <a:off x="0" y="6267450"/>
            <a:ext cx="12192000" cy="59055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0" y="6161846"/>
            <a:ext cx="12192000" cy="59055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4245942" y="625191"/>
            <a:ext cx="3437608" cy="523220"/>
          </a:xfrm>
          <a:prstGeom prst="rect">
            <a:avLst/>
          </a:prstGeom>
        </p:spPr>
        <p:txBody>
          <a:bodyPr wrap="none">
            <a:spAutoFit/>
          </a:bodyPr>
          <a:lstStyle/>
          <a:p>
            <a:r>
              <a:rPr lang="en-US" sz="2800" b="1" dirty="0">
                <a:solidFill>
                  <a:srgbClr val="002060"/>
                </a:solidFill>
              </a:rPr>
              <a:t>SNOWFLAKE SCHEMA</a:t>
            </a:r>
          </a:p>
        </p:txBody>
      </p:sp>
      <p:sp>
        <p:nvSpPr>
          <p:cNvPr id="23" name="Rectangle 22"/>
          <p:cNvSpPr/>
          <p:nvPr/>
        </p:nvSpPr>
        <p:spPr>
          <a:xfrm>
            <a:off x="0" y="6317852"/>
            <a:ext cx="4971233" cy="369332"/>
          </a:xfrm>
          <a:prstGeom prst="rect">
            <a:avLst/>
          </a:prstGeom>
        </p:spPr>
        <p:txBody>
          <a:bodyPr wrap="none">
            <a:spAutoFit/>
          </a:bodyPr>
          <a:lstStyle/>
          <a:p>
            <a:r>
              <a:rPr lang="en-US" b="1" dirty="0">
                <a:solidFill>
                  <a:schemeClr val="bg1"/>
                </a:solidFill>
              </a:rPr>
              <a:t>FAST: FOCUS, ADAPTIVE, SINCERE, TRUSTWORTHY</a:t>
            </a:r>
          </a:p>
        </p:txBody>
      </p:sp>
      <p:sp>
        <p:nvSpPr>
          <p:cNvPr id="24" name="Rectangle 23"/>
          <p:cNvSpPr/>
          <p:nvPr/>
        </p:nvSpPr>
        <p:spPr>
          <a:xfrm>
            <a:off x="10092442" y="6300421"/>
            <a:ext cx="1947969" cy="400110"/>
          </a:xfrm>
          <a:prstGeom prst="rect">
            <a:avLst/>
          </a:prstGeom>
        </p:spPr>
        <p:txBody>
          <a:bodyPr wrap="none">
            <a:spAutoFit/>
          </a:bodyPr>
          <a:lstStyle/>
          <a:p>
            <a:pPr algn="r"/>
            <a:r>
              <a:rPr lang="en-US" sz="1000" dirty="0">
                <a:solidFill>
                  <a:schemeClr val="bg1"/>
                </a:solidFill>
              </a:rPr>
              <a:t>JURUSAN TEKNOLOGI INFORMASI</a:t>
            </a:r>
          </a:p>
          <a:p>
            <a:pPr algn="r"/>
            <a:r>
              <a:rPr lang="en-US" sz="1000" b="1" dirty="0">
                <a:solidFill>
                  <a:schemeClr val="bg1"/>
                </a:solidFill>
              </a:rPr>
              <a:t>POLITEKNIK NEGERI MALANG</a:t>
            </a:r>
          </a:p>
        </p:txBody>
      </p:sp>
      <p:pic>
        <p:nvPicPr>
          <p:cNvPr id="3" name="Picture 2"/>
          <p:cNvPicPr>
            <a:picLocks noChangeAspect="1"/>
          </p:cNvPicPr>
          <p:nvPr/>
        </p:nvPicPr>
        <p:blipFill rotWithShape="1">
          <a:blip r:embed="rId6">
            <a:extLst>
              <a:ext uri="{28A0092B-C50C-407E-A947-70E740481C1C}">
                <a14:useLocalDpi xmlns:a14="http://schemas.microsoft.com/office/drawing/2010/main" val="0"/>
              </a:ext>
            </a:extLst>
          </a:blip>
          <a:srcRect l="-244" t="38103"/>
          <a:stretch/>
        </p:blipFill>
        <p:spPr>
          <a:xfrm>
            <a:off x="2152650" y="1133652"/>
            <a:ext cx="7258050" cy="4675739"/>
          </a:xfrm>
          <a:prstGeom prst="rect">
            <a:avLst/>
          </a:prstGeom>
        </p:spPr>
      </p:pic>
    </p:spTree>
    <p:extLst>
      <p:ext uri="{BB962C8B-B14F-4D97-AF65-F5344CB8AC3E}">
        <p14:creationId xmlns:p14="http://schemas.microsoft.com/office/powerpoint/2010/main" val="23568266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67188" y="227366"/>
            <a:ext cx="1373223" cy="553831"/>
          </a:xfrm>
          <a:prstGeom prst="rect">
            <a:avLst/>
          </a:prstGeom>
        </p:spPr>
      </p:pic>
      <p:pic>
        <p:nvPicPr>
          <p:cNvPr id="16" name="Picture 15"/>
          <p:cNvPicPr>
            <a:picLocks noChangeAspect="1"/>
          </p:cNvPicPr>
          <p:nvPr/>
        </p:nvPicPr>
        <p:blipFill>
          <a:blip r:embed="rId3" cstate="print">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78656" y="230188"/>
            <a:ext cx="659544" cy="656613"/>
          </a:xfrm>
          <a:prstGeom prst="rect">
            <a:avLst/>
          </a:prstGeom>
        </p:spPr>
      </p:pic>
      <p:pic>
        <p:nvPicPr>
          <p:cNvPr id="17" name="Picture 1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38200" y="335791"/>
            <a:ext cx="424104" cy="445406"/>
          </a:xfrm>
          <a:prstGeom prst="rect">
            <a:avLst/>
          </a:prstGeom>
        </p:spPr>
      </p:pic>
      <p:sp>
        <p:nvSpPr>
          <p:cNvPr id="18" name="Rectangle 17"/>
          <p:cNvSpPr/>
          <p:nvPr/>
        </p:nvSpPr>
        <p:spPr>
          <a:xfrm>
            <a:off x="0" y="6267450"/>
            <a:ext cx="12192000" cy="59055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0" y="6161846"/>
            <a:ext cx="12192000" cy="59055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4245942" y="625191"/>
            <a:ext cx="3437608" cy="523220"/>
          </a:xfrm>
          <a:prstGeom prst="rect">
            <a:avLst/>
          </a:prstGeom>
        </p:spPr>
        <p:txBody>
          <a:bodyPr wrap="none">
            <a:spAutoFit/>
          </a:bodyPr>
          <a:lstStyle/>
          <a:p>
            <a:r>
              <a:rPr lang="en-US" sz="2800" b="1" dirty="0">
                <a:solidFill>
                  <a:srgbClr val="002060"/>
                </a:solidFill>
              </a:rPr>
              <a:t>SNOWFLAKE SCHEMA</a:t>
            </a:r>
          </a:p>
        </p:txBody>
      </p:sp>
      <p:sp>
        <p:nvSpPr>
          <p:cNvPr id="23" name="Rectangle 22"/>
          <p:cNvSpPr/>
          <p:nvPr/>
        </p:nvSpPr>
        <p:spPr>
          <a:xfrm>
            <a:off x="0" y="6317852"/>
            <a:ext cx="4971233" cy="369332"/>
          </a:xfrm>
          <a:prstGeom prst="rect">
            <a:avLst/>
          </a:prstGeom>
        </p:spPr>
        <p:txBody>
          <a:bodyPr wrap="none">
            <a:spAutoFit/>
          </a:bodyPr>
          <a:lstStyle/>
          <a:p>
            <a:r>
              <a:rPr lang="en-US" b="1" dirty="0">
                <a:solidFill>
                  <a:schemeClr val="bg1"/>
                </a:solidFill>
              </a:rPr>
              <a:t>FAST: FOCUS, ADAPTIVE, SINCERE, TRUSTWORTHY</a:t>
            </a:r>
          </a:p>
        </p:txBody>
      </p:sp>
      <p:sp>
        <p:nvSpPr>
          <p:cNvPr id="24" name="Rectangle 23"/>
          <p:cNvSpPr/>
          <p:nvPr/>
        </p:nvSpPr>
        <p:spPr>
          <a:xfrm>
            <a:off x="10092442" y="6300421"/>
            <a:ext cx="1947969" cy="400110"/>
          </a:xfrm>
          <a:prstGeom prst="rect">
            <a:avLst/>
          </a:prstGeom>
        </p:spPr>
        <p:txBody>
          <a:bodyPr wrap="none">
            <a:spAutoFit/>
          </a:bodyPr>
          <a:lstStyle/>
          <a:p>
            <a:pPr algn="r"/>
            <a:r>
              <a:rPr lang="en-US" sz="1000" dirty="0">
                <a:solidFill>
                  <a:schemeClr val="bg1"/>
                </a:solidFill>
              </a:rPr>
              <a:t>JURUSAN TEKNOLOGI INFORMASI</a:t>
            </a:r>
          </a:p>
          <a:p>
            <a:pPr algn="r"/>
            <a:r>
              <a:rPr lang="en-US" sz="1000" b="1" dirty="0">
                <a:solidFill>
                  <a:schemeClr val="bg1"/>
                </a:solidFill>
              </a:rPr>
              <a:t>POLITEKNIK NEGERI MALANG</a:t>
            </a:r>
          </a:p>
        </p:txBody>
      </p:sp>
      <p:pic>
        <p:nvPicPr>
          <p:cNvPr id="3" name="Picture 2"/>
          <p:cNvPicPr>
            <a:picLocks noChangeAspect="1"/>
          </p:cNvPicPr>
          <p:nvPr/>
        </p:nvPicPr>
        <p:blipFill rotWithShape="1">
          <a:blip r:embed="rId6">
            <a:extLst>
              <a:ext uri="{28A0092B-C50C-407E-A947-70E740481C1C}">
                <a14:useLocalDpi xmlns:a14="http://schemas.microsoft.com/office/drawing/2010/main" val="0"/>
              </a:ext>
            </a:extLst>
          </a:blip>
          <a:srcRect l="-244" t="38103"/>
          <a:stretch/>
        </p:blipFill>
        <p:spPr>
          <a:xfrm>
            <a:off x="5696949" y="1656013"/>
            <a:ext cx="6064112" cy="3906587"/>
          </a:xfrm>
          <a:prstGeom prst="rect">
            <a:avLst/>
          </a:prstGeom>
        </p:spPr>
      </p:pic>
      <p:sp>
        <p:nvSpPr>
          <p:cNvPr id="4" name="Rectangle 3"/>
          <p:cNvSpPr/>
          <p:nvPr/>
        </p:nvSpPr>
        <p:spPr>
          <a:xfrm>
            <a:off x="838200" y="1730466"/>
            <a:ext cx="4792577" cy="3139321"/>
          </a:xfrm>
          <a:prstGeom prst="rect">
            <a:avLst/>
          </a:prstGeom>
        </p:spPr>
        <p:txBody>
          <a:bodyPr wrap="square">
            <a:spAutoFit/>
          </a:bodyPr>
          <a:lstStyle/>
          <a:p>
            <a:pPr>
              <a:buFont typeface="+mj-lt"/>
              <a:buAutoNum type="arabicPeriod"/>
            </a:pPr>
            <a:r>
              <a:rPr lang="en-US" b="1" dirty="0"/>
              <a:t>Fact </a:t>
            </a:r>
            <a:r>
              <a:rPr lang="en-US" b="1" dirty="0" err="1"/>
              <a:t>Table:The</a:t>
            </a:r>
            <a:r>
              <a:rPr lang="en-US" b="1" dirty="0"/>
              <a:t> fact table is the center of the snowflake schema, which stores the measured or observed data, as well as the associated dimension keys.
Each row in the fact table represents an event or business transaction that is observed and recorded.
The columns in the fact table include dimension keys that connect them to the dimension table, as well as fact attributes such as business metrics or size.</a:t>
            </a:r>
            <a:endParaRPr lang="en-US" dirty="0"/>
          </a:p>
        </p:txBody>
      </p:sp>
    </p:spTree>
    <p:extLst>
      <p:ext uri="{BB962C8B-B14F-4D97-AF65-F5344CB8AC3E}">
        <p14:creationId xmlns:p14="http://schemas.microsoft.com/office/powerpoint/2010/main" val="36041925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67188" y="227366"/>
            <a:ext cx="1373223" cy="553831"/>
          </a:xfrm>
          <a:prstGeom prst="rect">
            <a:avLst/>
          </a:prstGeom>
        </p:spPr>
      </p:pic>
      <p:pic>
        <p:nvPicPr>
          <p:cNvPr id="16" name="Picture 15"/>
          <p:cNvPicPr>
            <a:picLocks noChangeAspect="1"/>
          </p:cNvPicPr>
          <p:nvPr/>
        </p:nvPicPr>
        <p:blipFill>
          <a:blip r:embed="rId3" cstate="print">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78656" y="230188"/>
            <a:ext cx="659544" cy="656613"/>
          </a:xfrm>
          <a:prstGeom prst="rect">
            <a:avLst/>
          </a:prstGeom>
        </p:spPr>
      </p:pic>
      <p:pic>
        <p:nvPicPr>
          <p:cNvPr id="17" name="Picture 1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38200" y="335791"/>
            <a:ext cx="424104" cy="445406"/>
          </a:xfrm>
          <a:prstGeom prst="rect">
            <a:avLst/>
          </a:prstGeom>
        </p:spPr>
      </p:pic>
      <p:sp>
        <p:nvSpPr>
          <p:cNvPr id="18" name="Rectangle 17"/>
          <p:cNvSpPr/>
          <p:nvPr/>
        </p:nvSpPr>
        <p:spPr>
          <a:xfrm>
            <a:off x="0" y="6267450"/>
            <a:ext cx="12192000" cy="59055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0" y="6161846"/>
            <a:ext cx="12192000" cy="59055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4245942" y="625191"/>
            <a:ext cx="3437608" cy="523220"/>
          </a:xfrm>
          <a:prstGeom prst="rect">
            <a:avLst/>
          </a:prstGeom>
        </p:spPr>
        <p:txBody>
          <a:bodyPr wrap="none">
            <a:spAutoFit/>
          </a:bodyPr>
          <a:lstStyle/>
          <a:p>
            <a:r>
              <a:rPr lang="en-US" sz="2800" b="1" dirty="0">
                <a:solidFill>
                  <a:srgbClr val="002060"/>
                </a:solidFill>
              </a:rPr>
              <a:t>SNOWFLAKE SCHEMA</a:t>
            </a:r>
          </a:p>
        </p:txBody>
      </p:sp>
      <p:sp>
        <p:nvSpPr>
          <p:cNvPr id="23" name="Rectangle 22"/>
          <p:cNvSpPr/>
          <p:nvPr/>
        </p:nvSpPr>
        <p:spPr>
          <a:xfrm>
            <a:off x="0" y="6317852"/>
            <a:ext cx="4971233" cy="369332"/>
          </a:xfrm>
          <a:prstGeom prst="rect">
            <a:avLst/>
          </a:prstGeom>
        </p:spPr>
        <p:txBody>
          <a:bodyPr wrap="none">
            <a:spAutoFit/>
          </a:bodyPr>
          <a:lstStyle/>
          <a:p>
            <a:r>
              <a:rPr lang="en-US" b="1" dirty="0">
                <a:solidFill>
                  <a:schemeClr val="bg1"/>
                </a:solidFill>
              </a:rPr>
              <a:t>FAST: FOCUS, ADAPTIVE, SINCERE, TRUSTWORTHY</a:t>
            </a:r>
          </a:p>
        </p:txBody>
      </p:sp>
      <p:sp>
        <p:nvSpPr>
          <p:cNvPr id="24" name="Rectangle 23"/>
          <p:cNvSpPr/>
          <p:nvPr/>
        </p:nvSpPr>
        <p:spPr>
          <a:xfrm>
            <a:off x="10092442" y="6300421"/>
            <a:ext cx="1947969" cy="400110"/>
          </a:xfrm>
          <a:prstGeom prst="rect">
            <a:avLst/>
          </a:prstGeom>
        </p:spPr>
        <p:txBody>
          <a:bodyPr wrap="none">
            <a:spAutoFit/>
          </a:bodyPr>
          <a:lstStyle/>
          <a:p>
            <a:pPr algn="r"/>
            <a:r>
              <a:rPr lang="en-US" sz="1000" dirty="0">
                <a:solidFill>
                  <a:schemeClr val="bg1"/>
                </a:solidFill>
              </a:rPr>
              <a:t>JURUSAN TEKNOLOGI INFORMASI</a:t>
            </a:r>
          </a:p>
          <a:p>
            <a:pPr algn="r"/>
            <a:r>
              <a:rPr lang="en-US" sz="1000" b="1" dirty="0">
                <a:solidFill>
                  <a:schemeClr val="bg1"/>
                </a:solidFill>
              </a:rPr>
              <a:t>POLITEKNIK NEGERI MALANG</a:t>
            </a:r>
          </a:p>
        </p:txBody>
      </p:sp>
      <p:pic>
        <p:nvPicPr>
          <p:cNvPr id="3" name="Picture 2"/>
          <p:cNvPicPr>
            <a:picLocks noChangeAspect="1"/>
          </p:cNvPicPr>
          <p:nvPr/>
        </p:nvPicPr>
        <p:blipFill rotWithShape="1">
          <a:blip r:embed="rId6">
            <a:extLst>
              <a:ext uri="{28A0092B-C50C-407E-A947-70E740481C1C}">
                <a14:useLocalDpi xmlns:a14="http://schemas.microsoft.com/office/drawing/2010/main" val="0"/>
              </a:ext>
            </a:extLst>
          </a:blip>
          <a:srcRect l="-244" t="38103"/>
          <a:stretch/>
        </p:blipFill>
        <p:spPr>
          <a:xfrm>
            <a:off x="5696949" y="1656013"/>
            <a:ext cx="6064112" cy="3906587"/>
          </a:xfrm>
          <a:prstGeom prst="rect">
            <a:avLst/>
          </a:prstGeom>
        </p:spPr>
      </p:pic>
      <p:sp>
        <p:nvSpPr>
          <p:cNvPr id="4" name="Rectangle 3"/>
          <p:cNvSpPr/>
          <p:nvPr/>
        </p:nvSpPr>
        <p:spPr>
          <a:xfrm>
            <a:off x="375078" y="2039645"/>
            <a:ext cx="5188521" cy="2862322"/>
          </a:xfrm>
          <a:prstGeom prst="rect">
            <a:avLst/>
          </a:prstGeom>
        </p:spPr>
        <p:txBody>
          <a:bodyPr wrap="square">
            <a:spAutoFit/>
          </a:bodyPr>
          <a:lstStyle/>
          <a:p>
            <a:r>
              <a:rPr lang="en-US" b="1" dirty="0"/>
              <a:t>2. Table Dimensions:
A dimension table is a table that stores information about the dimensions or characteristics of the data measured in a data warehouse.
These dimensions can include information such as time, product, customer, and location.
In a snowflake schema, a dimension table can be divided into smaller or normalized tables, forming "branches" or "branches" that lead to more detailed or specific dimensions.</a:t>
            </a:r>
            <a:endParaRPr lang="en-US" dirty="0"/>
          </a:p>
        </p:txBody>
      </p:sp>
    </p:spTree>
    <p:extLst>
      <p:ext uri="{BB962C8B-B14F-4D97-AF65-F5344CB8AC3E}">
        <p14:creationId xmlns:p14="http://schemas.microsoft.com/office/powerpoint/2010/main" val="21125580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67188" y="227366"/>
            <a:ext cx="1373223" cy="553831"/>
          </a:xfrm>
          <a:prstGeom prst="rect">
            <a:avLst/>
          </a:prstGeom>
        </p:spPr>
      </p:pic>
      <p:pic>
        <p:nvPicPr>
          <p:cNvPr id="16" name="Picture 15"/>
          <p:cNvPicPr>
            <a:picLocks noChangeAspect="1"/>
          </p:cNvPicPr>
          <p:nvPr/>
        </p:nvPicPr>
        <p:blipFill>
          <a:blip r:embed="rId3" cstate="print">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78656" y="230188"/>
            <a:ext cx="659544" cy="656613"/>
          </a:xfrm>
          <a:prstGeom prst="rect">
            <a:avLst/>
          </a:prstGeom>
        </p:spPr>
      </p:pic>
      <p:pic>
        <p:nvPicPr>
          <p:cNvPr id="17" name="Picture 1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38200" y="335791"/>
            <a:ext cx="424104" cy="445406"/>
          </a:xfrm>
          <a:prstGeom prst="rect">
            <a:avLst/>
          </a:prstGeom>
        </p:spPr>
      </p:pic>
      <p:sp>
        <p:nvSpPr>
          <p:cNvPr id="18" name="Rectangle 17"/>
          <p:cNvSpPr/>
          <p:nvPr/>
        </p:nvSpPr>
        <p:spPr>
          <a:xfrm>
            <a:off x="0" y="6267450"/>
            <a:ext cx="12192000" cy="59055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0" y="6161846"/>
            <a:ext cx="12192000" cy="59055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4245942" y="625191"/>
            <a:ext cx="3437608" cy="523220"/>
          </a:xfrm>
          <a:prstGeom prst="rect">
            <a:avLst/>
          </a:prstGeom>
        </p:spPr>
        <p:txBody>
          <a:bodyPr wrap="none">
            <a:spAutoFit/>
          </a:bodyPr>
          <a:lstStyle/>
          <a:p>
            <a:r>
              <a:rPr lang="en-US" sz="2800" b="1" dirty="0">
                <a:solidFill>
                  <a:srgbClr val="002060"/>
                </a:solidFill>
              </a:rPr>
              <a:t>SNOWFLAKE SCHEMA</a:t>
            </a:r>
          </a:p>
        </p:txBody>
      </p:sp>
      <p:sp>
        <p:nvSpPr>
          <p:cNvPr id="23" name="Rectangle 22"/>
          <p:cNvSpPr/>
          <p:nvPr/>
        </p:nvSpPr>
        <p:spPr>
          <a:xfrm>
            <a:off x="0" y="6317852"/>
            <a:ext cx="4971233" cy="369332"/>
          </a:xfrm>
          <a:prstGeom prst="rect">
            <a:avLst/>
          </a:prstGeom>
        </p:spPr>
        <p:txBody>
          <a:bodyPr wrap="none">
            <a:spAutoFit/>
          </a:bodyPr>
          <a:lstStyle/>
          <a:p>
            <a:r>
              <a:rPr lang="en-US" b="1" dirty="0">
                <a:solidFill>
                  <a:schemeClr val="bg1"/>
                </a:solidFill>
              </a:rPr>
              <a:t>FAST: FOCUS, ADAPTIVE, SINCERE, TRUSTWORTHY</a:t>
            </a:r>
          </a:p>
        </p:txBody>
      </p:sp>
      <p:sp>
        <p:nvSpPr>
          <p:cNvPr id="24" name="Rectangle 23"/>
          <p:cNvSpPr/>
          <p:nvPr/>
        </p:nvSpPr>
        <p:spPr>
          <a:xfrm>
            <a:off x="10092442" y="6300421"/>
            <a:ext cx="1947969" cy="400110"/>
          </a:xfrm>
          <a:prstGeom prst="rect">
            <a:avLst/>
          </a:prstGeom>
        </p:spPr>
        <p:txBody>
          <a:bodyPr wrap="none">
            <a:spAutoFit/>
          </a:bodyPr>
          <a:lstStyle/>
          <a:p>
            <a:pPr algn="r"/>
            <a:r>
              <a:rPr lang="en-US" sz="1000" dirty="0">
                <a:solidFill>
                  <a:schemeClr val="bg1"/>
                </a:solidFill>
              </a:rPr>
              <a:t>JURUSAN TEKNOLOGI INFORMASI</a:t>
            </a:r>
          </a:p>
          <a:p>
            <a:pPr algn="r"/>
            <a:r>
              <a:rPr lang="en-US" sz="1000" b="1" dirty="0">
                <a:solidFill>
                  <a:schemeClr val="bg1"/>
                </a:solidFill>
              </a:rPr>
              <a:t>POLITEKNIK NEGERI MALANG</a:t>
            </a:r>
          </a:p>
        </p:txBody>
      </p:sp>
      <p:pic>
        <p:nvPicPr>
          <p:cNvPr id="3" name="Picture 2"/>
          <p:cNvPicPr>
            <a:picLocks noChangeAspect="1"/>
          </p:cNvPicPr>
          <p:nvPr/>
        </p:nvPicPr>
        <p:blipFill rotWithShape="1">
          <a:blip r:embed="rId6">
            <a:extLst>
              <a:ext uri="{28A0092B-C50C-407E-A947-70E740481C1C}">
                <a14:useLocalDpi xmlns:a14="http://schemas.microsoft.com/office/drawing/2010/main" val="0"/>
              </a:ext>
            </a:extLst>
          </a:blip>
          <a:srcRect l="-244" t="38103"/>
          <a:stretch/>
        </p:blipFill>
        <p:spPr>
          <a:xfrm>
            <a:off x="5696949" y="1656013"/>
            <a:ext cx="6064112" cy="3906587"/>
          </a:xfrm>
          <a:prstGeom prst="rect">
            <a:avLst/>
          </a:prstGeom>
        </p:spPr>
      </p:pic>
      <p:sp>
        <p:nvSpPr>
          <p:cNvPr id="4" name="Rectangle 3"/>
          <p:cNvSpPr/>
          <p:nvPr/>
        </p:nvSpPr>
        <p:spPr>
          <a:xfrm>
            <a:off x="331056" y="1656013"/>
            <a:ext cx="5231544" cy="3139321"/>
          </a:xfrm>
          <a:prstGeom prst="rect">
            <a:avLst/>
          </a:prstGeom>
        </p:spPr>
        <p:txBody>
          <a:bodyPr wrap="square">
            <a:spAutoFit/>
          </a:bodyPr>
          <a:lstStyle/>
          <a:p>
            <a:r>
              <a:rPr lang="en-US" dirty="0"/>
              <a:t>3. Relationships Between Tables:
The relationships between tables in a snowflake schema illustrate how the fact tables are connected to the dimension table and how the dimension tables might be connected to each other.
The relationship between tables usually occurs through the foreign keys in the fact table that refer to the primary keys in the dimension table.
In addition, in a snowflake schema, the dimension tables can be connected to each other through foreign keys that form the normalization structure.</a:t>
            </a:r>
          </a:p>
        </p:txBody>
      </p:sp>
    </p:spTree>
    <p:extLst>
      <p:ext uri="{BB962C8B-B14F-4D97-AF65-F5344CB8AC3E}">
        <p14:creationId xmlns:p14="http://schemas.microsoft.com/office/powerpoint/2010/main" val="41550750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2000" cy="68580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body1"/>
          <p:cNvSpPr>
            <a:spLocks noGrp="1"/>
          </p:cNvSpPr>
          <p:nvPr>
            <p:ph sz="quarter" idx="4294967295"/>
          </p:nvPr>
        </p:nvSpPr>
        <p:spPr>
          <a:xfrm>
            <a:off x="335915" y="505460"/>
            <a:ext cx="11520170" cy="1350010"/>
          </a:xfrm>
          <a:prstGeom prst="rect">
            <a:avLst/>
          </a:prstGeom>
        </p:spPr>
        <p:txBody>
          <a:bodyPr lIns="0" tIns="0" anchor="b" anchorCtr="0"/>
          <a:lstStyle>
            <a:lvl1pPr marL="127000" indent="0" algn="ctr" eaLnBrk="1" fontAlgn="auto" latinLnBrk="0" hangingPunct="1">
              <a:lnSpc>
                <a:spcPct val="100000"/>
              </a:lnSpc>
              <a:spcBef>
                <a:spcPct val="0"/>
              </a:spcBef>
              <a:spcAft>
                <a:spcPts val="0"/>
              </a:spcAft>
              <a:buFont typeface="+mj-lt"/>
              <a:buNone/>
              <a:defRPr sz="2200" b="0">
                <a:solidFill>
                  <a:schemeClr val="bg1"/>
                </a:solidFill>
                <a:latin typeface="Poppins Regular" panose="02000000000000000000" charset="0"/>
                <a:cs typeface="Poppins Regular" panose="02000000000000000000" charset="0"/>
              </a:defRPr>
            </a:lvl1pPr>
            <a:lvl2pPr marL="584200" indent="0" algn="ctr" eaLnBrk="1" fontAlgn="auto" latinLnBrk="0" hangingPunct="1">
              <a:lnSpc>
                <a:spcPct val="100000"/>
              </a:lnSpc>
              <a:spcBef>
                <a:spcPct val="0"/>
              </a:spcBef>
              <a:spcAft>
                <a:spcPts val="0"/>
              </a:spcAft>
              <a:buFont typeface="+mj-lt"/>
              <a:buNone/>
              <a:defRPr sz="2200" b="0">
                <a:solidFill>
                  <a:schemeClr val="bg1"/>
                </a:solidFill>
                <a:latin typeface="Poppins Regular" panose="02000000000000000000" charset="0"/>
                <a:cs typeface="Poppins Regular" panose="02000000000000000000" charset="0"/>
              </a:defRPr>
            </a:lvl2pPr>
            <a:lvl3pPr marL="1041400" indent="0" algn="ctr" eaLnBrk="1" fontAlgn="auto" latinLnBrk="0" hangingPunct="1">
              <a:lnSpc>
                <a:spcPct val="100000"/>
              </a:lnSpc>
              <a:spcBef>
                <a:spcPct val="0"/>
              </a:spcBef>
              <a:spcAft>
                <a:spcPts val="0"/>
              </a:spcAft>
              <a:buFont typeface="+mj-lt"/>
              <a:buNone/>
              <a:defRPr sz="2200" b="0">
                <a:solidFill>
                  <a:schemeClr val="bg1"/>
                </a:solidFill>
                <a:latin typeface="Poppins Regular" panose="02000000000000000000" charset="0"/>
                <a:cs typeface="Poppins Regular" panose="02000000000000000000" charset="0"/>
              </a:defRPr>
            </a:lvl3pPr>
            <a:lvl4pPr marL="1498600" indent="0" algn="ctr" eaLnBrk="1" fontAlgn="auto" latinLnBrk="0" hangingPunct="1">
              <a:lnSpc>
                <a:spcPct val="100000"/>
              </a:lnSpc>
              <a:spcBef>
                <a:spcPct val="0"/>
              </a:spcBef>
              <a:spcAft>
                <a:spcPts val="0"/>
              </a:spcAft>
              <a:buFont typeface="+mj-lt"/>
              <a:buNone/>
              <a:defRPr sz="2200" b="0">
                <a:solidFill>
                  <a:schemeClr val="bg1"/>
                </a:solidFill>
                <a:latin typeface="Poppins Regular" panose="02000000000000000000" charset="0"/>
                <a:cs typeface="Poppins Regular" panose="02000000000000000000" charset="0"/>
              </a:defRPr>
            </a:lvl4pPr>
            <a:lvl5pPr marL="1955800" indent="0" algn="ctr" eaLnBrk="1" fontAlgn="auto" latinLnBrk="0" hangingPunct="1">
              <a:lnSpc>
                <a:spcPct val="100000"/>
              </a:lnSpc>
              <a:spcBef>
                <a:spcPct val="0"/>
              </a:spcBef>
              <a:spcAft>
                <a:spcPts val="0"/>
              </a:spcAft>
              <a:buFont typeface="+mj-lt"/>
              <a:buNone/>
              <a:defRPr sz="2200" b="0">
                <a:solidFill>
                  <a:schemeClr val="bg1"/>
                </a:solidFill>
                <a:latin typeface="Poppins Regular" panose="02000000000000000000" charset="0"/>
                <a:cs typeface="Poppins Regular" panose="02000000000000000000" charset="0"/>
              </a:defRPr>
            </a:lvl5pPr>
          </a:lstStyle>
          <a:p>
            <a:pPr lvl="0"/>
            <a:r>
              <a:rPr lang="en-US" dirty="0" err="1"/>
              <a:t>Bagian</a:t>
            </a:r>
            <a:r>
              <a:rPr lang="en-US" dirty="0"/>
              <a:t> 4</a:t>
            </a:r>
          </a:p>
          <a:p>
            <a:pPr lvl="1"/>
            <a:endParaRPr lang="en-US" dirty="0"/>
          </a:p>
        </p:txBody>
      </p:sp>
      <p:sp>
        <p:nvSpPr>
          <p:cNvPr id="6" name="header"/>
          <p:cNvSpPr>
            <a:spLocks noGrp="1"/>
          </p:cNvSpPr>
          <p:nvPr>
            <p:ph type="title" idx="4294967295"/>
          </p:nvPr>
        </p:nvSpPr>
        <p:spPr>
          <a:xfrm>
            <a:off x="335915" y="3058795"/>
            <a:ext cx="11520170" cy="3479165"/>
          </a:xfrm>
          <a:prstGeom prst="rect">
            <a:avLst/>
          </a:prstGeom>
        </p:spPr>
        <p:txBody>
          <a:bodyPr anchor="t" anchorCtr="0"/>
          <a:lstStyle>
            <a:lvl1pPr marL="0" indent="0" algn="ctr" eaLnBrk="1" fontAlgn="auto" latinLnBrk="0" hangingPunct="1">
              <a:lnSpc>
                <a:spcPct val="100000"/>
              </a:lnSpc>
              <a:defRPr sz="3200" b="0">
                <a:solidFill>
                  <a:schemeClr val="bg1"/>
                </a:solidFill>
                <a:latin typeface="Poppins Regular" panose="02000000000000000000" charset="0"/>
                <a:cs typeface="Poppins Regular" panose="02000000000000000000" charset="0"/>
              </a:defRPr>
            </a:lvl1pPr>
          </a:lstStyle>
          <a:p>
            <a:r>
              <a:rPr lang="en-US" dirty="0"/>
              <a:t>Data Warehouse Management</a:t>
            </a:r>
          </a:p>
        </p:txBody>
      </p:sp>
      <p:sp>
        <p:nvSpPr>
          <p:cNvPr id="7" name="Rounded Rectangle 6"/>
          <p:cNvSpPr/>
          <p:nvPr/>
        </p:nvSpPr>
        <p:spPr>
          <a:xfrm>
            <a:off x="9726938" y="268034"/>
            <a:ext cx="2917371" cy="111263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00342" y="449944"/>
            <a:ext cx="1886078" cy="760670"/>
          </a:xfrm>
          <a:prstGeom prst="rect">
            <a:avLst/>
          </a:prstGeom>
        </p:spPr>
      </p:pic>
      <p:sp>
        <p:nvSpPr>
          <p:cNvPr id="9" name="Rounded Rectangle 8"/>
          <p:cNvSpPr/>
          <p:nvPr/>
        </p:nvSpPr>
        <p:spPr>
          <a:xfrm>
            <a:off x="-449943" y="268034"/>
            <a:ext cx="2917371" cy="111263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94553" y="268034"/>
            <a:ext cx="1117600" cy="1112633"/>
          </a:xfrm>
          <a:prstGeom prst="rect">
            <a:avLst/>
          </a:prstGeom>
        </p:spPr>
      </p:pic>
      <p:pic>
        <p:nvPicPr>
          <p:cNvPr id="11" name="Picture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312153" y="449944"/>
            <a:ext cx="718646" cy="754742"/>
          </a:xfrm>
          <a:prstGeom prst="rect">
            <a:avLst/>
          </a:prstGeom>
        </p:spPr>
      </p:pic>
      <p:sp>
        <p:nvSpPr>
          <p:cNvPr id="12" name="Rectangle 11"/>
          <p:cNvSpPr/>
          <p:nvPr/>
        </p:nvSpPr>
        <p:spPr>
          <a:xfrm>
            <a:off x="194553" y="6443996"/>
            <a:ext cx="4971233" cy="369332"/>
          </a:xfrm>
          <a:prstGeom prst="rect">
            <a:avLst/>
          </a:prstGeom>
        </p:spPr>
        <p:txBody>
          <a:bodyPr wrap="none">
            <a:spAutoFit/>
          </a:bodyPr>
          <a:lstStyle/>
          <a:p>
            <a:r>
              <a:rPr lang="en-US" b="1" dirty="0">
                <a:solidFill>
                  <a:schemeClr val="bg1"/>
                </a:solidFill>
              </a:rPr>
              <a:t>FAST: FOCUS, ADAPTIVE, SINCERE, TRUSTWORTHY</a:t>
            </a:r>
          </a:p>
        </p:txBody>
      </p:sp>
      <p:sp>
        <p:nvSpPr>
          <p:cNvPr id="13" name="Rectangle 12"/>
          <p:cNvSpPr/>
          <p:nvPr/>
        </p:nvSpPr>
        <p:spPr>
          <a:xfrm>
            <a:off x="8845379" y="6299663"/>
            <a:ext cx="3346622" cy="646331"/>
          </a:xfrm>
          <a:prstGeom prst="rect">
            <a:avLst/>
          </a:prstGeom>
        </p:spPr>
        <p:txBody>
          <a:bodyPr wrap="none">
            <a:spAutoFit/>
          </a:bodyPr>
          <a:lstStyle/>
          <a:p>
            <a:r>
              <a:rPr lang="en-US" dirty="0">
                <a:solidFill>
                  <a:schemeClr val="bg1"/>
                </a:solidFill>
              </a:rPr>
              <a:t>JURUSAN TEKNOLOGI INFORMASI</a:t>
            </a:r>
          </a:p>
          <a:p>
            <a:pPr algn="r"/>
            <a:r>
              <a:rPr lang="en-US" b="1" dirty="0">
                <a:solidFill>
                  <a:schemeClr val="bg1"/>
                </a:solidFill>
              </a:rPr>
              <a:t>POLITEKNIK NEGERI MALANG</a:t>
            </a:r>
          </a:p>
        </p:txBody>
      </p:sp>
    </p:spTree>
    <p:extLst>
      <p:ext uri="{BB962C8B-B14F-4D97-AF65-F5344CB8AC3E}">
        <p14:creationId xmlns:p14="http://schemas.microsoft.com/office/powerpoint/2010/main" val="19415428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67188" y="227366"/>
            <a:ext cx="1373223" cy="553831"/>
          </a:xfrm>
          <a:prstGeom prst="rect">
            <a:avLst/>
          </a:prstGeom>
        </p:spPr>
      </p:pic>
      <p:pic>
        <p:nvPicPr>
          <p:cNvPr id="16" name="Picture 15"/>
          <p:cNvPicPr>
            <a:picLocks noChangeAspect="1"/>
          </p:cNvPicPr>
          <p:nvPr/>
        </p:nvPicPr>
        <p:blipFill>
          <a:blip r:embed="rId4" cstate="print">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78656" y="230188"/>
            <a:ext cx="659544" cy="656613"/>
          </a:xfrm>
          <a:prstGeom prst="rect">
            <a:avLst/>
          </a:prstGeom>
        </p:spPr>
      </p:pic>
      <p:pic>
        <p:nvPicPr>
          <p:cNvPr id="17" name="Picture 1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38200" y="335791"/>
            <a:ext cx="424104" cy="445406"/>
          </a:xfrm>
          <a:prstGeom prst="rect">
            <a:avLst/>
          </a:prstGeom>
        </p:spPr>
      </p:pic>
      <p:sp>
        <p:nvSpPr>
          <p:cNvPr id="18" name="Rectangle 17"/>
          <p:cNvSpPr/>
          <p:nvPr/>
        </p:nvSpPr>
        <p:spPr>
          <a:xfrm>
            <a:off x="0" y="6267450"/>
            <a:ext cx="12192000" cy="59055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0" y="6161846"/>
            <a:ext cx="12192000" cy="59055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4130602" y="519587"/>
            <a:ext cx="4741426" cy="523220"/>
          </a:xfrm>
          <a:prstGeom prst="rect">
            <a:avLst/>
          </a:prstGeom>
        </p:spPr>
        <p:txBody>
          <a:bodyPr wrap="none">
            <a:spAutoFit/>
          </a:bodyPr>
          <a:lstStyle/>
          <a:p>
            <a:r>
              <a:rPr lang="en-US" sz="2800" b="1" dirty="0">
                <a:solidFill>
                  <a:srgbClr val="002060"/>
                </a:solidFill>
              </a:rPr>
              <a:t>Data Warehouse Management</a:t>
            </a:r>
          </a:p>
        </p:txBody>
      </p:sp>
      <p:sp>
        <p:nvSpPr>
          <p:cNvPr id="23" name="Rectangle 22"/>
          <p:cNvSpPr/>
          <p:nvPr/>
        </p:nvSpPr>
        <p:spPr>
          <a:xfrm>
            <a:off x="0" y="6317852"/>
            <a:ext cx="4971233" cy="369332"/>
          </a:xfrm>
          <a:prstGeom prst="rect">
            <a:avLst/>
          </a:prstGeom>
        </p:spPr>
        <p:txBody>
          <a:bodyPr wrap="none">
            <a:spAutoFit/>
          </a:bodyPr>
          <a:lstStyle/>
          <a:p>
            <a:r>
              <a:rPr lang="en-US" b="1" dirty="0">
                <a:solidFill>
                  <a:schemeClr val="bg1"/>
                </a:solidFill>
              </a:rPr>
              <a:t>FAST: FOCUS, ADAPTIVE, SINCERE, TRUSTWORTHY</a:t>
            </a:r>
          </a:p>
        </p:txBody>
      </p:sp>
      <p:sp>
        <p:nvSpPr>
          <p:cNvPr id="24" name="Rectangle 23"/>
          <p:cNvSpPr/>
          <p:nvPr/>
        </p:nvSpPr>
        <p:spPr>
          <a:xfrm>
            <a:off x="10092442" y="6300421"/>
            <a:ext cx="1947969" cy="400110"/>
          </a:xfrm>
          <a:prstGeom prst="rect">
            <a:avLst/>
          </a:prstGeom>
        </p:spPr>
        <p:txBody>
          <a:bodyPr wrap="none">
            <a:spAutoFit/>
          </a:bodyPr>
          <a:lstStyle/>
          <a:p>
            <a:pPr algn="r"/>
            <a:r>
              <a:rPr lang="en-US" sz="1000" dirty="0">
                <a:solidFill>
                  <a:schemeClr val="bg1"/>
                </a:solidFill>
              </a:rPr>
              <a:t>JURUSAN TEKNOLOGI INFORMASI</a:t>
            </a:r>
          </a:p>
          <a:p>
            <a:pPr algn="r"/>
            <a:r>
              <a:rPr lang="en-US" sz="1000" b="1" dirty="0">
                <a:solidFill>
                  <a:schemeClr val="bg1"/>
                </a:solidFill>
              </a:rPr>
              <a:t>POLITEKNIK NEGERI MALANG</a:t>
            </a:r>
          </a:p>
        </p:txBody>
      </p:sp>
      <p:graphicFrame>
        <p:nvGraphicFramePr>
          <p:cNvPr id="3" name="Diagram 2"/>
          <p:cNvGraphicFramePr/>
          <p:nvPr>
            <p:extLst>
              <p:ext uri="{D42A27DB-BD31-4B8C-83A1-F6EECF244321}">
                <p14:modId xmlns:p14="http://schemas.microsoft.com/office/powerpoint/2010/main" val="2322655654"/>
              </p:ext>
            </p:extLst>
          </p:nvPr>
        </p:nvGraphicFramePr>
        <p:xfrm>
          <a:off x="1082675" y="1042807"/>
          <a:ext cx="10293350" cy="613833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2919513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rgbClr val="FFDB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29088" y="345116"/>
            <a:ext cx="1373223" cy="553831"/>
          </a:xfrm>
          <a:prstGeom prst="rect">
            <a:avLst/>
          </a:prstGeom>
        </p:spPr>
      </p:pic>
      <p:pic>
        <p:nvPicPr>
          <p:cNvPr id="5" name="Picture 4"/>
          <p:cNvPicPr>
            <a:picLocks noChangeAspect="1"/>
          </p:cNvPicPr>
          <p:nvPr/>
        </p:nvPicPr>
        <p:blipFill>
          <a:blip r:embed="rId4" cstate="print">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78656" y="230188"/>
            <a:ext cx="659544" cy="656613"/>
          </a:xfrm>
          <a:prstGeom prst="rect">
            <a:avLst/>
          </a:prstGeom>
        </p:spPr>
      </p:pic>
      <p:pic>
        <p:nvPicPr>
          <p:cNvPr id="6" name="Picture 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38200" y="335791"/>
            <a:ext cx="424104" cy="445406"/>
          </a:xfrm>
          <a:prstGeom prst="rect">
            <a:avLst/>
          </a:prstGeom>
        </p:spPr>
      </p:pic>
      <p:pic>
        <p:nvPicPr>
          <p:cNvPr id="10" name="Picture 9"/>
          <p:cNvPicPr>
            <a:picLocks noChangeAspect="1"/>
          </p:cNvPicPr>
          <p:nvPr/>
        </p:nvPicPr>
        <p:blipFill>
          <a:blip r:embed="rId4" cstate="print">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78656" y="211138"/>
            <a:ext cx="659544" cy="656613"/>
          </a:xfrm>
          <a:prstGeom prst="rect">
            <a:avLst/>
          </a:prstGeom>
        </p:spPr>
      </p:pic>
      <p:pic>
        <p:nvPicPr>
          <p:cNvPr id="11" name="Picture 1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38200" y="316741"/>
            <a:ext cx="424104" cy="445406"/>
          </a:xfrm>
          <a:prstGeom prst="rect">
            <a:avLst/>
          </a:prstGeom>
        </p:spPr>
      </p:pic>
      <p:sp>
        <p:nvSpPr>
          <p:cNvPr id="13" name="TextBox 12"/>
          <p:cNvSpPr txBox="1"/>
          <p:nvPr/>
        </p:nvSpPr>
        <p:spPr>
          <a:xfrm>
            <a:off x="1050252" y="3849488"/>
            <a:ext cx="6017298" cy="707886"/>
          </a:xfrm>
          <a:prstGeom prst="rect">
            <a:avLst/>
          </a:prstGeom>
          <a:noFill/>
        </p:spPr>
        <p:txBody>
          <a:bodyPr wrap="square" rtlCol="0">
            <a:spAutoFit/>
          </a:bodyPr>
          <a:lstStyle/>
          <a:p>
            <a:r>
              <a:rPr lang="en-US" sz="4000" b="1" dirty="0"/>
              <a:t>Thanks</a:t>
            </a:r>
          </a:p>
        </p:txBody>
      </p:sp>
    </p:spTree>
    <p:extLst>
      <p:ext uri="{BB962C8B-B14F-4D97-AF65-F5344CB8AC3E}">
        <p14:creationId xmlns:p14="http://schemas.microsoft.com/office/powerpoint/2010/main" val="19480154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6394</TotalTime>
  <Words>2072</Words>
  <Application>Microsoft Office PowerPoint</Application>
  <PresentationFormat>Widescreen</PresentationFormat>
  <Paragraphs>188</Paragraphs>
  <Slides>25</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Calibri Light</vt:lpstr>
      <vt:lpstr>Open Sans</vt:lpstr>
      <vt:lpstr>Poppins</vt:lpstr>
      <vt:lpstr>Office Theme</vt:lpstr>
      <vt:lpstr>PowerPoint Presentation</vt:lpstr>
      <vt:lpstr>PowerPoint Presentation</vt:lpstr>
      <vt:lpstr>Review of Data Warehouse Basic Concepts</vt:lpstr>
      <vt:lpstr>PowerPoint Presentation</vt:lpstr>
      <vt:lpstr>Architecture Models</vt:lpstr>
      <vt:lpstr>PowerPoint Presentation</vt:lpstr>
      <vt:lpstr>PowerPoint Presentation</vt:lpstr>
      <vt:lpstr>PowerPoint Presentation</vt:lpstr>
      <vt:lpstr>PowerPoint Presentation</vt:lpstr>
      <vt:lpstr>PowerPoint Presentation</vt:lpstr>
      <vt:lpstr>PowerPoint Presentation</vt:lpstr>
      <vt:lpstr>Struktur Data Warehouse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Warehouse Management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POLINEMA</dc:creator>
  <cp:lastModifiedBy>endah septa sintiya</cp:lastModifiedBy>
  <cp:revision>62</cp:revision>
  <dcterms:created xsi:type="dcterms:W3CDTF">2024-01-03T01:16:53Z</dcterms:created>
  <dcterms:modified xsi:type="dcterms:W3CDTF">2025-09-09T01:01:18Z</dcterms:modified>
</cp:coreProperties>
</file>